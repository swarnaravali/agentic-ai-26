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tle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051560"/>
            <a:ext cx="4892040" cy="389551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32588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  <a:spcAft>
                <a:spcPts val="0"/>
              </a:spcAft>
            </a:pPr>
            <a:r>
              <a:rPr sz="7600" b="1">
                <a:solidFill>
                  <a:srgbClr val="FFFFFF"/>
                </a:solidFill>
                <a:latin typeface="Aptos Display"/>
              </a:rPr>
              <a:t>Saving the</a:t>
            </a:r>
          </a:p>
          <a:p>
            <a:pPr algn="l">
              <a:lnSpc>
                <a:spcPct val="88000"/>
              </a:lnSpc>
              <a:spcAft>
                <a:spcPts val="0"/>
              </a:spcAft>
            </a:pPr>
            <a:r>
              <a:rPr sz="7600" b="1">
                <a:solidFill>
                  <a:srgbClr val="FFFFFF"/>
                </a:solidFill>
                <a:latin typeface="Aptos Display"/>
              </a:rPr>
              <a:t>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52044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>
                <a:solidFill>
                  <a:srgbClr val="5AA3F0"/>
                </a:solidFill>
                <a:latin typeface="Aptos"/>
              </a:rPr>
              <a:t>Your agent pays again for everything it already sent.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5AA3F0"/>
                </a:solidFill>
                <a:latin typeface="Aptos"/>
              </a:rPr>
              <a:t>Find the big thing. Stop sending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Shyamji Tiwari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498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D7D5CE"/>
                </a:solidFill>
                <a:latin typeface="Aptos"/>
              </a:rPr>
              <a:t>Applied Scientist, Amazon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172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B5B2AA"/>
                </a:solidFill>
                <a:latin typeface="Aptos"/>
              </a:rPr>
              <a:t>IEEE AgenticAI Summit 2026  ·  Bangalore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6172200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B5B2AA"/>
                </a:solidFill>
                <a:latin typeface="Aptos"/>
              </a:rPr>
              <a:t>Views are my own.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HANDS UP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87791" y="429768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6B69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3C3B38"/>
                </a:solidFill>
                <a:latin typeface="Aptos"/>
              </a:rPr>
              <a:t>EXAMPLE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Which is the bigger part of the bill?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A 20-turn session with an AI agent that reads your screen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011680"/>
            <a:ext cx="5257800" cy="3657600"/>
          </a:xfrm>
          <a:prstGeom prst="roundRect">
            <a:avLst>
              <a:gd name="adj" fmla="val 7000"/>
            </a:avLst>
          </a:prstGeom>
          <a:solidFill>
            <a:srgbClr val="E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148840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0" b="1">
                <a:solidFill>
                  <a:srgbClr val="1C66C2"/>
                </a:solidFill>
                <a:latin typeface="Aptos Display"/>
              </a:rPr>
              <a:t>A</a:t>
            </a:r>
          </a:p>
        </p:txBody>
      </p:sp>
      <p:pic>
        <p:nvPicPr>
          <p:cNvPr id="12" name="Picture 11" descr="screen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2286000"/>
            <a:ext cx="2630658" cy="2011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45262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>
                <a:solidFill>
                  <a:srgbClr val="0B0B0B"/>
                </a:solidFill>
                <a:latin typeface="Aptos"/>
              </a:rPr>
              <a:t>The screenshots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983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3C3B38"/>
                </a:solidFill>
                <a:latin typeface="Aptos"/>
              </a:rPr>
              <a:t>a new one every turn (~1,200 tokens)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011680"/>
            <a:ext cx="5257800" cy="3657600"/>
          </a:xfrm>
          <a:prstGeom prst="roundRect">
            <a:avLst>
              <a:gd name="adj" fmla="val 7000"/>
            </a:avLst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148840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0" b="1">
                <a:solidFill>
                  <a:srgbClr val="6F6C66"/>
                </a:solidFill>
                <a:latin typeface="Aptos Display"/>
              </a:rPr>
              <a:t>B</a:t>
            </a:r>
          </a:p>
        </p:txBody>
      </p:sp>
      <p:pic>
        <p:nvPicPr>
          <p:cNvPr id="17" name="Picture 16" descr="doc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286000"/>
            <a:ext cx="1702191" cy="2011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29400" y="45262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>
                <a:solidFill>
                  <a:srgbClr val="0B0B0B"/>
                </a:solidFill>
                <a:latin typeface="Aptos"/>
              </a:rPr>
              <a:t>The system 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983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3C3B38"/>
                </a:solidFill>
                <a:latin typeface="Aptos"/>
              </a:rPr>
              <a:t>the same instructions every turn (400 tokens)</a:t>
            </a:r>
          </a:p>
        </p:txBody>
      </p:sp>
      <p:sp>
        <p:nvSpPr>
          <p:cNvPr id="20" name="Oval 19"/>
          <p:cNvSpPr/>
          <p:nvPr/>
        </p:nvSpPr>
        <p:spPr>
          <a:xfrm>
            <a:off x="5769864" y="3566160"/>
            <a:ext cx="658368" cy="658368"/>
          </a:xfrm>
          <a:prstGeom prst="ellipse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97880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3C3B38"/>
                </a:solidFill>
                <a:latin typeface="Aptos"/>
              </a:rPr>
              <a:t>Agent</a:t>
            </a:r>
            <a:r>
              <a:rPr sz="1600" b="0">
                <a:solidFill>
                  <a:srgbClr val="3C3B38"/>
                </a:solidFill>
                <a:latin typeface="Aptos"/>
              </a:rPr>
              <a:t> = an AI that reads your screen and acts.   </a:t>
            </a:r>
            <a:r>
              <a:rPr sz="1600" b="1">
                <a:solidFill>
                  <a:srgbClr val="3C3B38"/>
                </a:solidFill>
                <a:latin typeface="Aptos"/>
              </a:rPr>
              <a:t>Turn</a:t>
            </a:r>
            <a:r>
              <a:rPr sz="1600" b="0">
                <a:solidFill>
                  <a:srgbClr val="3C3B38"/>
                </a:solidFill>
                <a:latin typeface="Aptos"/>
              </a:rPr>
              <a:t> = one message to it, and its reply.   </a:t>
            </a:r>
            <a:r>
              <a:rPr sz="1600" b="1">
                <a:solidFill>
                  <a:srgbClr val="3C3B38"/>
                </a:solidFill>
                <a:latin typeface="Aptos"/>
              </a:rPr>
              <a:t>Token</a:t>
            </a:r>
            <a:r>
              <a:rPr sz="1600" b="0">
                <a:solidFill>
                  <a:srgbClr val="3C3B38"/>
                </a:solidFill>
                <a:latin typeface="Aptos"/>
              </a:rPr>
              <a:t> = the unit you are billed in.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B5B2AA"/>
                </a:solidFill>
                <a:latin typeface="Aptos"/>
              </a:rPr>
              <a:t>THE ANSWER: 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5AA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87791" y="429768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121212"/>
          </a:solidFill>
          <a:ln w="15875">
            <a:solidFill>
              <a:srgbClr val="B5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D7D5CE"/>
                </a:solidFill>
                <a:latin typeface="Aptos"/>
              </a:rPr>
              <a:t>EXAMPLE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0584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5000"/>
              </a:lnSpc>
              <a:spcAft>
                <a:spcPts val="0"/>
              </a:spcAft>
            </a:pPr>
            <a:r>
              <a:rPr sz="12000" b="1">
                <a:solidFill>
                  <a:srgbClr val="5AA3F0"/>
                </a:solidFill>
                <a:latin typeface="Aptos Display"/>
              </a:rPr>
              <a:t>75%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ptos"/>
              </a:rPr>
              <a:t>of the bill is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ptos"/>
              </a:rPr>
              <a:t>the screenshots.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404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D7D5CE"/>
                </a:solidFill>
                <a:latin typeface="Aptos"/>
              </a:rPr>
              <a:t>System prompt (400 tokens): </a:t>
            </a:r>
            <a:r>
              <a:rPr sz="2000" b="1">
                <a:solidFill>
                  <a:srgbClr val="9A978F"/>
                </a:solidFill>
                <a:latin typeface="Aptos"/>
              </a:rPr>
              <a:t>2.3%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9768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D7D5CE"/>
                </a:solidFill>
                <a:latin typeface="Aptos"/>
              </a:rPr>
              <a:t>A new screenshot every turn, and each one is </a:t>
            </a:r>
            <a:r>
              <a:rPr sz="2000" b="1">
                <a:solidFill>
                  <a:srgbClr val="F0834E"/>
                </a:solidFill>
                <a:latin typeface="Aptos"/>
              </a:rPr>
              <a:t>sent again.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21208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B5B2AA"/>
                </a:solidFill>
                <a:latin typeface="Aptos"/>
              </a:rPr>
              <a:t>A long prompt can win: it never grows, but per turn it can cost more than one screenshot. Break-even prompt is about 610 × (turns + 1) tokens: 6,700 at 10 turns, 12,800 at 20, 25,000 at 40.</a:t>
            </a:r>
          </a:p>
        </p:txBody>
      </p:sp>
      <p:pic>
        <p:nvPicPr>
          <p:cNvPr id="13" name="Picture 12" descr="prompt_sweep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234440"/>
            <a:ext cx="5486400" cy="382385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35040" y="5212080"/>
            <a:ext cx="5486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D7D5CE"/>
                </a:solidFill>
                <a:latin typeface="Aptos"/>
              </a:rPr>
              <a:t>An example agent, not a measurement. </a:t>
            </a:r>
            <a:r>
              <a:rPr sz="1300" b="0">
                <a:solidFill>
                  <a:srgbClr val="B5B2AA"/>
                </a:solidFill>
                <a:latin typeface="Aptos"/>
              </a:rPr>
              <a:t>20 turns. Each turn: 8 s of speech (256 tokens, Gemini's published 32 a second), one 1,222-token screenshot (modelled), a 120-token reply. 400-token prompt, no caching. Change a setting and the percentages move.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B5B2AA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B5B2AA"/>
                </a:solidFill>
                <a:latin typeface="Aptos"/>
              </a:rPr>
              <a:t>numbers come from a model you can run and edit: ex3_budget.py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GROUND RULES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A token is the unit of the bill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You pay for everything going </a:t>
            </a:r>
            <a:r>
              <a:rPr sz="2000" b="1">
                <a:solidFill>
                  <a:srgbClr val="1C66C2"/>
                </a:solidFill>
                <a:latin typeface="Aptos"/>
              </a:rPr>
              <a:t>in</a:t>
            </a:r>
            <a:r>
              <a:rPr sz="2000" b="0">
                <a:solidFill>
                  <a:srgbClr val="3C3B38"/>
                </a:solidFill>
                <a:latin typeface="Aptos"/>
              </a:rPr>
              <a:t>, not just what comes out.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3383280" cy="3840480"/>
          </a:xfrm>
          <a:prstGeom prst="roundRect">
            <a:avLst>
              <a:gd name="adj" fmla="val 7000"/>
            </a:avLst>
          </a:prstGeom>
          <a:solidFill>
            <a:srgbClr val="F2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468880"/>
            <a:ext cx="1315329" cy="1554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51560" y="4206240"/>
            <a:ext cx="2834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600" b="1">
                <a:solidFill>
                  <a:srgbClr val="0B0B0B"/>
                </a:solidFill>
                <a:latin typeface="Aptos Display"/>
              </a:rPr>
              <a:t>≈ 750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98856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3C3B38"/>
                </a:solidFill>
                <a:latin typeface="Aptos"/>
              </a:rPr>
              <a:t>tokens · a dense page of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3949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6B6963"/>
                </a:solidFill>
                <a:latin typeface="Aptos"/>
              </a:rPr>
              <a:t>rule of thumb: 1 token is about 4 characters, a page about 3,000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240280"/>
            <a:ext cx="3383280" cy="3840480"/>
          </a:xfrm>
          <a:prstGeom prst="roundRect">
            <a:avLst>
              <a:gd name="adj" fmla="val 7000"/>
            </a:avLst>
          </a:prstGeom>
          <a:solidFill>
            <a:srgbClr val="E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reen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468880"/>
            <a:ext cx="2032782" cy="1554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709160" y="4206240"/>
            <a:ext cx="2834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>
                <a:solidFill>
                  <a:srgbClr val="1C66C2"/>
                </a:solidFill>
                <a:latin typeface="Aptos Display"/>
              </a:rPr>
              <a:t>1,105–2,691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47371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3C3B38"/>
                </a:solidFill>
                <a:latin typeface="Aptos"/>
              </a:rPr>
              <a:t>tokens · one 1920×1080 screenshot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53949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6B6963"/>
                </a:solidFill>
                <a:latin typeface="Aptos"/>
              </a:rPr>
              <a:t>published rules of OpenAI and Claude (next slides)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2240280"/>
            <a:ext cx="3383280" cy="3840480"/>
          </a:xfrm>
          <a:prstGeom prst="roundRect">
            <a:avLst>
              <a:gd name="adj" fmla="val 7000"/>
            </a:avLst>
          </a:prstGeom>
          <a:solidFill>
            <a:srgbClr val="F2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peech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468880"/>
            <a:ext cx="1913206" cy="15544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66760" y="4206240"/>
            <a:ext cx="2834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600" b="1">
                <a:solidFill>
                  <a:srgbClr val="0B0B0B"/>
                </a:solidFill>
                <a:latin typeface="Aptos Display"/>
              </a:rPr>
              <a:t>256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98856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3C3B38"/>
                </a:solidFill>
                <a:latin typeface="Aptos"/>
              </a:rPr>
              <a:t>tokens · 8 seconds of speech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53949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6B6963"/>
                </a:solidFill>
                <a:latin typeface="Aptos"/>
              </a:rPr>
              <a:t>Gemini: 32 tokens a second, published (others differ)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GROUND RULES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Every call sends the whole history again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Pseudo-code of most agents. The usage field is where the bill is read.</a:t>
            </a:r>
          </a:p>
        </p:txBody>
      </p:sp>
      <p:pic>
        <p:nvPicPr>
          <p:cNvPr id="9" name="Picture 8" descr="loop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48840"/>
            <a:ext cx="10789920" cy="31441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349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200" b="1">
                <a:solidFill>
                  <a:srgbClr val="BF4C1C"/>
                </a:solidFill>
                <a:latin typeface="Aptos"/>
              </a:rPr>
              <a:t>Orange</a:t>
            </a:r>
            <a:r>
              <a:rPr sz="2200" b="0">
                <a:solidFill>
                  <a:srgbClr val="3C3B38"/>
                </a:solidFill>
                <a:latin typeface="Aptos"/>
              </a:rPr>
              <a:t> = what you pay for again.   </a:t>
            </a:r>
            <a:r>
              <a:rPr sz="2200" b="1">
                <a:solidFill>
                  <a:srgbClr val="1C66C2"/>
                </a:solidFill>
                <a:latin typeface="Aptos"/>
              </a:rPr>
              <a:t>Blue</a:t>
            </a:r>
            <a:r>
              <a:rPr sz="2200" b="0">
                <a:solidFill>
                  <a:srgbClr val="3C3B38"/>
                </a:solidFill>
                <a:latin typeface="Aptos"/>
              </a:rPr>
              <a:t> = where you read what it cost.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700" b="0">
                <a:solidFill>
                  <a:srgbClr val="6B6963"/>
                </a:solidFill>
                <a:latin typeface="Aptos"/>
              </a:rPr>
              <a:t>Orange is full price unless you cache it (slide 14). The model can only read so many tokens per call: that limit is the </a:t>
            </a:r>
            <a:r>
              <a:rPr sz="1700" b="1">
                <a:solidFill>
                  <a:srgbClr val="3C3B38"/>
                </a:solidFill>
                <a:latin typeface="Aptos"/>
              </a:rPr>
              <a:t>context window</a:t>
            </a:r>
            <a:r>
              <a:rPr sz="1700" b="0">
                <a:solidFill>
                  <a:srgbClr val="6B6963"/>
                </a:solidFill>
                <a:latin typeface="Aptos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HOW IT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87791" y="429768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6B69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3C3B38"/>
                </a:solidFill>
                <a:latin typeface="Aptos"/>
              </a:rPr>
              <a:t>EXAMPLE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How a picture becomes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A modelled tiler (InternVL-style). Real vendors work differently: slide 8.</a:t>
            </a:r>
          </a:p>
        </p:txBody>
      </p:sp>
      <p:pic>
        <p:nvPicPr>
          <p:cNvPr id="10" name="Picture 9" descr="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03120"/>
            <a:ext cx="10820095" cy="327220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150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>
                <a:solidFill>
                  <a:srgbClr val="3C3B38"/>
                </a:solidFill>
                <a:latin typeface="Aptos"/>
              </a:rPr>
              <a:t>9 tiles × 256 tokens = </a:t>
            </a:r>
            <a:r>
              <a:rPr sz="2400" b="1">
                <a:solidFill>
                  <a:srgbClr val="1C66C2"/>
                </a:solidFill>
                <a:latin typeface="Aptos"/>
              </a:rPr>
              <a:t>2,304 tokens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HOW IT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87791" y="429768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6B69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3C3B38"/>
                </a:solidFill>
                <a:latin typeface="Aptos"/>
              </a:rPr>
              <a:t>EXAMPLE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Three ways a model can turn a picture into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Three modelled strategies, all priced on the same 1920×1080 screenshot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3383280" cy="3977639"/>
          </a:xfrm>
          <a:prstGeom prst="roundRect">
            <a:avLst>
              <a:gd name="adj" fmla="val 7000"/>
            </a:avLst>
          </a:prstGeom>
          <a:solidFill>
            <a:srgbClr val="F2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trategy_squ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377440"/>
            <a:ext cx="2651760" cy="157448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51560" y="40233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0B0B0B"/>
                </a:solidFill>
                <a:latin typeface="Aptos"/>
              </a:rPr>
              <a:t>Squash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480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3C3B38"/>
                </a:solidFill>
                <a:latin typeface="Aptos"/>
              </a:rPr>
              <a:t>Same cost, any size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983480"/>
            <a:ext cx="2743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576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54228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3C3B38"/>
                </a:solidFill>
                <a:latin typeface="Aptos"/>
              </a:rPr>
              <a:t>tokens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148840"/>
            <a:ext cx="3383280" cy="3977639"/>
          </a:xfrm>
          <a:prstGeom prst="roundRect">
            <a:avLst>
              <a:gd name="adj" fmla="val 7000"/>
            </a:avLst>
          </a:prstGeom>
          <a:solidFill>
            <a:srgbClr val="F2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trategy_ti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377440"/>
            <a:ext cx="2651760" cy="157448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709160" y="40233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0B0B0B"/>
                </a:solidFill>
                <a:latin typeface="Aptos"/>
              </a:rPr>
              <a:t>Cut into tiles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4480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3C3B38"/>
                </a:solidFill>
                <a:latin typeface="Aptos"/>
              </a:rPr>
              <a:t>Cost follows the shape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4983480"/>
            <a:ext cx="2743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2,304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554228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3C3B38"/>
                </a:solidFill>
                <a:latin typeface="Aptos"/>
              </a:rPr>
              <a:t>tokens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2148840"/>
            <a:ext cx="3383280" cy="3977639"/>
          </a:xfrm>
          <a:prstGeom prst="roundRect">
            <a:avLst>
              <a:gd name="adj" fmla="val 7000"/>
            </a:avLst>
          </a:prstGeom>
          <a:solidFill>
            <a:srgbClr val="E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trategy_bud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377440"/>
            <a:ext cx="2651760" cy="157448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366760" y="40233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0B0B0B"/>
                </a:solidFill>
                <a:latin typeface="Aptos"/>
              </a:rPr>
              <a:t>Shrink to a budget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480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3C3B38"/>
                </a:solidFill>
                <a:latin typeface="Aptos"/>
              </a:rPr>
              <a:t>The cap is a setting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983480"/>
            <a:ext cx="2743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1C66C2"/>
                </a:solidFill>
                <a:latin typeface="Aptos Display"/>
              </a:rPr>
              <a:t>1,222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554228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3C3B38"/>
                </a:solidFill>
                <a:latin typeface="Aptos"/>
              </a:rPr>
              <a:t>tokens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the example agent uses “shrink to a budget”, capped at 1,280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HOW IT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87791" y="429768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B0B0B"/>
          </a:solidFill>
          <a:ln w="15875">
            <a:solidFill>
              <a:srgbClr val="6B69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PUBLISHED 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Real products price it differently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A 1920×1080 screenshot, priced by each vendor's published rule</a:t>
            </a:r>
          </a:p>
        </p:txBody>
      </p:sp>
      <p:pic>
        <p:nvPicPr>
          <p:cNvPr id="10" name="Picture 9" descr="real_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20240"/>
            <a:ext cx="10789920" cy="35067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34924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>
                <a:solidFill>
                  <a:srgbClr val="3C3B38"/>
                </a:solidFill>
                <a:latin typeface="Aptos"/>
              </a:rPr>
              <a:t>Claude standard: a 4K screen costs the same </a:t>
            </a:r>
            <a:r>
              <a:rPr sz="2200" b="1">
                <a:solidFill>
                  <a:srgbClr val="1C66C2"/>
                </a:solidFill>
                <a:latin typeface="Aptos"/>
              </a:rPr>
              <a:t>1,560</a:t>
            </a:r>
            <a:r>
              <a:rPr sz="2200" b="0">
                <a:solidFill>
                  <a:srgbClr val="3C3B38"/>
                </a:solidFill>
                <a:latin typeface="Aptos"/>
              </a:rPr>
              <a:t>. The cap sets the bill.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6B6963"/>
                </a:solidFill>
                <a:latin typeface="Aptos"/>
              </a:rPr>
              <a:t>Claude 4.7+ is the high-res tier: an upgrade can move it from 1,560 to 2,691.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published rules, checked 2026-10-29 · vendors change them, re-check before quoting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MEASURE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Open the notebook. Run two cells.</a:t>
            </a:r>
          </a:p>
        </p:txBody>
      </p:sp>
      <p:pic>
        <p:nvPicPr>
          <p:cNvPr id="8" name="Picture 7" descr="qr_colab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2286000" cy="228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420624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3C3B38"/>
                </a:solidFill>
                <a:latin typeface="Aptos"/>
              </a:rPr>
              <a:t>Scan: opens in Colab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B6963"/>
                </a:solidFill>
                <a:latin typeface="Aptos"/>
              </a:rPr>
              <a:t>Google account + wifi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828800"/>
            <a:ext cx="329184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1C66C2"/>
                </a:solidFill>
                <a:latin typeface="Aptos"/>
              </a:rPr>
              <a:t>1  </a:t>
            </a:r>
            <a:r>
              <a:rPr sz="2200" b="0">
                <a:solidFill>
                  <a:srgbClr val="0B0B0B"/>
                </a:solidFill>
                <a:latin typeface="Aptos"/>
              </a:rPr>
              <a:t>Press Play 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0B0B0B"/>
                </a:solidFill>
                <a:latin typeface="Aptos"/>
              </a:rPr>
              <a:t>    Run this first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0B0B"/>
                </a:solidFill>
                <a:latin typeface="Aptos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1C66C2"/>
                </a:solidFill>
                <a:latin typeface="Aptos"/>
              </a:rPr>
              <a:t>2  </a:t>
            </a:r>
            <a:r>
              <a:rPr sz="2200" b="0">
                <a:solidFill>
                  <a:srgbClr val="0B0B0B"/>
                </a:solidFill>
                <a:latin typeface="Aptos"/>
              </a:rPr>
              <a:t>Press Play 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0B0B0B"/>
                </a:solidFill>
                <a:latin typeface="Aptos"/>
              </a:rPr>
              <a:t>    Check the setup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0B0B"/>
                </a:solidFill>
                <a:latin typeface="Aptos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0B0B"/>
                </a:solidFill>
                <a:latin typeface="Aptos"/>
              </a:rPr>
              <a:t>3  Look for </a:t>
            </a:r>
            <a:r>
              <a:rPr sz="2200" b="1">
                <a:solidFill>
                  <a:srgbClr val="1C66C2"/>
                </a:solidFill>
                <a:latin typeface="Aptos"/>
              </a:rPr>
              <a:t>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257800"/>
            <a:ext cx="5852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3C3B38"/>
                </a:solidFill>
                <a:latin typeface="Aptos"/>
              </a:rPr>
              <a:t>Nothing to install.  No API key.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6B6963"/>
                </a:solidFill>
                <a:latin typeface="Aptos"/>
              </a:rPr>
              <a:t>No Google account? Pair with a neighbour.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1783080"/>
            <a:ext cx="4617720" cy="4434840"/>
          </a:xfrm>
          <a:prstGeom prst="roundRect">
            <a:avLst>
              <a:gd name="adj" fmla="val 7000"/>
            </a:avLst>
          </a:prstGeom>
          <a:solidFill>
            <a:srgbClr val="E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erm_set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011680"/>
            <a:ext cx="4160520" cy="19002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32320" y="4069080"/>
            <a:ext cx="42062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800" b="1">
                <a:solidFill>
                  <a:srgbClr val="0B0B0B"/>
                </a:solidFill>
                <a:latin typeface="Aptos"/>
              </a:rPr>
              <a:t>Have Python? Use a terminal.</a:t>
            </a:r>
            <a:r>
              <a:rPr sz="1400" b="0">
                <a:solidFill>
                  <a:srgbClr val="6B6963"/>
                </a:solidFill>
                <a:latin typeface="Aptos"/>
              </a:rPr>
              <a:t>  works offline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0">
                <a:solidFill>
                  <a:srgbClr val="3C3B38"/>
                </a:solidFill>
                <a:latin typeface="Aptos"/>
              </a:rPr>
              <a:t>Get the folder: </a:t>
            </a:r>
            <a:r>
              <a:rPr sz="1500" b="1">
                <a:solidFill>
                  <a:srgbClr val="1C66C2"/>
                </a:solidFill>
                <a:latin typeface="Aptos"/>
              </a:rPr>
              <a:t>github.com/ieee-ai/agentic-ai-26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0">
                <a:solidFill>
                  <a:srgbClr val="3C3B38"/>
                </a:solidFill>
                <a:latin typeface="Aptos"/>
              </a:rPr>
              <a:t>1  Mac: ⌘-Space, type Terminal.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0">
                <a:solidFill>
                  <a:srgbClr val="3C3B38"/>
                </a:solidFill>
                <a:latin typeface="Aptos"/>
              </a:rPr>
              <a:t>    Windows: Start, type PowerShell.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0">
                <a:solidFill>
                  <a:srgbClr val="3C3B38"/>
                </a:solidFill>
                <a:latin typeface="Aptos"/>
              </a:rPr>
              <a:t>2  cd, a space, drag the folder in, Enter.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0">
                <a:solidFill>
                  <a:srgbClr val="6B6963"/>
                </a:solidFill>
                <a:latin typeface="Aptos"/>
              </a:rPr>
              <a:t>Windows: py, not python3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EXERCISE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What does one image cost?</a:t>
            </a:r>
          </a:p>
        </p:txBody>
      </p:sp>
      <p:pic>
        <p:nvPicPr>
          <p:cNvPr id="8" name="Picture 7" descr="term_ex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394960" cy="385978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26679" y="1783080"/>
            <a:ext cx="3776472" cy="4343400"/>
          </a:xfrm>
          <a:prstGeom prst="roundRect">
            <a:avLst>
              <a:gd name="adj" fmla="val 7000"/>
            </a:avLst>
          </a:prstGeom>
          <a:solidFill>
            <a:srgbClr val="E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2057400"/>
            <a:ext cx="320040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C66C2"/>
                </a:solidFill>
                <a:latin typeface="Aptos"/>
              </a:rPr>
              <a:t>TRY IT</a:t>
            </a:r>
            <a:r>
              <a:rPr sz="1400" b="0">
                <a:solidFill>
                  <a:srgbClr val="6B6963"/>
                </a:solidFill>
                <a:latin typeface="Aptos"/>
              </a:rPr>
              <a:t>  ·  notebook section 2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0B0B0B"/>
                </a:solidFill>
                <a:latin typeface="Aptos"/>
              </a:rPr>
              <a:t/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1C66C2"/>
                </a:solidFill>
                <a:latin typeface="Aptos"/>
              </a:rPr>
              <a:t>1  </a:t>
            </a:r>
            <a:r>
              <a:rPr sz="2200" b="0">
                <a:solidFill>
                  <a:srgbClr val="0B0B0B"/>
                </a:solidFill>
                <a:latin typeface="Aptos"/>
              </a:rPr>
              <a:t>Your own screen size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6B6963"/>
                </a:solidFill>
                <a:latin typeface="Aptos"/>
              </a:rPr>
              <a:t>Mac: menu &gt; About This Mac. Windows: Settings &gt; Display.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0B0B0B"/>
                </a:solidFill>
                <a:latin typeface="Aptos"/>
              </a:rPr>
              <a:t/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1C66C2"/>
                </a:solidFill>
                <a:latin typeface="Aptos"/>
              </a:rPr>
              <a:t>2  </a:t>
            </a:r>
            <a:r>
              <a:rPr sz="2200" b="0">
                <a:solidFill>
                  <a:srgbClr val="0B0B0B"/>
                </a:solidFill>
                <a:latin typeface="Aptos"/>
              </a:rPr>
              <a:t>Which is cheapest?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0B0B0B"/>
                </a:solidFill>
                <a:latin typeface="Aptos"/>
              </a:rPr>
              <a:t/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1C66C2"/>
                </a:solidFill>
                <a:latin typeface="Aptos"/>
              </a:rPr>
              <a:t>3  </a:t>
            </a:r>
            <a:r>
              <a:rPr sz="2200" b="0">
                <a:solidFill>
                  <a:srgbClr val="0B0B0B"/>
                </a:solidFill>
                <a:latin typeface="Aptos"/>
              </a:rPr>
              <a:t>Double the width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0B0B0B"/>
                </a:solidFill>
                <a:latin typeface="Aptos"/>
              </a:rPr>
              <a:t/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1C66C2"/>
                </a:solidFill>
                <a:latin typeface="Aptos"/>
              </a:rPr>
              <a:t>4  </a:t>
            </a:r>
            <a:r>
              <a:rPr sz="2200" b="0">
                <a:solidFill>
                  <a:srgbClr val="0B0B0B"/>
                </a:solidFill>
                <a:latin typeface="Aptos"/>
              </a:rPr>
              <a:t>Try 3840x2160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760720"/>
            <a:ext cx="6949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3C3B38"/>
                </a:solidFill>
                <a:latin typeface="Aptos"/>
              </a:rPr>
              <a:t>Same picture: </a:t>
            </a:r>
            <a:r>
              <a:rPr sz="1700" b="1">
                <a:solidFill>
                  <a:srgbClr val="1C66C2"/>
                </a:solidFill>
                <a:latin typeface="Aptos"/>
              </a:rPr>
              <a:t>1,105</a:t>
            </a:r>
            <a:r>
              <a:rPr sz="1700" b="0">
                <a:solidFill>
                  <a:srgbClr val="3C3B38"/>
                </a:solidFill>
                <a:latin typeface="Aptos"/>
              </a:rPr>
              <a:t> to </a:t>
            </a:r>
            <a:r>
              <a:rPr sz="1700" b="1">
                <a:solidFill>
                  <a:srgbClr val="3C3B38"/>
                </a:solidFill>
                <a:latin typeface="Aptos"/>
              </a:rPr>
              <a:t>2,691</a:t>
            </a:r>
            <a:r>
              <a:rPr sz="1700" b="0">
                <a:solidFill>
                  <a:srgbClr val="3C3B38"/>
                </a:solidFill>
                <a:latin typeface="Aptos"/>
              </a:rPr>
              <a:t> tokens on real products.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6B6963"/>
                </a:solidFill>
                <a:latin typeface="Aptos"/>
              </a:rPr>
              <a:t>The modelled strategies span 252 to 2,304 (252 is a 588×336 view).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MEASURE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87791" y="429768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6B69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3C3B38"/>
                </a:solidFill>
                <a:latin typeface="Aptos"/>
              </a:rPr>
              <a:t>EXAMPLE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Four times the pixels. Same bill.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In the modelled “cut into tiles” strategy</a:t>
            </a:r>
          </a:p>
        </p:txBody>
      </p:sp>
      <p:pic>
        <p:nvPicPr>
          <p:cNvPr id="10" name="Picture 9" descr="same_sh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65960"/>
            <a:ext cx="10744200" cy="347865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53212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>
                <a:solidFill>
                  <a:srgbClr val="0B0B0B"/>
                </a:solidFill>
                <a:latin typeface="Aptos"/>
              </a:rPr>
              <a:t>A tiler prices the </a:t>
            </a:r>
            <a:r>
              <a:rPr sz="2400" b="1">
                <a:solidFill>
                  <a:srgbClr val="1C66C2"/>
                </a:solidFill>
                <a:latin typeface="Aptos"/>
              </a:rPr>
              <a:t>shape</a:t>
            </a:r>
            <a:r>
              <a:rPr sz="2400" b="1">
                <a:solidFill>
                  <a:srgbClr val="0B0B0B"/>
                </a:solidFill>
                <a:latin typeface="Aptos"/>
              </a:rPr>
              <a:t> of your image, not its size.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>
                <a:solidFill>
                  <a:srgbClr val="6B6963"/>
                </a:solidFill>
                <a:latin typeface="Aptos"/>
              </a:rPr>
              <a:t>Real rules on the same two screens: OpenAI 1,105 and 1,105, Claude standard 1,334 and 1,550, Claude hi-res 1,334 and 4,698. Measure at the sizes you ship.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EXERCISE 2 · DEMO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87791" y="429768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6B69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3C3B38"/>
                </a:solidFill>
                <a:latin typeface="Aptos"/>
              </a:rPr>
              <a:t>EXAMPLE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Check whether your audio is padded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A Whisper-style encoder works in 30-second windows. Does your product bill for that?</a:t>
            </a:r>
          </a:p>
        </p:txBody>
      </p:sp>
      <p:pic>
        <p:nvPicPr>
          <p:cNvPr id="10" name="Picture 9" descr="a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20240"/>
            <a:ext cx="10607040" cy="2788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window encoder: modelled · 32 tokens a second: Gemini, published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754880"/>
            <a:ext cx="10820095" cy="1417320"/>
          </a:xfrm>
          <a:prstGeom prst="roundRect">
            <a:avLst>
              <a:gd name="adj" fmla="val 7000"/>
            </a:avLst>
          </a:prstGeom>
          <a:solidFill>
            <a:srgbClr val="E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64608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400" b="1">
                <a:solidFill>
                  <a:srgbClr val="1C66C2"/>
                </a:solidFill>
                <a:latin typeface="Aptos Display"/>
              </a:rPr>
              <a:t>33</a:t>
            </a:r>
            <a:r>
              <a:rPr sz="2200" b="1">
                <a:solidFill>
                  <a:srgbClr val="1C66C2"/>
                </a:solidFill>
                <a:latin typeface="Aptos"/>
              </a:rPr>
              <a:t> tokens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4892040"/>
            <a:ext cx="7589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>
                <a:solidFill>
                  <a:srgbClr val="3C3B38"/>
                </a:solidFill>
                <a:latin typeface="Aptos"/>
              </a:rPr>
              <a:t>Send the words, not the sound.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3C3B38"/>
                </a:solidFill>
                <a:latin typeface="Aptos"/>
              </a:rPr>
              <a:t>8 seconds as text: 8× fewer tokens than speech at Gemini's 32 a second (up to 45× against a padded window). Speech recognition is not priced.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B5B2AA"/>
                </a:solidFill>
                <a:latin typeface="Aptos"/>
              </a:rPr>
              <a:t>FIX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5AA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87791" y="429768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121212"/>
          </a:solidFill>
          <a:ln w="15875">
            <a:solidFill>
              <a:srgbClr val="B5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D7D5CE"/>
                </a:solidFill>
                <a:latin typeface="Aptos"/>
              </a:rPr>
              <a:t>EXAMPLE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ptos Display"/>
              </a:rPr>
              <a:t>Every turn re-sends the whole conversation</a:t>
            </a:r>
          </a:p>
        </p:txBody>
      </p:sp>
      <p:pic>
        <p:nvPicPr>
          <p:cNvPr id="9" name="Picture 8" descr="resend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91640"/>
            <a:ext cx="6492240" cy="40357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1828800"/>
            <a:ext cx="4297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0" b="1">
                <a:solidFill>
                  <a:srgbClr val="F0834E"/>
                </a:solidFill>
                <a:latin typeface="Aptos Display"/>
              </a:rPr>
              <a:t>91%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2580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D7D5CE"/>
                </a:solidFill>
                <a:latin typeface="Aptos"/>
              </a:rPr>
              <a:t>of the input tokens were sent before
(20 turns, no caching)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4297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B5B2AA"/>
                </a:solidFill>
                <a:latin typeface="Aptos"/>
              </a:rPr>
              <a:t>New content  </a:t>
            </a:r>
            <a:r>
              <a:rPr sz="2200" b="1">
                <a:solidFill>
                  <a:srgbClr val="5AA3F0"/>
                </a:solidFill>
                <a:latin typeface="Aptos"/>
              </a:rPr>
              <a:t>32,240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B5B2AA"/>
                </a:solidFill>
                <a:latin typeface="Aptos"/>
              </a:rPr>
              <a:t>Sent again  </a:t>
            </a:r>
            <a:r>
              <a:rPr sz="2200" b="1">
                <a:solidFill>
                  <a:srgbClr val="F0834E"/>
                </a:solidFill>
                <a:latin typeface="Aptos"/>
              </a:rPr>
              <a:t>308,940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B5B2AA"/>
                </a:solidFill>
                <a:latin typeface="Aptos"/>
              </a:rPr>
              <a:t>Input in total  </a:t>
            </a:r>
            <a:r>
              <a:rPr sz="2200" b="1">
                <a:solidFill>
                  <a:srgbClr val="FFFFFF"/>
                </a:solidFill>
                <a:latin typeface="Aptos"/>
              </a:rPr>
              <a:t>341,180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76072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Two things grow. </a:t>
            </a:r>
            <a:r>
              <a:rPr sz="1500" b="0">
                <a:solidFill>
                  <a:srgbClr val="D7D5CE"/>
                </a:solidFill>
                <a:latin typeface="Aptos"/>
              </a:rPr>
              <a:t>The bill: double the turns, about 4× the tokens. And the request itself: this agent reaches the 128,000-token context window at turn 80. </a:t>
            </a:r>
            <a:r>
              <a:rPr sz="1500" b="0">
                <a:solidFill>
                  <a:srgbClr val="B5B2AA"/>
                </a:solidFill>
                <a:latin typeface="Aptos"/>
              </a:rPr>
              <a:t>max_tokens only caps one reply.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B5B2AA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B5B2AA"/>
                </a:solidFill>
                <a:latin typeface="Aptos"/>
              </a:rPr>
              <a:t>input tokens only (output is priced separately)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EXERCISE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87791" y="429768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6B69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3C3B38"/>
                </a:solidFill>
                <a:latin typeface="Aptos"/>
              </a:rPr>
              <a:t>EXAMPLE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Ten ways to cut the bill. Which wins?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For a voice agent that watches the screen, 20 turns</a:t>
            </a:r>
          </a:p>
        </p:txBody>
      </p:sp>
      <p:pic>
        <p:nvPicPr>
          <p:cNvPr id="10" name="Picture 9" descr="lever_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20240"/>
            <a:ext cx="6766560" cy="42976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909560" y="1920240"/>
            <a:ext cx="3593592" cy="4206240"/>
          </a:xfrm>
          <a:prstGeom prst="roundRect">
            <a:avLst>
              <a:gd name="adj" fmla="val 7000"/>
            </a:avLst>
          </a:prstGeom>
          <a:solidFill>
            <a:srgbClr val="E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194560"/>
            <a:ext cx="301752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C66C2"/>
                </a:solidFill>
                <a:latin typeface="Aptos"/>
              </a:rPr>
              <a:t>ON PAPER, NOW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>
                <a:solidFill>
                  <a:srgbClr val="0B0B0B"/>
                </a:solidFill>
                <a:latin typeface="Aptos"/>
              </a:rPr>
              <a:t/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Most?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Least?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>
                <a:solidFill>
                  <a:srgbClr val="0B0B0B"/>
                </a:solidFill>
                <a:latin typeface="Aptos"/>
              </a:rPr>
              <a:t/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3C3B38"/>
                </a:solidFill>
                <a:latin typeface="Aptos"/>
              </a:rPr>
              <a:t>90 seconds. Then run: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1206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>
                <a:solidFill>
                  <a:srgbClr val="1C66C2"/>
                </a:solidFill>
                <a:latin typeface="Aptos"/>
              </a:rPr>
              <a:t>Play “Reveal”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553212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3C3B38"/>
                </a:solidFill>
                <a:latin typeface="Aptos"/>
              </a:rPr>
              <a:t>Prefix caching: the provider remembers the start of your prompt and charges about 10% to read it again.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B5B2AA"/>
                </a:solidFill>
                <a:latin typeface="Aptos"/>
              </a:rPr>
              <a:t>EXERCISE 3 · THE ANSWER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5AA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87791" y="429768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121212"/>
          </a:solidFill>
          <a:ln w="15875">
            <a:solidFill>
              <a:srgbClr val="B5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D7D5CE"/>
                </a:solidFill>
                <a:latin typeface="Aptos"/>
              </a:rPr>
              <a:t>EXAMPLE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ptos Display"/>
              </a:rPr>
              <a:t>Ranked by what it saves, in our example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3716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B5B2AA"/>
                </a:solidFill>
                <a:latin typeface="Aptos"/>
              </a:rPr>
              <a:t>400-token prompt, 20 turns, uncached; ranked by tokens saved, not by what survives your task. At 4,000 tokens the prompt fix saves 12%.</a:t>
            </a:r>
          </a:p>
        </p:txBody>
      </p:sp>
      <p:pic>
        <p:nvPicPr>
          <p:cNvPr id="10" name="Picture 9" descr="leaderboard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54480"/>
            <a:ext cx="11247120" cy="46863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6336792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5AA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6254496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>
                <a:solidFill>
                  <a:srgbClr val="D7D5CE"/>
                </a:solidFill>
                <a:latin typeface="Aptos"/>
              </a:rPr>
              <a:t>Make it smaller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6336792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F08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2736" y="6254496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>
                <a:solidFill>
                  <a:srgbClr val="D7D5CE"/>
                </a:solidFill>
                <a:latin typeface="Aptos"/>
              </a:rPr>
              <a:t>Send it again less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7880" y="6336792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9A9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6254496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>
                <a:solidFill>
                  <a:srgbClr val="D7D5CE"/>
                </a:solidFill>
                <a:latin typeface="Aptos"/>
              </a:rPr>
              <a:t>Cheaper per send (caching)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6254496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B5B2AA"/>
                </a:solidFill>
                <a:latin typeface="Aptos"/>
              </a:rPr>
              <a:t>slide 18: when it changes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FIX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87791" y="429768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6B69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3C3B38"/>
                </a:solidFill>
                <a:latin typeface="Aptos"/>
              </a:rPr>
              <a:t>EXAMPLE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Your bill is a multiplication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4592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0B0B0B"/>
                </a:solidFill>
                <a:latin typeface="Aptos"/>
              </a:rPr>
              <a:t>how </a:t>
            </a:r>
            <a:r>
              <a:rPr sz="2200" b="1">
                <a:solidFill>
                  <a:srgbClr val="1C66C2"/>
                </a:solidFill>
                <a:latin typeface="Aptos"/>
              </a:rPr>
              <a:t>big</a:t>
            </a:r>
            <a:r>
              <a:rPr sz="2200" b="0">
                <a:solidFill>
                  <a:srgbClr val="0B0B0B"/>
                </a:solidFill>
                <a:latin typeface="Aptos"/>
              </a:rPr>
              <a:t> each thing is  ×  how many times you </a:t>
            </a:r>
            <a:r>
              <a:rPr sz="2200" b="1">
                <a:solidFill>
                  <a:srgbClr val="BF4C1C"/>
                </a:solidFill>
                <a:latin typeface="Aptos"/>
              </a:rPr>
              <a:t>send it</a:t>
            </a:r>
            <a:r>
              <a:rPr sz="2200" b="0">
                <a:solidFill>
                  <a:srgbClr val="0B0B0B"/>
                </a:solidFill>
                <a:latin typeface="Aptos"/>
              </a:rPr>
              <a:t>  ×  what each send </a:t>
            </a:r>
            <a:r>
              <a:rPr sz="2200" b="1">
                <a:solidFill>
                  <a:srgbClr val="6F6C66"/>
                </a:solidFill>
                <a:latin typeface="Aptos"/>
              </a:rPr>
              <a:t>costs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31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3C3B38"/>
                </a:solidFill>
                <a:latin typeface="Aptos"/>
              </a:rPr>
              <a:t>Shrinking acts on the first, pruning (dropping old items) on the second, caching on the third.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260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6B6963"/>
                </a:solidFill>
                <a:latin typeface="Aptos"/>
              </a:rPr>
              <a:t>Share of the input tokens, one 20-turn session. The ranking you just saw follows these shares.</a:t>
            </a:r>
          </a:p>
        </p:txBody>
      </p:sp>
      <p:pic>
        <p:nvPicPr>
          <p:cNvPr id="12" name="Picture 11" descr="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29000"/>
            <a:ext cx="10820095" cy="211893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59893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6B6963"/>
                </a:solidFill>
                <a:latin typeface="Aptos"/>
              </a:rPr>
              <a:t>About </a:t>
            </a:r>
            <a:r>
              <a:rPr sz="1500" b="1">
                <a:solidFill>
                  <a:srgbClr val="6B6963"/>
                </a:solidFill>
                <a:latin typeface="Aptos"/>
              </a:rPr>
              <a:t>$1.02</a:t>
            </a:r>
            <a:r>
              <a:rPr sz="1500" b="0">
                <a:solidFill>
                  <a:srgbClr val="6B6963"/>
                </a:solidFill>
                <a:latin typeface="Aptos"/>
              </a:rPr>
              <a:t> a session and about </a:t>
            </a:r>
            <a:r>
              <a:rPr sz="1500" b="1">
                <a:solidFill>
                  <a:srgbClr val="6B6963"/>
                </a:solidFill>
                <a:latin typeface="Aptos"/>
              </a:rPr>
              <a:t>$307,000</a:t>
            </a:r>
            <a:r>
              <a:rPr sz="1500" b="0">
                <a:solidFill>
                  <a:srgbClr val="6B6963"/>
                </a:solidFill>
                <a:latin typeface="Aptos"/>
              </a:rPr>
              <a:t> a month at 10,000 sessions a day, 30 days. Assumed $3.00 per million input tokens.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Simulated 20-turn session · illustrative settings · input tokens only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EXERCISE 3 · TWIST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87791" y="429768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6B69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3C3B38"/>
                </a:solidFill>
                <a:latin typeface="Aptos"/>
              </a:rPr>
              <a:t>EXAMPLE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400" b="1">
                <a:solidFill>
                  <a:srgbClr val="0B0B0B"/>
                </a:solidFill>
                <a:latin typeface="Aptos Display"/>
              </a:rPr>
              <a:t>No pictures: now the prompt is the big item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Chat agent bill: prompt 55%, replies 35%, messages 10%. Six of the ten fixes do not apply.</a:t>
            </a:r>
          </a:p>
        </p:txBody>
      </p:sp>
      <p:pic>
        <p:nvPicPr>
          <p:cNvPr id="10" name="Picture 9" descr="fl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4519"/>
            <a:ext cx="10789920" cy="38598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60720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3C3B38"/>
                </a:solidFill>
                <a:latin typeface="Aptos"/>
              </a:rPr>
              <a:t>Control: </a:t>
            </a:r>
            <a:r>
              <a:rPr sz="1500" b="0">
                <a:solidFill>
                  <a:srgbClr val="3C3B38"/>
                </a:solidFill>
                <a:latin typeface="Aptos"/>
              </a:rPr>
              <a:t>the screen agent with the same 6,000-token prompt ranks the prompt fix only 6 of 9 design fixes (16%). It takes the pictures being gone, not just a long prompt.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566928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C66C2"/>
                </a:solidFill>
                <a:latin typeface="Aptos"/>
              </a:rPr>
              <a:t>Press Play on “Two agents side by side”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598932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Consolas"/>
              </a:rPr>
              <a:t>terminal: python3 ex3_budget.py --agent both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Simulated 20-turn session · illustrative settings · input tokens only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HONESTY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87791" y="429768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6B69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3C3B38"/>
                </a:solidFill>
                <a:latin typeface="Aptos"/>
              </a:rPr>
              <a:t>EXAMPLE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That ranking is not a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Change one assumption of the agent and a fix moves a long way</a:t>
            </a:r>
          </a:p>
        </p:txBody>
      </p:sp>
      <p:pic>
        <p:nvPicPr>
          <p:cNvPr id="10" name="Picture 9" descr="dumbb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74519"/>
            <a:ext cx="10424160" cy="4063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9436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0B0B0B"/>
                </a:solidFill>
                <a:latin typeface="Aptos"/>
              </a:rPr>
              <a:t>Not modelled: </a:t>
            </a:r>
            <a:r>
              <a:rPr sz="1500" b="0">
                <a:solidFill>
                  <a:srgbClr val="3C3B38"/>
                </a:solidFill>
                <a:latin typeface="Aptos"/>
              </a:rPr>
              <a:t>tool results and schemas · cache write fees and expiry · output tokens in the bill ·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B5B2AA"/>
                </a:solidFill>
                <a:latin typeface="Aptos"/>
              </a:rPr>
              <a:t>TAKE THIS WITH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5AA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ptos Display"/>
              </a:rPr>
              <a:t>Monday morning: find YOUR big number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2514600" cy="1874519"/>
          </a:xfrm>
          <a:prstGeom prst="roundRect">
            <a:avLst>
              <a:gd name="adj" fmla="val 7000"/>
            </a:avLst>
          </a:prstGeom>
          <a:solidFill>
            <a:srgbClr val="1F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5AA3F0"/>
                </a:solidFill>
                <a:latin typeface="Aptos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51760"/>
            <a:ext cx="2057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D7D5CE"/>
                </a:solidFill>
                <a:latin typeface="Aptos"/>
              </a:rPr>
              <a:t>Log input tokens on every model call.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1737360"/>
            <a:ext cx="2514600" cy="1874519"/>
          </a:xfrm>
          <a:prstGeom prst="roundRect">
            <a:avLst>
              <a:gd name="adj" fmla="val 7000"/>
            </a:avLst>
          </a:prstGeom>
          <a:solidFill>
            <a:srgbClr val="1F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5AA3F0"/>
                </a:solidFill>
                <a:latin typeface="Aptos Display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2651760"/>
            <a:ext cx="2057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D7D5CE"/>
                </a:solidFill>
                <a:latin typeface="Aptos"/>
              </a:rPr>
              <a:t>Run  bill_report.py  on the log.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737360"/>
            <a:ext cx="2514600" cy="1874519"/>
          </a:xfrm>
          <a:prstGeom prst="roundRect">
            <a:avLst>
              <a:gd name="adj" fmla="val 7000"/>
            </a:avLst>
          </a:prstGeom>
          <a:solidFill>
            <a:srgbClr val="1F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5AA3F0"/>
                </a:solidFill>
                <a:latin typeface="Aptos Display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2651760"/>
            <a:ext cx="2057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D7D5CE"/>
                </a:solidFill>
                <a:latin typeface="Aptos"/>
              </a:rPr>
              <a:t>See what dominates: the prefix, or what each turn adds.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0536" y="1737360"/>
            <a:ext cx="2514600" cy="1874519"/>
          </a:xfrm>
          <a:prstGeom prst="roundRect">
            <a:avLst>
              <a:gd name="adj" fmla="val 7000"/>
            </a:avLst>
          </a:prstGeom>
          <a:solidFill>
            <a:srgbClr val="1F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6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5AA3F0"/>
                </a:solidFill>
                <a:latin typeface="Aptos Display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6" y="2651760"/>
            <a:ext cx="2057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D7D5CE"/>
                </a:solidFill>
                <a:latin typeface="Aptos"/>
              </a:rPr>
              <a:t>Pick the fix aimed at that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977639"/>
            <a:ext cx="69494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ptos"/>
              </a:rPr>
              <a:t>Your bill = size  ×  sends  ×  price per send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0">
                <a:solidFill>
                  <a:srgbClr val="B5B2AA"/>
                </a:solidFill>
                <a:latin typeface="Aptos"/>
              </a:rPr>
              <a:t>The best fix changes with: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5AA3F0"/>
                </a:solidFill>
                <a:latin typeface="Aptos"/>
              </a:rPr>
              <a:t>caching · session length · prompt size · pictures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>
                <a:solidFill>
                  <a:srgbClr val="B5B2AA"/>
                </a:solidFill>
                <a:latin typeface="Aptos"/>
              </a:rPr>
              <a:t>So measure yours first.</a:t>
            </a:r>
          </a:p>
        </p:txBody>
      </p:sp>
      <p:pic>
        <p:nvPicPr>
          <p:cNvPr id="21" name="Picture 20" descr="qr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3931920"/>
            <a:ext cx="1600200" cy="1600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23760" y="402336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tos Display"/>
              </a:rPr>
              <a:t>Thank you</a:t>
            </a:r>
          </a:p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Shyamji Tiwari</a:t>
            </a:r>
          </a:p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D7D5CE"/>
                </a:solidFill>
                <a:latin typeface="Aptos"/>
              </a:rPr>
              <a:t>Applied Scientist, Amazon</a:t>
            </a:r>
          </a:p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AA3F0"/>
                </a:solidFill>
                <a:latin typeface="Aptos"/>
              </a:rPr>
              <a:t>github.com/ieee-ai/agentic-ai-26</a:t>
            </a:r>
          </a:p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AA3F0"/>
                </a:solidFill>
                <a:latin typeface="Aptos"/>
              </a:rPr>
              <a:t>/Saving-the-Tokens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B5B2AA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B5B2AA"/>
                </a:solidFill>
                <a:latin typeface="Aptos"/>
              </a:rPr>
              <a:t>Simulated 20-turn session · illustrative settings · input tokens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Saving the Tokens: Efficient Agent Design</dc:title>
  <dc:subject/>
  <dc:creator>Shyamji Tiwari</dc:creator>
  <cp:keywords/>
  <dc:description/>
  <cp:lastModifiedBy>Shyamji Tiwari</cp:lastModifiedBy>
  <cp:revision>1</cp:revision>
  <dcterms:created xsi:type="dcterms:W3CDTF">2013-01-27T09:14:16Z</dcterms:created>
  <dcterms:modified xsi:type="dcterms:W3CDTF">2013-01-27T09:15:58Z</dcterms:modified>
  <cp:category/>
</cp:coreProperties>
</file>