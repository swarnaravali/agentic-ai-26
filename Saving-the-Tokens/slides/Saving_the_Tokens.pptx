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051560"/>
            <a:ext cx="4892040" cy="389551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32588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Aptos Display"/>
              </a:rPr>
              <a:t>Saving the</a:t>
            </a:r>
          </a:p>
          <a:p>
            <a:pPr algn="l">
              <a:lnSpc>
                <a:spcPct val="88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Aptos Display"/>
              </a:rPr>
              <a:t>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2044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5AA3F0"/>
                </a:solidFill>
                <a:latin typeface="Aptos"/>
              </a:rPr>
              <a:t>Your agent pays again for everything it already sent.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5AA3F0"/>
                </a:solidFill>
                <a:latin typeface="Aptos"/>
              </a:rPr>
              <a:t>Find the big thing. Stop sending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Shyamji Tiwari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98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D7D5CE"/>
                </a:solidFill>
                <a:latin typeface="Aptos"/>
              </a:rPr>
              <a:t>Applied Scientist,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72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B5B2AA"/>
                </a:solidFill>
                <a:latin typeface="Aptos"/>
              </a:rPr>
              <a:t>IEEE AgenticAI Summit 2026  ·  Bangalore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617220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B5B2AA"/>
                </a:solidFill>
                <a:latin typeface="Aptos"/>
              </a:rPr>
              <a:t>Views are my own.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HANDS 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Which costs more to send to your AI agent?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257800" cy="388620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6596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0" b="1">
                <a:solidFill>
                  <a:srgbClr val="1C66C2"/>
                </a:solidFill>
                <a:latin typeface="Aptos Display"/>
              </a:rPr>
              <a:t>A</a:t>
            </a:r>
          </a:p>
        </p:txBody>
      </p:sp>
      <p:pic>
        <p:nvPicPr>
          <p:cNvPr id="10" name="Picture 9" descr="screen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103120"/>
            <a:ext cx="2869809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7280" y="4526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Aptos"/>
              </a:rPr>
              <a:t>One screenshot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of your screen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257800" cy="3886200"/>
          </a:xfrm>
          <a:prstGeom prst="roundRect">
            <a:avLst>
              <a:gd name="adj" fmla="val 7000"/>
            </a:avLst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96596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0" b="1">
                <a:solidFill>
                  <a:srgbClr val="6F6C66"/>
                </a:solidFill>
                <a:latin typeface="Aptos Display"/>
              </a:rPr>
              <a:t>B</a:t>
            </a:r>
          </a:p>
        </p:txBody>
      </p:sp>
      <p:pic>
        <p:nvPicPr>
          <p:cNvPr id="15" name="Picture 14" descr="doc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103120"/>
            <a:ext cx="1856935" cy="2194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9400" y="4526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Aptos"/>
              </a:rPr>
              <a:t>The system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instructions sent every message (a short one)</a:t>
            </a:r>
          </a:p>
        </p:txBody>
      </p:sp>
      <p:sp>
        <p:nvSpPr>
          <p:cNvPr id="18" name="Oval 17"/>
          <p:cNvSpPr/>
          <p:nvPr/>
        </p:nvSpPr>
        <p:spPr>
          <a:xfrm>
            <a:off x="5769864" y="3401568"/>
            <a:ext cx="658368" cy="658368"/>
          </a:xfrm>
          <a:prstGeom prst="ellipse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978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3C3B38"/>
                </a:solidFill>
                <a:latin typeface="Aptos"/>
              </a:rPr>
              <a:t>Agent</a:t>
            </a:r>
            <a:r>
              <a:rPr sz="1700" b="0">
                <a:solidFill>
                  <a:srgbClr val="3C3B38"/>
                </a:solidFill>
                <a:latin typeface="Aptos"/>
              </a:rPr>
              <a:t> = an AI that reads your screen and acts.   </a:t>
            </a:r>
            <a:r>
              <a:rPr sz="1700" b="1">
                <a:solidFill>
                  <a:srgbClr val="3C3B38"/>
                </a:solidFill>
                <a:latin typeface="Aptos"/>
              </a:rPr>
              <a:t>Turn</a:t>
            </a:r>
            <a:r>
              <a:rPr sz="1700" b="0">
                <a:solidFill>
                  <a:srgbClr val="3C3B38"/>
                </a:solidFill>
                <a:latin typeface="Aptos"/>
              </a:rPr>
              <a:t> = one message to it, and its reply.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THE ANSWER: 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15000" b="1">
                <a:solidFill>
                  <a:srgbClr val="5AA3F0"/>
                </a:solidFill>
                <a:latin typeface="Aptos Display"/>
              </a:rPr>
              <a:t>3.1×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"/>
              </a:rPr>
              <a:t>One screenshot is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"/>
              </a:rPr>
              <a:t>three short prompts.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5488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D7D5CE"/>
                </a:solidFill>
                <a:latin typeface="Aptos"/>
              </a:rPr>
              <a:t>And it sends a new one </a:t>
            </a:r>
            <a:r>
              <a:rPr sz="2200" b="1">
                <a:solidFill>
                  <a:srgbClr val="5AA3F0"/>
                </a:solidFill>
                <a:latin typeface="Aptos"/>
              </a:rPr>
              <a:t>every turn.</a:t>
            </a:r>
          </a:p>
        </p:txBody>
      </p:sp>
      <p:pic>
        <p:nvPicPr>
          <p:cNvPr id="10" name="Picture 9" descr="blocks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80160"/>
            <a:ext cx="5486400" cy="25639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3981316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5AA3F0"/>
                </a:solidFill>
                <a:latin typeface="Aptos"/>
              </a:rPr>
              <a:t>1,222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D7D5CE"/>
                </a:solidFill>
                <a:latin typeface="Aptos"/>
              </a:rPr>
              <a:t>one 1920×1080 screenshot,
1,280-token cap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32" y="3981316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9A978F"/>
                </a:solidFill>
                <a:latin typeface="Aptos"/>
              </a:rPr>
              <a:t>400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D7D5CE"/>
                </a:solidFill>
                <a:latin typeface="Aptos"/>
              </a:rPr>
              <a:t>a short system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1,280-token image cap · 400 tokens is a short prompt; real ones often run 2,000+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GROUND RULES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A token is the unit of the bill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You pay for everything going </a:t>
            </a:r>
            <a:r>
              <a:rPr sz="2000" b="1">
                <a:solidFill>
                  <a:srgbClr val="1C66C2"/>
                </a:solidFill>
                <a:latin typeface="Aptos"/>
              </a:rPr>
              <a:t>in</a:t>
            </a:r>
            <a:r>
              <a:rPr sz="2000" b="0">
                <a:solidFill>
                  <a:srgbClr val="3C3B38"/>
                </a:solidFill>
                <a:latin typeface="Aptos"/>
              </a:rPr>
              <a:t>, not just what comes 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514600"/>
            <a:ext cx="1431388" cy="1691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" y="44348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600" b="1">
                <a:solidFill>
                  <a:srgbClr val="0B0B0B"/>
                </a:solidFill>
                <a:latin typeface="Aptos Display"/>
              </a:rPr>
              <a:t>750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171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a dense page of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een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514600"/>
            <a:ext cx="2212145" cy="1691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60" y="44348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600" b="1">
                <a:solidFill>
                  <a:srgbClr val="1C66C2"/>
                </a:solidFill>
                <a:latin typeface="Aptos Display"/>
              </a:rPr>
              <a:t>1,222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52171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one capped screenshot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eech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514600"/>
            <a:ext cx="2082018" cy="1691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4348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600" b="1">
                <a:solidFill>
                  <a:srgbClr val="0B0B0B"/>
                </a:solidFill>
                <a:latin typeface="Aptos Display"/>
              </a:rPr>
              <a:t>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52171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8 seconds of speech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screenshot at a 1,280-token cap · speech at 25 tokens per second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GROUND RULES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Every call sends the whole history again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Pseudo-code of almost every agent. The usage field is where the bill is read.</a:t>
            </a:r>
          </a:p>
        </p:txBody>
      </p:sp>
      <p:pic>
        <p:nvPicPr>
          <p:cNvPr id="9" name="Picture 8" descr="loop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48840"/>
            <a:ext cx="10789920" cy="314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4406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BF4C1C"/>
                </a:solidFill>
                <a:latin typeface="Aptos"/>
              </a:rPr>
              <a:t>Orange</a:t>
            </a:r>
            <a:r>
              <a:rPr sz="2200" b="0">
                <a:solidFill>
                  <a:srgbClr val="3C3B38"/>
                </a:solidFill>
                <a:latin typeface="Aptos"/>
              </a:rPr>
              <a:t> = what you pay for again.   </a:t>
            </a:r>
            <a:r>
              <a:rPr sz="2200" b="1">
                <a:solidFill>
                  <a:srgbClr val="1C66C2"/>
                </a:solidFill>
                <a:latin typeface="Aptos"/>
              </a:rPr>
              <a:t>Blue</a:t>
            </a:r>
            <a:r>
              <a:rPr sz="2200" b="0">
                <a:solidFill>
                  <a:srgbClr val="3C3B38"/>
                </a:solidFill>
                <a:latin typeface="Aptos"/>
              </a:rPr>
              <a:t> = where you read what it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How a picture becomes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Using the “cut into tiles” strategy (slide 3 used a cap; next slide compares them)</a:t>
            </a:r>
          </a:p>
        </p:txBody>
      </p:sp>
      <p:pic>
        <p:nvPicPr>
          <p:cNvPr id="9" name="Picture 8" descr="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03120"/>
            <a:ext cx="10820095" cy="32722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3C3B38"/>
                </a:solidFill>
                <a:latin typeface="Aptos"/>
              </a:rPr>
              <a:t>9 tiles × 256 tokens = </a:t>
            </a:r>
            <a:r>
              <a:rPr sz="2400" b="1">
                <a:solidFill>
                  <a:srgbClr val="1C66C2"/>
                </a:solidFill>
                <a:latin typeface="Aptos"/>
              </a:rPr>
              <a:t>2,304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Vision models mostly use one of three strategies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All three priced on the same 1920×1080 screenshot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rategy_squ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77440"/>
            <a:ext cx="2651760" cy="15744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Squash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Same cost, any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576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trategy_t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377440"/>
            <a:ext cx="2651760" cy="157448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7091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Cut into tiles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Cost follows the shape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2,304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rategy_bud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377440"/>
            <a:ext cx="2651760" cy="157448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667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Shrink to a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You set the cap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1C66C2"/>
                </a:solidFill>
                <a:latin typeface="Aptos Display"/>
              </a:rPr>
              <a:t>1,222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the rest of this talk uses “shrink to a budget”, capped at 1,280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Real products price it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A 1920×1080 screenshot, priced by each vendor's published rule</a:t>
            </a:r>
          </a:p>
        </p:txBody>
      </p:sp>
      <p:pic>
        <p:nvPicPr>
          <p:cNvPr id="9" name="Picture 8" descr="real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10789920" cy="3506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3C3B38"/>
                </a:solidFill>
                <a:latin typeface="Aptos"/>
              </a:rPr>
              <a:t>Claude standard: a 4K screen costs the same </a:t>
            </a:r>
            <a:r>
              <a:rPr sz="2200" b="1">
                <a:solidFill>
                  <a:srgbClr val="1C66C2"/>
                </a:solidFill>
                <a:latin typeface="Aptos"/>
              </a:rPr>
              <a:t>1,560</a:t>
            </a:r>
            <a:r>
              <a:rPr sz="2200" b="0">
                <a:solidFill>
                  <a:srgbClr val="3C3B38"/>
                </a:solidFill>
                <a:latin typeface="Aptos"/>
              </a:rPr>
              <a:t>. The cap sets the bill.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6B6963"/>
                </a:solidFill>
                <a:latin typeface="Aptos"/>
              </a:rPr>
              <a:t>Claude 4.7+ is the high-res tier: an upgrade can move it from 1,560 to 2,691.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published rules, checked 2026-10-29 · vendors change them, re-check before quoting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MEASURE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Open a terminal in the folder, run this</a:t>
            </a:r>
          </a:p>
        </p:txBody>
      </p:sp>
      <p:pic>
        <p:nvPicPr>
          <p:cNvPr id="8" name="Picture 7" descr="term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669280" cy="25894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4526280"/>
            <a:ext cx="5669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0B0B0B"/>
                </a:solidFill>
                <a:latin typeface="Aptos"/>
              </a:rPr>
              <a:t>How to get a terminal in the folder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C3B38"/>
                </a:solidFill>
                <a:latin typeface="Aptos"/>
              </a:rPr>
              <a:t>1  Mac: ⌘-Space, type Terminal.   Windows: Start, type PowerShell.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C3B38"/>
                </a:solidFill>
                <a:latin typeface="Aptos"/>
              </a:rPr>
              <a:t>2  Type  cd  and a space, drag the folder into the window, press Enter.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3C3B38"/>
                </a:solidFill>
                <a:latin typeface="Aptos"/>
              </a:rPr>
              <a:t>Look for </a:t>
            </a:r>
            <a:r>
              <a:rPr sz="2600" b="1">
                <a:solidFill>
                  <a:srgbClr val="1C66C2"/>
                </a:solidFill>
                <a:latin typeface="Aptos"/>
              </a:rPr>
              <a:t>PASS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3C3B38"/>
                </a:solidFill>
                <a:latin typeface="Aptos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3C3B38"/>
                </a:solidFill>
                <a:latin typeface="Aptos"/>
              </a:rPr>
              <a:t>No installs.  No API key.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3C3B38"/>
                </a:solidFill>
                <a:latin typeface="Aptos"/>
              </a:rPr>
              <a:t>No internet needed.</a:t>
            </a:r>
          </a:p>
        </p:txBody>
      </p:sp>
      <p:pic>
        <p:nvPicPr>
          <p:cNvPr id="11" name="Picture 10" descr="q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69080"/>
            <a:ext cx="1737360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51760" y="434340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3C3B38"/>
                </a:solidFill>
                <a:latin typeface="Aptos"/>
              </a:rPr>
              <a:t>Get the files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Aptos"/>
              </a:rPr>
              <a:t>github.com/ieee-ai/agentic-ai-26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C66C2"/>
                </a:solidFill>
                <a:latin typeface="Aptos"/>
              </a:rPr>
              <a:t>folder  Saving-the-Tokens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6B6963"/>
                </a:solidFill>
                <a:latin typeface="Aptos"/>
              </a:rPr>
              <a:t>Windows: use py, not python3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6B6963"/>
                </a:solidFill>
                <a:latin typeface="Aptos"/>
              </a:rPr>
              <a:t>No Python? Colab link in the README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What does one image cost?</a:t>
            </a:r>
          </a:p>
        </p:txBody>
      </p:sp>
      <p:pic>
        <p:nvPicPr>
          <p:cNvPr id="8" name="Picture 7" descr="term_ex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760720" cy="41214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26679" y="1783080"/>
            <a:ext cx="3776472" cy="434340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20040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Aptos"/>
              </a:rPr>
              <a:t>TRY IT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1  </a:t>
            </a:r>
            <a:r>
              <a:rPr sz="2200" b="0">
                <a:solidFill>
                  <a:srgbClr val="0B0B0B"/>
                </a:solidFill>
                <a:latin typeface="Aptos"/>
              </a:rPr>
              <a:t>Your own screen size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6B6963"/>
                </a:solidFill>
                <a:latin typeface="Aptos"/>
              </a:rPr>
              <a:t>Mac: menu &gt; About This Mac. Windows: Settings &gt; Display.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2  </a:t>
            </a:r>
            <a:r>
              <a:rPr sz="2200" b="0">
                <a:solidFill>
                  <a:srgbClr val="0B0B0B"/>
                </a:solidFill>
                <a:latin typeface="Aptos"/>
              </a:rPr>
              <a:t>Which is cheapest?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3  </a:t>
            </a:r>
            <a:r>
              <a:rPr sz="2200" b="0">
                <a:solidFill>
                  <a:srgbClr val="0B0B0B"/>
                </a:solidFill>
                <a:latin typeface="Aptos"/>
              </a:rPr>
              <a:t>Double the width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4  </a:t>
            </a:r>
            <a:r>
              <a:rPr sz="2200" b="0">
                <a:solidFill>
                  <a:srgbClr val="0B0B0B"/>
                </a:solidFill>
                <a:latin typeface="Aptos"/>
              </a:rPr>
              <a:t>Try 3840x2160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350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Same picture: </a:t>
            </a:r>
            <a:r>
              <a:rPr sz="1800" b="1">
                <a:solidFill>
                  <a:srgbClr val="1C66C2"/>
                </a:solidFill>
                <a:latin typeface="Aptos"/>
              </a:rPr>
              <a:t>252</a:t>
            </a:r>
            <a:r>
              <a:rPr sz="1800" b="0">
                <a:solidFill>
                  <a:srgbClr val="3C3B38"/>
                </a:solidFill>
                <a:latin typeface="Aptos"/>
              </a:rPr>
              <a:t> to </a:t>
            </a:r>
            <a:r>
              <a:rPr sz="1800" b="1">
                <a:solidFill>
                  <a:srgbClr val="3C3B38"/>
                </a:solidFill>
                <a:latin typeface="Aptos"/>
              </a:rPr>
              <a:t>2,691</a:t>
            </a:r>
            <a:r>
              <a:rPr sz="1800" b="0">
                <a:solidFill>
                  <a:srgbClr val="3C3B38"/>
                </a:solidFill>
                <a:latin typeface="Aptos"/>
              </a:rPr>
              <a:t> tokens, depending on the strategy.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MEASURE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Four times the pixels. Same bill.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Using the “cut into tiles” strategy</a:t>
            </a:r>
          </a:p>
        </p:txBody>
      </p:sp>
      <p:pic>
        <p:nvPicPr>
          <p:cNvPr id="9" name="Picture 8" descr="same_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10744200" cy="34786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607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Tiling looks at the </a:t>
            </a:r>
            <a:r>
              <a:rPr sz="2600" b="1">
                <a:solidFill>
                  <a:srgbClr val="1C66C2"/>
                </a:solidFill>
                <a:latin typeface="Aptos"/>
              </a:rPr>
              <a:t>shape</a:t>
            </a:r>
            <a:r>
              <a:rPr sz="2600" b="1">
                <a:solidFill>
                  <a:srgbClr val="0B0B0B"/>
                </a:solidFill>
                <a:latin typeface="Aptos"/>
              </a:rPr>
              <a:t> of your image, not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2 · DEMO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With audio, you can pay for silence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Some audio models pad every clip to a 30-second window</a:t>
            </a:r>
          </a:p>
        </p:txBody>
      </p:sp>
      <p:pic>
        <p:nvPicPr>
          <p:cNvPr id="9" name="Picture 8" descr="a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10607040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modelled audio encoders · check yours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754880"/>
            <a:ext cx="10820095" cy="141732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864608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400" b="1">
                <a:solidFill>
                  <a:srgbClr val="1C66C2"/>
                </a:solidFill>
                <a:latin typeface="Aptos Display"/>
              </a:rPr>
              <a:t>33</a:t>
            </a:r>
            <a:r>
              <a:rPr sz="2200" b="1">
                <a:solidFill>
                  <a:srgbClr val="1C66C2"/>
                </a:solidFill>
                <a:latin typeface="Aptos"/>
              </a:rPr>
              <a:t>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956048"/>
            <a:ext cx="7589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>
                <a:solidFill>
                  <a:srgbClr val="3C3B38"/>
                </a:solidFill>
                <a:latin typeface="Aptos"/>
              </a:rPr>
              <a:t>Send the words, not the sound.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An 8-second sentence as text: 6× cheaper than 25 tokens/s audio, 45× cheaper than a padded clip.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FIX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Every turn re-sends the whole conversation</a:t>
            </a:r>
          </a:p>
        </p:txBody>
      </p:sp>
      <p:pic>
        <p:nvPicPr>
          <p:cNvPr id="8" name="Picture 7" descr="resen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91640"/>
            <a:ext cx="6492240" cy="40357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874519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0" b="1">
                <a:solidFill>
                  <a:srgbClr val="F0834E"/>
                </a:solidFill>
                <a:latin typeface="Aptos Display"/>
              </a:rPr>
              <a:t>91%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71519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D7D5CE"/>
                </a:solidFill>
                <a:latin typeface="Aptos"/>
              </a:rPr>
              <a:t>of the bill was sent before
(20 turns, no caching)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4297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B5B2AA"/>
                </a:solidFill>
                <a:latin typeface="Aptos"/>
              </a:rPr>
              <a:t>New content  </a:t>
            </a:r>
            <a:r>
              <a:rPr sz="2400" b="1">
                <a:solidFill>
                  <a:srgbClr val="5AA3F0"/>
                </a:solidFill>
                <a:latin typeface="Aptos"/>
              </a:rPr>
              <a:t>31,120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B5B2AA"/>
                </a:solidFill>
                <a:latin typeface="Aptos"/>
              </a:rPr>
              <a:t>Sent again  </a:t>
            </a:r>
            <a:r>
              <a:rPr sz="2400" b="1">
                <a:solidFill>
                  <a:srgbClr val="F0834E"/>
                </a:solidFill>
                <a:latin typeface="Aptos"/>
              </a:rPr>
              <a:t>298,300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B5B2AA"/>
                </a:solidFill>
                <a:latin typeface="Aptos"/>
              </a:rPr>
              <a:t>Billed in total  </a:t>
            </a:r>
            <a:r>
              <a:rPr sz="2400" b="1">
                <a:solidFill>
                  <a:srgbClr val="FFFFFF"/>
                </a:solidFill>
                <a:latin typeface="Aptos"/>
              </a:rPr>
              <a:t>329,420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FIX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Your bill is a multiplication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0">
                <a:solidFill>
                  <a:srgbClr val="0B0B0B"/>
                </a:solidFill>
                <a:latin typeface="Aptos"/>
              </a:rPr>
              <a:t>how </a:t>
            </a:r>
            <a:r>
              <a:rPr sz="3000" b="1">
                <a:solidFill>
                  <a:srgbClr val="1C66C2"/>
                </a:solidFill>
                <a:latin typeface="Aptos"/>
              </a:rPr>
              <a:t>big</a:t>
            </a:r>
            <a:r>
              <a:rPr sz="3000" b="0">
                <a:solidFill>
                  <a:srgbClr val="0B0B0B"/>
                </a:solidFill>
                <a:latin typeface="Aptos"/>
              </a:rPr>
              <a:t> each thing is   ×   how many times you </a:t>
            </a:r>
            <a:r>
              <a:rPr sz="3000" b="1">
                <a:solidFill>
                  <a:srgbClr val="BF4C1C"/>
                </a:solidFill>
                <a:latin typeface="Aptos"/>
              </a:rPr>
              <a:t>send it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6B6963"/>
                </a:solidFill>
                <a:latin typeface="Aptos"/>
              </a:rPr>
              <a:t>Share of the bill, one 20-turn session</a:t>
            </a:r>
          </a:p>
        </p:txBody>
      </p:sp>
      <p:pic>
        <p:nvPicPr>
          <p:cNvPr id="10" name="Picture 9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337560"/>
            <a:ext cx="10820095" cy="2118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6B6963"/>
                </a:solidFill>
                <a:latin typeface="Aptos"/>
              </a:rPr>
              <a:t>About </a:t>
            </a:r>
            <a:r>
              <a:rPr sz="1700" b="1">
                <a:solidFill>
                  <a:srgbClr val="6B6963"/>
                </a:solidFill>
                <a:latin typeface="Aptos"/>
              </a:rPr>
              <a:t>$0.99</a:t>
            </a:r>
            <a:r>
              <a:rPr sz="1700" b="0">
                <a:solidFill>
                  <a:srgbClr val="6B6963"/>
                </a:solidFill>
                <a:latin typeface="Aptos"/>
              </a:rPr>
              <a:t> a session, </a:t>
            </a:r>
            <a:r>
              <a:rPr sz="1700" b="1">
                <a:solidFill>
                  <a:srgbClr val="6B6963"/>
                </a:solidFill>
                <a:latin typeface="Aptos"/>
              </a:rPr>
              <a:t>$296,478</a:t>
            </a:r>
            <a:r>
              <a:rPr sz="1700" b="0">
                <a:solidFill>
                  <a:srgbClr val="6B6963"/>
                </a:solidFill>
                <a:latin typeface="Aptos"/>
              </a:rPr>
              <a:t> a month at 10,000 sessions a day. Assumed $3.00 per million tokens.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Ten ways to cut the bill. Which wins?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For a voice agent that watches the screen, 20 turns</a:t>
            </a:r>
          </a:p>
        </p:txBody>
      </p:sp>
      <p:pic>
        <p:nvPicPr>
          <p:cNvPr id="9" name="Picture 8" descr="lever_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6766560" cy="4297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09560" y="1920240"/>
            <a:ext cx="3593592" cy="420624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Aptos"/>
              </a:rPr>
              <a:t>ON PAPER, NOW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Most?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Least?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90 seconds. Then run: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3492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1C66C2"/>
                </a:solidFill>
                <a:latin typeface="Consolas"/>
              </a:rPr>
              <a:t>python3 ex3_budget.py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EXERCISE 3 · THE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Ranked by what it actually saves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B5B2AA"/>
                </a:solidFill>
                <a:latin typeface="Aptos"/>
              </a:rPr>
              <a:t>With a 400-token prompt. At 4,000 tokens the prompt fix saves 12% (slide 18).</a:t>
            </a:r>
          </a:p>
        </p:txBody>
      </p:sp>
      <p:pic>
        <p:nvPicPr>
          <p:cNvPr id="9" name="Picture 8" descr="leader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11247120" cy="46863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580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Make it smaller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08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Send it again less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9A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Not a design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625449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best 70%  ·  worst 1.5%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3 · TWIST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Run it on a different agent. The ranking flips.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Same ten fixes. A chat agent: 6,000-token system prompt, no pictures</a:t>
            </a:r>
          </a:p>
        </p:txBody>
      </p:sp>
      <p:pic>
        <p:nvPicPr>
          <p:cNvPr id="9" name="Picture 8" descr="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19"/>
            <a:ext cx="10789920" cy="38598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607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Prompt cut: </a:t>
            </a:r>
            <a:r>
              <a:rPr sz="2000" b="1">
                <a:solidFill>
                  <a:srgbClr val="3C3B38"/>
                </a:solidFill>
                <a:latin typeface="Aptos"/>
              </a:rPr>
              <a:t>last</a:t>
            </a:r>
            <a:r>
              <a:rPr sz="2000" b="0">
                <a:solidFill>
                  <a:srgbClr val="3C3B38"/>
                </a:solidFill>
                <a:latin typeface="Aptos"/>
              </a:rPr>
              <a:t> at 1.5%, then </a:t>
            </a:r>
            <a:r>
              <a:rPr sz="2000" b="1">
                <a:solidFill>
                  <a:srgbClr val="1C66C2"/>
                </a:solidFill>
                <a:latin typeface="Aptos"/>
              </a:rPr>
              <a:t>#2</a:t>
            </a:r>
            <a:r>
              <a:rPr sz="2000" b="0">
                <a:solidFill>
                  <a:srgbClr val="3C3B38"/>
                </a:solidFill>
                <a:latin typeface="Aptos"/>
              </a:rPr>
              <a:t> at 33.2%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7881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Consolas"/>
              </a:rPr>
              <a:t>python3 ex3_budget.py --agent 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HONESTY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That ranking is not a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Change one assumption of the agent and a fix moves a long way</a:t>
            </a:r>
          </a:p>
        </p:txBody>
      </p:sp>
      <p:pic>
        <p:nvPicPr>
          <p:cNvPr id="9" name="Picture 8" descr="dumbb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20240"/>
            <a:ext cx="11247120" cy="41938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0B0B0B"/>
                </a:solidFill>
                <a:latin typeface="Aptos"/>
              </a:rPr>
              <a:t>Measure your own setup. </a:t>
            </a:r>
            <a:r>
              <a:rPr sz="2000" b="0">
                <a:solidFill>
                  <a:srgbClr val="3C3B38"/>
                </a:solidFill>
                <a:latin typeface="Aptos"/>
              </a:rPr>
              <a:t>These settings are illustrative, not any one model's.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TAKE THIS WITH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Monday morning: find YOUR big number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Log input tokens on every model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Run  bill_report.py  on the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See what dominates: the prefix, or what each turn adds.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0536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6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6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Pick the fix aimed at that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977639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"/>
              </a:rPr>
              <a:t>Your bill = how big each item is  ×  how often you re-send it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>
                <a:solidFill>
                  <a:srgbClr val="B5B2AA"/>
                </a:solidFill>
                <a:latin typeface="Aptos"/>
              </a:rPr>
              <a:t>Dropping old screenshots saved </a:t>
            </a:r>
            <a:r>
              <a:rPr sz="2100" b="1">
                <a:solidFill>
                  <a:srgbClr val="5AA3F0"/>
                </a:solidFill>
                <a:latin typeface="Aptos"/>
              </a:rPr>
              <a:t>70%</a:t>
            </a:r>
            <a:r>
              <a:rPr sz="1700" b="0">
                <a:solidFill>
                  <a:srgbClr val="B5B2AA"/>
                </a:solidFill>
                <a:latin typeface="Aptos"/>
              </a:rPr>
              <a:t> (38% with caching)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>
                <a:solidFill>
                  <a:srgbClr val="B5B2AA"/>
                </a:solidFill>
                <a:latin typeface="Aptos"/>
              </a:rPr>
              <a:t>Cutting the prompt: </a:t>
            </a:r>
            <a:r>
              <a:rPr sz="2100" b="1">
                <a:solidFill>
                  <a:srgbClr val="9A978F"/>
                </a:solidFill>
                <a:latin typeface="Aptos"/>
              </a:rPr>
              <a:t>1.5%</a:t>
            </a:r>
            <a:r>
              <a:rPr sz="2100" b="0">
                <a:solidFill>
                  <a:srgbClr val="B5B2AA"/>
                </a:solidFill>
                <a:latin typeface="Aptos"/>
              </a:rPr>
              <a:t> vs </a:t>
            </a:r>
            <a:r>
              <a:rPr sz="2100" b="1">
                <a:solidFill>
                  <a:srgbClr val="5AA3F0"/>
                </a:solidFill>
                <a:latin typeface="Aptos"/>
              </a:rPr>
              <a:t>33%</a:t>
            </a:r>
            <a:r>
              <a:rPr sz="2100" b="0">
                <a:solidFill>
                  <a:srgbClr val="B5B2AA"/>
                </a:solidFill>
                <a:latin typeface="Aptos"/>
              </a:rPr>
              <a:t> on a chat agent</a:t>
            </a:r>
          </a:p>
        </p:txBody>
      </p:sp>
      <p:pic>
        <p:nvPicPr>
          <p:cNvPr id="21" name="Picture 20" descr="qr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3931920"/>
            <a:ext cx="1600200" cy="1600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23760" y="402336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Thank you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Shyamji Tiwari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D7D5CE"/>
                </a:solidFill>
                <a:latin typeface="Aptos"/>
              </a:rPr>
              <a:t>Applied Scientist, Amazon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AA3F0"/>
                </a:solidFill>
                <a:latin typeface="Aptos"/>
              </a:rPr>
              <a:t>github.com/ieee-ai/agentic-ai-26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AA3F0"/>
                </a:solidFill>
                <a:latin typeface="Aptos"/>
              </a:rPr>
              <a:t>/Saving-the-Tokens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Saving the Tokens: Efficient Agent Design</dc:title>
  <dc:subject/>
  <dc:creator>Shyamji Tiwari</dc:creator>
  <cp:keywords/>
  <dc:description/>
  <cp:lastModifiedBy>Shyamji Tiwari</cp:lastModifiedBy>
  <cp:revision>1</cp:revision>
  <dcterms:created xsi:type="dcterms:W3CDTF">2013-01-27T09:14:16Z</dcterms:created>
  <dcterms:modified xsi:type="dcterms:W3CDTF">2013-01-27T09:15:58Z</dcterms:modified>
  <cp:category/>
</cp:coreProperties>
</file>