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nter SemiBold"/>
      <p:regular r:id="rId15"/>
      <p:bold r:id="rId16"/>
      <p:italic r:id="rId17"/>
      <p:boldItalic r:id="rId18"/>
    </p:embeddedFont>
    <p:embeddedFont>
      <p:font typeface="Inter"/>
      <p:bold r:id="rId19"/>
      <p:boldItalic r:id="rId20"/>
    </p:embeddedFont>
    <p:embeddedFont>
      <p:font typeface="Inter ExtraBold"/>
      <p:bold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6.xml"/><Relationship Id="rId22" Type="http://schemas.openxmlformats.org/officeDocument/2006/relationships/font" Target="fonts/InterExtraBold-boldItalic.fntdata"/><Relationship Id="rId10" Type="http://schemas.openxmlformats.org/officeDocument/2006/relationships/slide" Target="slides/slide5.xml"/><Relationship Id="rId21" Type="http://schemas.openxmlformats.org/officeDocument/2006/relationships/font" Target="fonts/InterExtraBol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regular.fntdata"/><Relationship Id="rId14" Type="http://schemas.openxmlformats.org/officeDocument/2006/relationships/slide" Target="slides/slide9.xml"/><Relationship Id="rId17" Type="http://schemas.openxmlformats.org/officeDocument/2006/relationships/font" Target="fonts/InterSemiBold-italic.fntdata"/><Relationship Id="rId16" Type="http://schemas.openxmlformats.org/officeDocument/2006/relationships/font" Target="fonts/InterSemiBold-bold.fntdata"/><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Semi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3a988a2326269b44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3a988a2326269b44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200">
                <a:solidFill>
                  <a:srgbClr val="1F1F1F"/>
                </a:solidFill>
              </a:rPr>
              <a:t>I’m Ishika Gupta, working as a </a:t>
            </a:r>
            <a:r>
              <a:rPr b="1" lang="en-GB" sz="1200">
                <a:solidFill>
                  <a:srgbClr val="1F1F1F"/>
                </a:solidFill>
              </a:rPr>
              <a:t>Senior AI Engineer at VoiceCare.ai</a:t>
            </a:r>
            <a:r>
              <a:rPr lang="en-GB" sz="1200">
                <a:solidFill>
                  <a:srgbClr val="1F1F1F"/>
                </a:solidFill>
              </a:rPr>
              <a:t>, where I work at the intersection of healthcare and conversational AI, building intelligent voice agents that are designed to understand conversations.</a:t>
            </a:r>
            <a:endParaRPr sz="1200">
              <a:solidFill>
                <a:srgbClr val="1F1F1F"/>
              </a:solidFill>
            </a:endParaRPr>
          </a:p>
          <a:p>
            <a:pPr indent="0" lvl="0" marL="0" rtl="0" algn="l">
              <a:lnSpc>
                <a:spcPct val="115000"/>
              </a:lnSpc>
              <a:spcBef>
                <a:spcPts val="1200"/>
              </a:spcBef>
              <a:spcAft>
                <a:spcPts val="0"/>
              </a:spcAft>
              <a:buNone/>
            </a:pPr>
            <a:r>
              <a:rPr lang="en-GB" sz="1200">
                <a:solidFill>
                  <a:srgbClr val="1F1F1F"/>
                </a:solidFill>
              </a:rPr>
              <a:t>And today, we’re going to take that experience and bring it into this room!</a:t>
            </a:r>
            <a:endParaRPr sz="1200">
              <a:solidFill>
                <a:srgbClr val="1F1F1F"/>
              </a:solidFill>
            </a:endParaRPr>
          </a:p>
          <a:p>
            <a:pPr indent="0" lvl="0" marL="0" rtl="0" algn="l">
              <a:lnSpc>
                <a:spcPct val="115000"/>
              </a:lnSpc>
              <a:spcBef>
                <a:spcPts val="1200"/>
              </a:spcBef>
              <a:spcAft>
                <a:spcPts val="0"/>
              </a:spcAft>
              <a:buNone/>
            </a:pPr>
            <a:r>
              <a:rPr lang="en-GB" sz="1200">
                <a:solidFill>
                  <a:srgbClr val="1F1F1F"/>
                </a:solidFill>
              </a:rPr>
              <a:t>I’m delighted to be accompanied by my friend and a very talented NLP Engineer, </a:t>
            </a:r>
            <a:r>
              <a:rPr b="1" lang="en-GB" sz="1200">
                <a:solidFill>
                  <a:srgbClr val="1F1F1F"/>
                </a:solidFill>
              </a:rPr>
              <a:t>Srashti Kaurav, who works at Bosch</a:t>
            </a:r>
            <a:r>
              <a:rPr lang="en-GB" sz="1200">
                <a:solidFill>
                  <a:srgbClr val="1F1F1F"/>
                </a:solidFill>
              </a:rPr>
              <a:t>. She brings her own expertise in Natural Language Processing and a passion for exploring how machines understand human language. Together, we’ll help you navigate the journey from understanding voice AI to actually building one.</a:t>
            </a:r>
            <a:br>
              <a:rPr lang="en-GB" sz="1200">
                <a:solidFill>
                  <a:srgbClr val="1F1F1F"/>
                </a:solidFill>
              </a:rPr>
            </a:br>
            <a:br>
              <a:rPr lang="en-GB" sz="1200">
                <a:solidFill>
                  <a:srgbClr val="1F1F1F"/>
                </a:solidFill>
              </a:rPr>
            </a:br>
            <a:r>
              <a:rPr b="1" i="1" lang="en-GB" sz="1200">
                <a:solidFill>
                  <a:srgbClr val="1F1F1F"/>
                </a:solidFill>
              </a:rPr>
              <a:t>You:</a:t>
            </a:r>
            <a:r>
              <a:rPr i="1" lang="en-GB" sz="1200">
                <a:solidFill>
                  <a:srgbClr val="1F1F1F"/>
                </a:solidFill>
              </a:rPr>
              <a:t> “Now, based on the number of hands I saw, I think most of you are familiar with LLMs. So let me ask you something.”</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“Can anyone tell me the difference between an LLM and an AI agent?”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[Pause for 5–10 seconds. Look around the room. Let students answer.]</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If someone says, “An agent can perform tasks,” respond: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“Exactly! That's a good starting point. But let’s understand what that actually means.”</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If nobody answers, keep it light: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“Come on, don't worry! This isn't an exam, and I'm not collecting your answer sheets!” 😄</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“Let me make it easier. Imagine you ask ChatGPT: ‘Plan a five-day trip to Mysore.’ It gives you a beautiful itinerary. Great! Now imagine another AI that can ask you about your budget, search for suitable hotels, compare activities, calculate costs, and adjust the plan when you change your mind.”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“What's the difference? What extra capabilities does the second system need?”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[Invite two or three students to respond.]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“Exactly! An LLM generates responses based on the input and context it receives. An AI agent uses an LLM as part of a larger system that can decide what to do next, use tools, observe the results, and continue working toward a goal.”</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“So remember this distinction: an LLM is just a model; an agent is an autonomous system built around a model, with instructions, tools, and a way to take action based on the external available info.”</a:t>
            </a:r>
            <a:endParaRPr i="1" sz="1200">
              <a:solidFill>
                <a:srgbClr val="1F1F1F"/>
              </a:solidFill>
            </a:endParaRPr>
          </a:p>
          <a:p>
            <a:pPr indent="0" lvl="0" marL="457200" rtl="0" algn="l">
              <a:lnSpc>
                <a:spcPct val="115000"/>
              </a:lnSpc>
              <a:spcBef>
                <a:spcPts val="1800"/>
              </a:spcBef>
              <a:spcAft>
                <a:spcPts val="0"/>
              </a:spcAft>
              <a:buClr>
                <a:schemeClr val="dk1"/>
              </a:buClr>
              <a:buSzPts val="1100"/>
              <a:buFont typeface="Arial"/>
              <a:buNone/>
            </a:pPr>
            <a:r>
              <a:rPr b="1" i="1" lang="en-GB" sz="1700">
                <a:solidFill>
                  <a:srgbClr val="1F1F1F"/>
                </a:solidFill>
              </a:rPr>
              <a:t>3. Make them think: Is every chatbot an agent?</a:t>
            </a:r>
            <a:endParaRPr b="1" i="1" sz="17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“Let's do a quick challenge. I'll give you 2 examples. You tell me: LLM-powered chatbot or AI agent?”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Example 1:</a:t>
            </a:r>
            <a:r>
              <a:rPr i="1" lang="en-GB" sz="1200">
                <a:solidFill>
                  <a:srgbClr val="1F1F1F"/>
                </a:solidFill>
              </a:rPr>
              <a:t> “You ask an AI to explain recursion, and it gives you an explanation.”</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[Ask the audience: “Agent or chatbot?”]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“Mostly a straightforward LLM-powered interaction. It answers your question.”</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Example 2:</a:t>
            </a:r>
            <a:r>
              <a:rPr i="1" lang="en-GB" sz="1200">
                <a:solidFill>
                  <a:srgbClr val="1F1F1F"/>
                </a:solidFill>
              </a:rPr>
              <a:t> “You ask an AI to check your calendar, find a free slot tomorrow, and schedule a meeting with your professor.”</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[Ask the audience to vote.]</a:t>
            </a:r>
            <a:endParaRPr i="1" sz="1200">
              <a:solidFill>
                <a:srgbClr val="1F1F1F"/>
              </a:solidFill>
            </a:endParaRPr>
          </a:p>
          <a:p>
            <a:pPr indent="0" lvl="0" marL="0" rtl="0" algn="l">
              <a:lnSpc>
                <a:spcPct val="115000"/>
              </a:lnSpc>
              <a:spcBef>
                <a:spcPts val="1200"/>
              </a:spcBef>
              <a:spcAft>
                <a:spcPts val="0"/>
              </a:spcAft>
              <a:buNone/>
            </a:pPr>
            <a:r>
              <a:rPr b="1" i="1" lang="en-GB" sz="1200">
                <a:solidFill>
                  <a:srgbClr val="1F1F1F"/>
                </a:solidFill>
              </a:rPr>
              <a:t>You:</a:t>
            </a:r>
            <a:r>
              <a:rPr i="1" lang="en-GB" sz="1200">
                <a:solidFill>
                  <a:srgbClr val="1F1F1F"/>
                </a:solidFill>
              </a:rPr>
              <a:t> “Now we're getting into agent territory! It needs to access a calendar tool, inspect the available slots, and take an action. Of course, the system must have the right permissions.”</a:t>
            </a:r>
            <a:br>
              <a:rPr i="1" lang="en-GB" sz="1200">
                <a:solidFill>
                  <a:srgbClr val="1F1F1F"/>
                </a:solidFill>
              </a:rPr>
            </a:br>
            <a:br>
              <a:rPr i="1" lang="en-GB" sz="1200">
                <a:solidFill>
                  <a:srgbClr val="1F1F1F"/>
                </a:solidFill>
              </a:rPr>
            </a:br>
            <a:r>
              <a:rPr b="1" i="1" lang="en-GB" sz="1200">
                <a:solidFill>
                  <a:srgbClr val="1F1F1F"/>
                </a:solidFill>
              </a:rPr>
              <a:t>You:</a:t>
            </a:r>
            <a:r>
              <a:rPr i="1" lang="en-GB" sz="1200">
                <a:solidFill>
                  <a:srgbClr val="1F1F1F"/>
                </a:solidFill>
              </a:rPr>
              <a:t> “Now, one more question. If we already have LLMs that can reason and AI agents that can use tools, why do we need a separate voice AI architecture?</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“Because talking is not simply typing with a microphone!”</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“When we speak, the system must process audio, recognize our words, understand when we've finished speaking, generate a response, and speak it back. And it needs to do all of this with low latency.”</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“And there's another complication. Humans interrupt each other all the time. We change our minds halfway through a sentence. We say, ‘Actually, no, forget that!’”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“Our AI agent needs to handle that naturally, too. So building voice AI isn't just about making an LLM speak. It's about orchestrating an entire real-time system.”</a:t>
            </a:r>
            <a:endParaRPr i="1" sz="1200">
              <a:solidFill>
                <a:srgbClr val="1F1F1F"/>
              </a:solidFill>
            </a:endParaRPr>
          </a:p>
          <a:p>
            <a:pPr indent="0" lvl="0" marL="0" rtl="0" algn="l">
              <a:lnSpc>
                <a:spcPct val="115000"/>
              </a:lnSpc>
              <a:spcBef>
                <a:spcPts val="1200"/>
              </a:spcBef>
              <a:spcAft>
                <a:spcPts val="0"/>
              </a:spcAft>
              <a:buNone/>
            </a:pPr>
            <a:r>
              <a:rPr b="1" i="1" lang="en-GB" sz="1200">
                <a:solidFill>
                  <a:srgbClr val="1F1F1F"/>
                </a:solidFill>
              </a:rPr>
              <a:t>You:</a:t>
            </a:r>
            <a:r>
              <a:rPr i="1" lang="en-GB" sz="1200">
                <a:solidFill>
                  <a:srgbClr val="1F1F1F"/>
                </a:solidFill>
              </a:rPr>
              <a:t> “And that's exactly what we're going to explore today. First, I'll show you a working voice AI agent. Then we'll open the hood and understand what's happening behind the scenes.”</a:t>
            </a:r>
            <a:br>
              <a:rPr lang="en-GB" sz="1200">
                <a:solidFill>
                  <a:srgbClr val="1F1F1F"/>
                </a:solidFill>
              </a:rPr>
            </a:br>
            <a:br>
              <a:rPr lang="en-GB" sz="1200">
                <a:solidFill>
                  <a:srgbClr val="1F1F1F"/>
                </a:solidFill>
              </a:rPr>
            </a:br>
            <a:r>
              <a:rPr lang="en-GB">
                <a:solidFill>
                  <a:schemeClr val="dk1"/>
                </a:solidFill>
              </a:rPr>
              <a:t>Before we start talking about the technical details. I want to do something slightly different.</a:t>
            </a:r>
            <a:endParaRPr>
              <a:solidFill>
                <a:schemeClr val="dk1"/>
              </a:solidFill>
            </a:endParaRPr>
          </a:p>
          <a:p>
            <a:pPr indent="-304800" lvl="1" marL="914400" rtl="0" algn="l">
              <a:lnSpc>
                <a:spcPct val="115000"/>
              </a:lnSpc>
              <a:spcBef>
                <a:spcPts val="1200"/>
              </a:spcBef>
              <a:spcAft>
                <a:spcPts val="0"/>
              </a:spcAft>
              <a:buClr>
                <a:srgbClr val="1F1F1F"/>
              </a:buClr>
              <a:buSzPts val="1200"/>
              <a:buChar char="○"/>
            </a:pPr>
            <a:r>
              <a:rPr lang="en-GB">
                <a:solidFill>
                  <a:schemeClr val="dk1"/>
                </a:solidFill>
              </a:rPr>
              <a:t>I don't want to explain what we're going to build. I want to show you what we're going to build.</a:t>
            </a:r>
            <a:endParaRPr>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So… Let me introduce you to TripMate.</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TripMate is a voice AI travel agent -  which helps plan the travel across cities in India.</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I'm going to have a completely natural conversation with it.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Not a chatbot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Let's see what happens.</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Start the demo.</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"Hey TripMate, I want to plan a trip."</a:t>
            </a:r>
            <a:endParaRPr sz="1200">
              <a:solidFill>
                <a:srgbClr val="1F1F1F"/>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0555c6bdf7497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10555c6bdf7497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1200"/>
              </a:spcBef>
              <a:spcAft>
                <a:spcPts val="0"/>
              </a:spcAft>
              <a:buClr>
                <a:srgbClr val="1F1F1F"/>
              </a:buClr>
              <a:buSzPts val="1200"/>
              <a:buChar char="○"/>
            </a:pPr>
            <a:r>
              <a:rPr b="1" lang="en-GB">
                <a:solidFill>
                  <a:schemeClr val="dk1"/>
                </a:solidFill>
              </a:rPr>
              <a:t>"So... what just happened?"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 chatbot?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 voice assistant?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an LLM?</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Actually...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it's a little bit of all of them — but it's also something more.</a:t>
            </a:r>
            <a:br>
              <a:rPr b="1" lang="en-GB">
                <a:solidFill>
                  <a:schemeClr val="dk1"/>
                </a:solidFill>
              </a:rPr>
            </a:br>
            <a:r>
              <a:rPr b="1" lang="en-GB">
                <a:solidFill>
                  <a:schemeClr val="dk1"/>
                </a:solidFill>
              </a:rPr>
              <a:t>Now  notice what you just experienced.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type anything.</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press a button after every sentence.</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say: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"Now call the hotel search API."</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tell it: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"Now calculate my budget."</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simply talked.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the system had to figure out: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did I say?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did I mean?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Does it need a tool?</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Which tool?</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information does it need first?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should it say back to me?</a:t>
            </a:r>
            <a:endParaRPr>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all of that happened while we were having a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That's the difference I want you all to understand today.</a:t>
            </a:r>
            <a:br>
              <a:rPr b="1" lang="en-GB">
                <a:solidFill>
                  <a:schemeClr val="dk1"/>
                </a:solidFill>
              </a:rPr>
            </a:br>
            <a:r>
              <a:rPr b="1" lang="en-GB">
                <a:solidFill>
                  <a:schemeClr val="dk1"/>
                </a:solidFill>
                <a:highlight>
                  <a:srgbClr val="EAD1DC"/>
                </a:highlight>
              </a:rPr>
              <a:t>We're moving from:</a:t>
            </a:r>
            <a:endParaRPr b="1">
              <a:solidFill>
                <a:schemeClr val="dk1"/>
              </a:solidFill>
              <a:highlight>
                <a:srgbClr val="EAD1DC"/>
              </a:highlight>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highlight>
                  <a:srgbClr val="EAD1DC"/>
                </a:highlight>
              </a:rPr>
              <a:t>"AI that answers questions" -&gt; TO</a:t>
            </a:r>
            <a:endParaRPr b="1">
              <a:solidFill>
                <a:schemeClr val="dk1"/>
              </a:solidFill>
              <a:highlight>
                <a:srgbClr val="EAD1DC"/>
              </a:highlight>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highlight>
                  <a:srgbClr val="EAD1DC"/>
                </a:highlight>
              </a:rPr>
              <a:t>"AI that participates in conversations and actually gets things done."</a:t>
            </a:r>
            <a:endParaRPr b="1">
              <a:solidFill>
                <a:schemeClr val="dk1"/>
              </a:solidFill>
              <a:highlight>
                <a:srgbClr val="EAD1DC"/>
              </a:highlight>
            </a:endParaRPr>
          </a:p>
          <a:p>
            <a:pPr indent="0" lvl="0" marL="0" rtl="0" algn="l">
              <a:lnSpc>
                <a:spcPct val="115000"/>
              </a:lnSpc>
              <a:spcBef>
                <a:spcPts val="2400"/>
              </a:spcBef>
              <a:spcAft>
                <a:spcPts val="0"/>
              </a:spcAft>
              <a:buNone/>
            </a:pPr>
            <a:r>
              <a:rPr b="1" lang="en-GB" sz="1000">
                <a:solidFill>
                  <a:schemeClr val="dk1"/>
                </a:solidFill>
              </a:rPr>
              <a:t>So what do u guys think, what does it take for a normal agent to become a conversational one????</a:t>
            </a:r>
            <a:endParaRPr b="1" sz="1000">
              <a:solidFill>
                <a:schemeClr val="dk1"/>
              </a:solidFill>
            </a:endParaRPr>
          </a:p>
          <a:p>
            <a:pPr indent="0" lvl="0" marL="0" rtl="0" algn="l">
              <a:lnSpc>
                <a:spcPct val="115000"/>
              </a:lnSpc>
              <a:spcBef>
                <a:spcPts val="600"/>
              </a:spcBef>
              <a:spcAft>
                <a:spcPts val="0"/>
              </a:spcAft>
              <a:buNone/>
            </a:pPr>
            <a:r>
              <a:rPr lang="en-GB">
                <a:solidFill>
                  <a:schemeClr val="dk1"/>
                </a:solidFill>
              </a:rPr>
              <a:t>Great! You've already identified some important pieces.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Lemme show you the differences between a normal chatbot and a conversational voice                         agent system.</a:t>
            </a:r>
            <a:endParaRPr b="1">
              <a:solidFill>
                <a:schemeClr val="dk1"/>
              </a:solidFill>
              <a:highlight>
                <a:srgbClr val="EAD1DC"/>
              </a:high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10555c6bdf7497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10555c6bdf7497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 the left, we have a </a:t>
            </a:r>
            <a:r>
              <a:rPr b="1" lang="en-GB">
                <a:solidFill>
                  <a:schemeClr val="dk1"/>
                </a:solidFill>
              </a:rPr>
              <a:t>normal chatbot</a:t>
            </a:r>
            <a:r>
              <a:rPr lang="en-GB">
                <a:solidFill>
                  <a:schemeClr val="dk1"/>
                </a:solidFill>
              </a:rPr>
              <a:t>. We type a message, the chatbot processes it, and we get a text response. It's useful, but the interaction is generally text-based.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 look at the right. A </a:t>
            </a:r>
            <a:r>
              <a:rPr b="1" lang="en-GB">
                <a:solidFill>
                  <a:schemeClr val="dk1"/>
                </a:solidFill>
              </a:rPr>
              <a:t>conversational voice agent</a:t>
            </a:r>
            <a:r>
              <a:rPr lang="en-GB">
                <a:solidFill>
                  <a:schemeClr val="dk1"/>
                </a:solidFill>
              </a:rPr>
              <a:t> takes things a step further. We can speak naturally, and the system processes our speech, understands the context, reasons about what to do, and can use tools or APIs to fetch information before responding with speech.</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But here's the interesting part: </a:t>
            </a:r>
            <a:r>
              <a:rPr b="1" lang="en-GB">
                <a:solidFill>
                  <a:schemeClr val="dk1"/>
                </a:solidFill>
              </a:rPr>
              <a:t>a good voice agent doesn't just speak—it knows when to listen, when to respond, and  when to let us interrupt.</a:t>
            </a:r>
            <a:r>
              <a:rPr lang="en-GB">
                <a:solidFill>
                  <a:schemeClr val="dk1"/>
                </a:solidFill>
              </a:rPr>
              <a:t> It also needs to manage latency so the conversation feels natural.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5a9ccf72b6dad25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5a9ccf72b6dad25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Remember when I told TripMate that I was travelling with my parents? A good agent shouldn't just process that sentence in isolation. It should use that information to adapt its recommendations.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3a988a2326269b44_1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3a988a2326269b44_1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3a988a2326269b44_16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h3a988a2326269b44_16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1200"/>
              </a:spcBef>
              <a:spcAft>
                <a:spcPts val="0"/>
              </a:spcAft>
              <a:buClr>
                <a:srgbClr val="1F1F1F"/>
              </a:buClr>
              <a:buSzPts val="1200"/>
              <a:buChar char="○"/>
            </a:pPr>
            <a:r>
              <a:rPr lang="en-GB">
                <a:solidFill>
                  <a:schemeClr val="dk1"/>
                </a:solidFill>
              </a:rPr>
              <a:t>Everyone can create </a:t>
            </a:r>
            <a:r>
              <a:rPr lang="en-GB">
                <a:solidFill>
                  <a:schemeClr val="dk1"/>
                </a:solidFill>
              </a:rPr>
              <a:t>their</a:t>
            </a:r>
            <a:r>
              <a:rPr lang="en-GB">
                <a:solidFill>
                  <a:schemeClr val="dk1"/>
                </a:solidFill>
              </a:rPr>
              <a:t> own Livekit account: </a:t>
            </a:r>
            <a:r>
              <a:rPr b="1" lang="en-GB">
                <a:solidFill>
                  <a:schemeClr val="dk1"/>
                </a:solidFill>
              </a:rPr>
              <a:t>https://cloud.livekit.io/login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Your agent, however, will run from your own LiveKit project and your own Colab environment.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So when you change your Python code...We're going to start with the simplest possible agent. Srashti will take you forward from concept/theory to practical implementation. Over to you!!</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7e27b3852bddd882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7e27b3852bddd882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3a988a2326269b44_1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3a988a2326269b44_1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a:solidFill>
                  <a:schemeClr val="dk1"/>
                </a:solidFill>
              </a:rPr>
              <a:t>Thank you Srashti for taking our audience through all those stages . </a:t>
            </a:r>
            <a:r>
              <a:rPr lang="en-GB" sz="1200">
                <a:solidFill>
                  <a:srgbClr val="1F1F1F"/>
                </a:solidFill>
              </a:rPr>
              <a:t>What you saw in five stages is the full arc: starting from a simple chatbot, to tool-using agent, to conversational multimodal agent."</a:t>
            </a:r>
            <a:endParaRPr b="1">
              <a:solidFill>
                <a:schemeClr val="dk1"/>
              </a:solidFill>
            </a:endParaRPr>
          </a:p>
          <a:p>
            <a:pPr indent="0" lvl="0" marL="0" rtl="0" algn="l">
              <a:lnSpc>
                <a:spcPct val="115000"/>
              </a:lnSpc>
              <a:spcBef>
                <a:spcPts val="1200"/>
              </a:spcBef>
              <a:spcAft>
                <a:spcPts val="0"/>
              </a:spcAft>
              <a:buNone/>
            </a:pPr>
            <a:r>
              <a:rPr b="1" lang="en-GB">
                <a:solidFill>
                  <a:schemeClr val="dk1"/>
                </a:solidFill>
              </a:rPr>
              <a:t>    </a:t>
            </a:r>
            <a:r>
              <a:rPr lang="en-GB" sz="1200">
                <a:solidFill>
                  <a:srgbClr val="1F1F1F"/>
                </a:solidFill>
              </a:rPr>
              <a:t>This architecture can do more than voice and text. Here are three ideas that you guys can try after the workshop:</a:t>
            </a:r>
            <a:endParaRPr sz="1200">
              <a:solidFill>
                <a:srgbClr val="1F1F1F"/>
              </a:solidFill>
            </a:endParaRPr>
          </a:p>
          <a:p>
            <a:pPr indent="-304800" lvl="0" marL="457200" rtl="0" algn="l">
              <a:lnSpc>
                <a:spcPct val="115000"/>
              </a:lnSpc>
              <a:spcBef>
                <a:spcPts val="1200"/>
              </a:spcBef>
              <a:spcAft>
                <a:spcPts val="0"/>
              </a:spcAft>
              <a:buClr>
                <a:srgbClr val="1F1F1F"/>
              </a:buClr>
              <a:buSzPts val="1200"/>
              <a:buChar char="●"/>
            </a:pPr>
            <a:r>
              <a:rPr b="1" lang="en-GB" sz="1200">
                <a:solidFill>
                  <a:srgbClr val="1F1F1F"/>
                </a:solidFill>
              </a:rPr>
              <a:t>Give the agent eyes.</a:t>
            </a:r>
            <a:r>
              <a:rPr lang="en-GB" sz="1200">
                <a:solidFill>
                  <a:srgbClr val="1F1F1F"/>
                </a:solidFill>
              </a:rPr>
              <a:t> LiveKit rooms carry video tracks. Subscribe to the camera, swap in a multimodal LLM, and your agent can see a photo of a hotel, a screenshot of a flight deal, or a restaurant menu in a language you don't speak.</a:t>
            </a:r>
            <a:endParaRPr sz="1200">
              <a:solidFill>
                <a:srgbClr val="1F1F1F"/>
              </a:solidFill>
            </a:endParaRPr>
          </a:p>
          <a:p>
            <a:pPr indent="-304800" lvl="0" marL="457200" rtl="0" algn="l">
              <a:lnSpc>
                <a:spcPct val="115000"/>
              </a:lnSpc>
              <a:spcBef>
                <a:spcPts val="0"/>
              </a:spcBef>
              <a:spcAft>
                <a:spcPts val="0"/>
              </a:spcAft>
              <a:buClr>
                <a:srgbClr val="1F1F1F"/>
              </a:buClr>
              <a:buSzPts val="1200"/>
              <a:buChar char="●"/>
            </a:pPr>
            <a:r>
              <a:rPr b="1" lang="en-GB" sz="1200">
                <a:solidFill>
                  <a:srgbClr val="1F1F1F"/>
                </a:solidFill>
              </a:rPr>
              <a:t>Give the agent hands.</a:t>
            </a:r>
            <a:r>
              <a:rPr lang="en-GB" sz="1200">
                <a:solidFill>
                  <a:srgbClr val="1F1F1F"/>
                </a:solidFill>
              </a:rPr>
              <a:t> Add a </a:t>
            </a:r>
            <a:r>
              <a:rPr lang="en-GB" sz="1200">
                <a:solidFill>
                  <a:srgbClr val="1F1F1F"/>
                </a:solidFill>
                <a:latin typeface="Courier New"/>
                <a:ea typeface="Courier New"/>
                <a:cs typeface="Courier New"/>
                <a:sym typeface="Courier New"/>
              </a:rPr>
              <a:t>book_hotel</a:t>
            </a:r>
            <a:r>
              <a:rPr lang="en-GB" sz="1200">
                <a:solidFill>
                  <a:srgbClr val="1F1F1F"/>
                </a:solidFill>
              </a:rPr>
              <a:t> tool that calls a payment API. TripMate stops planning the trip and starts booking it.</a:t>
            </a:r>
            <a:endParaRPr sz="1200">
              <a:solidFill>
                <a:srgbClr val="1F1F1F"/>
              </a:solidFill>
            </a:endParaRPr>
          </a:p>
          <a:p>
            <a:pPr indent="-304800" lvl="0" marL="457200" rtl="0" algn="l">
              <a:lnSpc>
                <a:spcPct val="115000"/>
              </a:lnSpc>
              <a:spcBef>
                <a:spcPts val="0"/>
              </a:spcBef>
              <a:spcAft>
                <a:spcPts val="0"/>
              </a:spcAft>
              <a:buClr>
                <a:srgbClr val="1F1F1F"/>
              </a:buClr>
              <a:buSzPts val="1200"/>
              <a:buChar char="●"/>
            </a:pPr>
            <a:r>
              <a:rPr b="1" lang="en-GB" sz="1200">
                <a:solidFill>
                  <a:srgbClr val="1F1F1F"/>
                </a:solidFill>
              </a:rPr>
              <a:t>Give the agent memory.</a:t>
            </a:r>
            <a:r>
              <a:rPr lang="en-GB" sz="1200">
                <a:solidFill>
                  <a:srgbClr val="1F1F1F"/>
                </a:solidFill>
              </a:rPr>
              <a:t> Store the conversation in a database. Next time when the same traveler connects, TripMate remembers they love beaches and hate early mornings.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457200" rtl="0" algn="l">
              <a:lnSpc>
                <a:spcPct val="115000"/>
              </a:lnSpc>
              <a:spcBef>
                <a:spcPts val="1200"/>
              </a:spcBef>
              <a:spcAft>
                <a:spcPts val="0"/>
              </a:spcAft>
              <a:buNone/>
            </a:pPr>
            <a:r>
              <a:rPr b="1" lang="en-GB">
                <a:solidFill>
                  <a:srgbClr val="38761D"/>
                </a:solidFill>
              </a:rPr>
              <a:t>Before I wrap up the session, I just want to say— thank you for being such wonderful human voice agents today! Great listening, zero hallucinations and I must say your patience levels were far better than most AI models! </a:t>
            </a:r>
            <a:endParaRPr sz="1200">
              <a:solidFill>
                <a:srgbClr val="1F1F1F"/>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10555c6bdf749796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h10555c6bdf749796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e27b3852bddd882_31_0)">
  <p:cSld name="Generated (h7e27b3852bddd882_31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drive.google.com/file/d/1qfR6Yd0-od7_jjpieKbGWCHEZFu-qhjD/view"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4572000" y="-1333500"/>
            <a:ext cx="5715000" cy="7429500"/>
            <a:chOff x="4572000" y="-1333500"/>
            <a:chExt cx="5715000" cy="7429500"/>
          </a:xfrm>
        </p:grpSpPr>
        <p:sp>
          <p:nvSpPr>
            <p:cNvPr id="56" name="Google Shape;56;p14"/>
            <p:cNvSpPr/>
            <p:nvPr/>
          </p:nvSpPr>
          <p:spPr>
            <a:xfrm>
              <a:off x="6000750" y="-1333500"/>
              <a:ext cx="4191000" cy="4191000"/>
            </a:xfrm>
            <a:prstGeom prst="ellipse">
              <a:avLst/>
            </a:prstGeom>
            <a:solidFill>
              <a:srgbClr val="EEF2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6858000" y="2667000"/>
              <a:ext cx="3429000" cy="3429000"/>
            </a:xfrm>
            <a:prstGeom prst="ellipse">
              <a:avLst/>
            </a:prstGeom>
            <a:solidFill>
              <a:srgbClr val="F3E8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4572000" y="0"/>
              <a:ext cx="4572000" cy="5143500"/>
            </a:xfrm>
            <a:custGeom>
              <a:rect b="b" l="l" r="r" t="t"/>
              <a:pathLst>
                <a:path extrusionOk="0" h="120000" w="120000">
                  <a:moveTo>
                    <a:pt x="0" y="0"/>
                  </a:moveTo>
                  <a:lnTo>
                    <a:pt x="120000" y="0"/>
                  </a:lnTo>
                  <a:lnTo>
                    <a:pt x="120000" y="120000"/>
                  </a:lnTo>
                  <a:close/>
                </a:path>
              </a:pathLst>
            </a:custGeom>
            <a:solidFill>
              <a:srgbClr val="F1F5F9">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412988" y="476250"/>
            <a:ext cx="3900488" cy="4191000"/>
            <a:chOff x="-190500" y="0"/>
            <a:chExt cx="4000500" cy="4191000"/>
          </a:xfrm>
        </p:grpSpPr>
        <p:sp>
          <p:nvSpPr>
            <p:cNvPr id="60" name="Google Shape;60;p14"/>
            <p:cNvSpPr/>
            <p:nvPr/>
          </p:nvSpPr>
          <p:spPr>
            <a:xfrm>
              <a:off x="0" y="0"/>
              <a:ext cx="3810000" cy="4191000"/>
            </a:xfrm>
            <a:prstGeom prst="roundRect">
              <a:avLst>
                <a:gd fmla="val 6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tech, futuristic 3D logo representation for Multi-Modal Conversational Voice AI, featuring vibrant glowing digital soundwaves, interconnected neural network nodes, and abstract speech audio waveforms in rich purple, indigo, and bright cyan colors over a sleek dark background." id="61" name="Google Shape;61;p14"/>
            <p:cNvPicPr preferRelativeResize="0"/>
            <p:nvPr/>
          </p:nvPicPr>
          <p:blipFill rotWithShape="1">
            <a:blip r:embed="rId4">
              <a:alphaModFix/>
            </a:blip>
            <a:srcRect b="0" l="0" r="9091" t="0"/>
            <a:stretch/>
          </p:blipFill>
          <p:spPr>
            <a:xfrm>
              <a:off x="-190500" y="0"/>
              <a:ext cx="3810000" cy="4191000"/>
            </a:xfrm>
            <a:prstGeom prst="roundRect">
              <a:avLst>
                <a:gd fmla="val 5850" name="adj"/>
              </a:avLst>
            </a:prstGeom>
            <a:noFill/>
            <a:ln>
              <a:noFill/>
            </a:ln>
          </p:spPr>
        </p:pic>
        <p:sp>
          <p:nvSpPr>
            <p:cNvPr id="62" name="Google Shape;62;p14"/>
            <p:cNvSpPr/>
            <p:nvPr/>
          </p:nvSpPr>
          <p:spPr>
            <a:xfrm>
              <a:off x="0" y="0"/>
              <a:ext cx="3810000" cy="4191000"/>
            </a:xfrm>
            <a:prstGeom prst="roundRect">
              <a:avLst>
                <a:gd fmla="val 6000" name="adj"/>
              </a:avLst>
            </a:prstGeom>
            <a:solidFill>
              <a:srgbClr val="000000">
                <a:alpha val="0"/>
              </a:srgbClr>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 name="Google Shape;63;p14"/>
            <p:cNvGrpSpPr/>
            <p:nvPr/>
          </p:nvGrpSpPr>
          <p:grpSpPr>
            <a:xfrm>
              <a:off x="190500" y="3571875"/>
              <a:ext cx="476400" cy="423568"/>
              <a:chOff x="0" y="0"/>
              <a:chExt cx="476400" cy="423568"/>
            </a:xfrm>
          </p:grpSpPr>
          <p:sp>
            <p:nvSpPr>
              <p:cNvPr id="64" name="Google Shape;64;p14"/>
              <p:cNvSpPr/>
              <p:nvPr/>
            </p:nvSpPr>
            <p:spPr>
              <a:xfrm>
                <a:off x="0" y="0"/>
                <a:ext cx="476400" cy="400200"/>
              </a:xfrm>
              <a:prstGeom prst="roundRect">
                <a:avLst>
                  <a:gd fmla="val 49999" name="adj"/>
                </a:avLst>
              </a:prstGeom>
              <a:solidFill>
                <a:srgbClr val="0F172A">
                  <a:alpha val="7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0" y="23368"/>
                <a:ext cx="4764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GB" sz="1600" u="none" strike="noStrike">
                    <a:solidFill>
                      <a:srgbClr val="A855F7"/>
                    </a:solidFill>
                    <a:latin typeface="Material Icons"/>
                    <a:ea typeface="Material Icons"/>
                    <a:cs typeface="Material Icons"/>
                    <a:sym typeface="Material Icons"/>
                  </a:rPr>
                  <a:t>graphic_eq</a:t>
                </a:r>
                <a:endParaRPr b="0" i="0" sz="1600" u="none" strike="noStrike">
                  <a:solidFill>
                    <a:srgbClr val="A855F7"/>
                  </a:solidFill>
                  <a:latin typeface="Material Icons"/>
                  <a:ea typeface="Material Icons"/>
                  <a:cs typeface="Material Icons"/>
                  <a:sym typeface="Material Icons"/>
                </a:endParaRPr>
              </a:p>
            </p:txBody>
          </p:sp>
        </p:grpSp>
      </p:grpSp>
      <p:grpSp>
        <p:nvGrpSpPr>
          <p:cNvPr id="66" name="Google Shape;66;p14"/>
          <p:cNvGrpSpPr/>
          <p:nvPr/>
        </p:nvGrpSpPr>
        <p:grpSpPr>
          <a:xfrm>
            <a:off x="4572000" y="571500"/>
            <a:ext cx="4095900" cy="3848100"/>
            <a:chOff x="0" y="95250"/>
            <a:chExt cx="4095900" cy="3848100"/>
          </a:xfrm>
        </p:grpSpPr>
        <p:grpSp>
          <p:nvGrpSpPr>
            <p:cNvPr id="67" name="Google Shape;67;p14"/>
            <p:cNvGrpSpPr/>
            <p:nvPr/>
          </p:nvGrpSpPr>
          <p:grpSpPr>
            <a:xfrm>
              <a:off x="0" y="95250"/>
              <a:ext cx="2000100" cy="324000"/>
              <a:chOff x="0" y="0"/>
              <a:chExt cx="2000100" cy="324000"/>
            </a:xfrm>
          </p:grpSpPr>
          <p:sp>
            <p:nvSpPr>
              <p:cNvPr id="68" name="Google Shape;68;p14"/>
              <p:cNvSpPr/>
              <p:nvPr/>
            </p:nvSpPr>
            <p:spPr>
              <a:xfrm>
                <a:off x="0" y="0"/>
                <a:ext cx="2000100" cy="324000"/>
              </a:xfrm>
              <a:prstGeom prst="roundRect">
                <a:avLst>
                  <a:gd fmla="val 5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txBox="1"/>
              <p:nvPr/>
            </p:nvSpPr>
            <p:spPr>
              <a:xfrm>
                <a:off x="0" y="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6B21A8"/>
                    </a:solidFill>
                    <a:latin typeface="Inter"/>
                    <a:ea typeface="Inter"/>
                    <a:cs typeface="Inter"/>
                    <a:sym typeface="Inter"/>
                  </a:rPr>
                  <a:t>Agentic AI Summit 2026</a:t>
                </a:r>
                <a:endParaRPr b="1" sz="1000">
                  <a:solidFill>
                    <a:srgbClr val="6B21A8"/>
                  </a:solidFill>
                  <a:latin typeface="Inter"/>
                  <a:ea typeface="Inter"/>
                  <a:cs typeface="Inter"/>
                  <a:sym typeface="Inter"/>
                </a:endParaRPr>
              </a:p>
            </p:txBody>
          </p:sp>
        </p:grpSp>
        <p:sp>
          <p:nvSpPr>
            <p:cNvPr id="70" name="Google Shape;70;p14"/>
            <p:cNvSpPr txBox="1"/>
            <p:nvPr/>
          </p:nvSpPr>
          <p:spPr>
            <a:xfrm>
              <a:off x="0" y="590550"/>
              <a:ext cx="409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0F172A"/>
                  </a:solidFill>
                  <a:latin typeface="Inter ExtraBold"/>
                  <a:ea typeface="Inter ExtraBold"/>
                  <a:cs typeface="Inter ExtraBold"/>
                  <a:sym typeface="Inter ExtraBold"/>
                </a:rPr>
                <a:t>Building Multi-Modal</a:t>
              </a:r>
              <a:endParaRPr b="0" sz="280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rPr b="0" lang="en-GB" sz="2800">
                  <a:solidFill>
                    <a:srgbClr val="6366F1"/>
                  </a:solidFill>
                  <a:latin typeface="Inter ExtraBold"/>
                  <a:ea typeface="Inter ExtraBold"/>
                  <a:cs typeface="Inter ExtraBold"/>
                  <a:sym typeface="Inter ExtraBold"/>
                </a:rPr>
                <a:t>Conversational</a:t>
              </a:r>
              <a:endParaRPr b="0" sz="2800">
                <a:solidFill>
                  <a:srgbClr val="6366F1"/>
                </a:solidFill>
                <a:latin typeface="Inter ExtraBold"/>
                <a:ea typeface="Inter ExtraBold"/>
                <a:cs typeface="Inter ExtraBold"/>
                <a:sym typeface="Inter ExtraBold"/>
              </a:endParaRPr>
            </a:p>
            <a:p>
              <a:pPr indent="0" lvl="0" marL="0" rtl="0" algn="l">
                <a:spcBef>
                  <a:spcPts val="0"/>
                </a:spcBef>
                <a:spcAft>
                  <a:spcPts val="0"/>
                </a:spcAft>
                <a:buNone/>
              </a:pPr>
              <a:r>
                <a:rPr b="0" lang="en-GB" sz="2800">
                  <a:solidFill>
                    <a:srgbClr val="0F172A"/>
                  </a:solidFill>
                  <a:latin typeface="Inter ExtraBold"/>
                  <a:ea typeface="Inter ExtraBold"/>
                  <a:cs typeface="Inter ExtraBold"/>
                  <a:sym typeface="Inter ExtraBold"/>
                </a:rPr>
                <a:t>Voice AI Agents</a:t>
              </a:r>
              <a:endParaRPr b="0" sz="2800">
                <a:solidFill>
                  <a:srgbClr val="0F172A"/>
                </a:solidFill>
                <a:latin typeface="Inter ExtraBold"/>
                <a:ea typeface="Inter ExtraBold"/>
                <a:cs typeface="Inter ExtraBold"/>
                <a:sym typeface="Inter ExtraBold"/>
              </a:endParaRPr>
            </a:p>
          </p:txBody>
        </p:sp>
        <p:sp>
          <p:nvSpPr>
            <p:cNvPr id="71" name="Google Shape;71;p14"/>
            <p:cNvSpPr txBox="1"/>
            <p:nvPr/>
          </p:nvSpPr>
          <p:spPr>
            <a:xfrm>
              <a:off x="0" y="2143125"/>
              <a:ext cx="4000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475569"/>
                  </a:solidFill>
                  <a:latin typeface="Inter"/>
                  <a:ea typeface="Inter"/>
                  <a:cs typeface="Inter"/>
                  <a:sym typeface="Inter"/>
                </a:rPr>
                <a:t>Next-generation interactive voice systems powered by real-time speech synthesis, LLMs, and multi-modal interaction.</a:t>
              </a:r>
              <a:endParaRPr b="0" sz="1200">
                <a:solidFill>
                  <a:srgbClr val="475569"/>
                </a:solidFill>
                <a:latin typeface="Inter"/>
                <a:ea typeface="Inter"/>
                <a:cs typeface="Inter"/>
                <a:sym typeface="Inter"/>
              </a:endParaRPr>
            </a:p>
          </p:txBody>
        </p:sp>
        <p:cxnSp>
          <p:nvCxnSpPr>
            <p:cNvPr id="72" name="Google Shape;72;p14"/>
            <p:cNvCxnSpPr/>
            <p:nvPr/>
          </p:nvCxnSpPr>
          <p:spPr>
            <a:xfrm>
              <a:off x="0" y="2857500"/>
              <a:ext cx="40005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73" name="Google Shape;73;p14"/>
            <p:cNvGrpSpPr/>
            <p:nvPr/>
          </p:nvGrpSpPr>
          <p:grpSpPr>
            <a:xfrm>
              <a:off x="0" y="3048000"/>
              <a:ext cx="4000500" cy="895350"/>
              <a:chOff x="0" y="0"/>
              <a:chExt cx="4000500" cy="895350"/>
            </a:xfrm>
          </p:grpSpPr>
          <p:sp>
            <p:nvSpPr>
              <p:cNvPr id="74" name="Google Shape;74;p14"/>
              <p:cNvSpPr txBox="1"/>
              <p:nvPr/>
            </p:nvSpPr>
            <p:spPr>
              <a:xfrm>
                <a:off x="0" y="0"/>
                <a:ext cx="4000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GB" sz="900">
                    <a:solidFill>
                      <a:srgbClr val="94A3B8"/>
                    </a:solidFill>
                    <a:latin typeface="Inter"/>
                    <a:ea typeface="Inter"/>
                    <a:cs typeface="Inter"/>
                    <a:sym typeface="Inter"/>
                  </a:rPr>
                  <a:t>Presented By</a:t>
                </a:r>
                <a:endParaRPr b="1" sz="900">
                  <a:solidFill>
                    <a:srgbClr val="94A3B8"/>
                  </a:solidFill>
                  <a:latin typeface="Inter"/>
                  <a:ea typeface="Inter"/>
                  <a:cs typeface="Inter"/>
                  <a:sym typeface="Inter"/>
                </a:endParaRPr>
              </a:p>
            </p:txBody>
          </p:sp>
          <p:grpSp>
            <p:nvGrpSpPr>
              <p:cNvPr id="75" name="Google Shape;75;p14"/>
              <p:cNvGrpSpPr/>
              <p:nvPr/>
            </p:nvGrpSpPr>
            <p:grpSpPr>
              <a:xfrm>
                <a:off x="0" y="285750"/>
                <a:ext cx="1905000" cy="609600"/>
                <a:chOff x="0" y="0"/>
                <a:chExt cx="1905000" cy="609600"/>
              </a:xfrm>
            </p:grpSpPr>
            <p:sp>
              <p:nvSpPr>
                <p:cNvPr id="76" name="Google Shape;76;p14"/>
                <p:cNvSpPr/>
                <p:nvPr/>
              </p:nvSpPr>
              <p:spPr>
                <a:xfrm>
                  <a:off x="0" y="0"/>
                  <a:ext cx="1905000" cy="609600"/>
                </a:xfrm>
                <a:prstGeom prst="roundRect">
                  <a:avLst>
                    <a:gd fmla="val 218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txBox="1"/>
                <p:nvPr/>
              </p:nvSpPr>
              <p:spPr>
                <a:xfrm>
                  <a:off x="0" y="0"/>
                  <a:ext cx="1905000" cy="609600"/>
                </a:xfrm>
                <a:prstGeom prst="rect">
                  <a:avLst/>
                </a:prstGeom>
                <a:solidFill>
                  <a:srgbClr val="000000">
                    <a:alpha val="0"/>
                  </a:srgbClr>
                </a:solidFill>
                <a:ln>
                  <a:noFill/>
                </a:ln>
              </p:spPr>
              <p:txBody>
                <a:bodyPr anchorCtr="0" anchor="t" bIns="0" lIns="133350" spcFirstLastPara="1" rIns="0" wrap="square" tIns="0">
                  <a:noAutofit/>
                </a:bodyPr>
                <a:lstStyle/>
                <a:p>
                  <a:pPr indent="0" lvl="0" marL="0" rtl="0" algn="ctr">
                    <a:spcBef>
                      <a:spcPts val="0"/>
                    </a:spcBef>
                    <a:spcAft>
                      <a:spcPts val="0"/>
                    </a:spcAft>
                    <a:buNone/>
                  </a:pPr>
                  <a:r>
                    <a:rPr b="0" i="0" lang="en-GB" sz="1800">
                      <a:solidFill>
                        <a:srgbClr val="4338CA"/>
                      </a:solidFill>
                      <a:latin typeface="Material Icons"/>
                      <a:ea typeface="Material Icons"/>
                      <a:cs typeface="Material Icons"/>
                      <a:sym typeface="Material Icons"/>
                    </a:rPr>
                    <a:t>record_voice_over</a:t>
                  </a:r>
                  <a:endParaRPr b="0" i="0" sz="1800">
                    <a:solidFill>
                      <a:srgbClr val="4338CA"/>
                    </a:solidFill>
                    <a:latin typeface="Material Icons"/>
                    <a:ea typeface="Material Icons"/>
                    <a:cs typeface="Material Icons"/>
                    <a:sym typeface="Material Icons"/>
                  </a:endParaRPr>
                </a:p>
                <a:p>
                  <a:pPr indent="0" lvl="0" marL="0" rtl="0" algn="ctr">
                    <a:spcBef>
                      <a:spcPts val="0"/>
                    </a:spcBef>
                    <a:spcAft>
                      <a:spcPts val="0"/>
                    </a:spcAft>
                    <a:buNone/>
                  </a:pPr>
                  <a:r>
                    <a:rPr b="1" i="0" lang="en-GB" sz="1100">
                      <a:solidFill>
                        <a:srgbClr val="0F172A"/>
                      </a:solidFill>
                      <a:latin typeface="Inter"/>
                      <a:ea typeface="Inter"/>
                      <a:cs typeface="Inter"/>
                      <a:sym typeface="Inter"/>
                    </a:rPr>
                    <a:t>Ishika Gupta</a:t>
                  </a:r>
                  <a:endParaRPr b="0" i="0" sz="1100">
                    <a:solidFill>
                      <a:srgbClr val="4338CA"/>
                    </a:solidFill>
                    <a:latin typeface="Material Icons"/>
                    <a:ea typeface="Material Icons"/>
                    <a:cs typeface="Material Icons"/>
                    <a:sym typeface="Material Icons"/>
                  </a:endParaRPr>
                </a:p>
                <a:p>
                  <a:pPr indent="0" lvl="0" marL="0" rtl="0" algn="ctr">
                    <a:spcBef>
                      <a:spcPts val="0"/>
                    </a:spcBef>
                    <a:spcAft>
                      <a:spcPts val="0"/>
                    </a:spcAft>
                    <a:buNone/>
                  </a:pPr>
                  <a:r>
                    <a:rPr b="0" i="0" lang="en-GB" sz="900">
                      <a:solidFill>
                        <a:srgbClr val="64748B"/>
                      </a:solidFill>
                      <a:latin typeface="Inter"/>
                      <a:ea typeface="Inter"/>
                      <a:cs typeface="Inter"/>
                      <a:sym typeface="Inter"/>
                    </a:rPr>
                    <a:t>Voicecare.ai</a:t>
                  </a:r>
                  <a:endParaRPr b="0" i="0" sz="900">
                    <a:solidFill>
                      <a:srgbClr val="4338CA"/>
                    </a:solidFill>
                    <a:latin typeface="Material Icons"/>
                    <a:ea typeface="Material Icons"/>
                    <a:cs typeface="Material Icons"/>
                    <a:sym typeface="Material Icons"/>
                  </a:endParaRPr>
                </a:p>
              </p:txBody>
            </p:sp>
          </p:grpSp>
          <p:grpSp>
            <p:nvGrpSpPr>
              <p:cNvPr id="78" name="Google Shape;78;p14"/>
              <p:cNvGrpSpPr/>
              <p:nvPr/>
            </p:nvGrpSpPr>
            <p:grpSpPr>
              <a:xfrm>
                <a:off x="2019300" y="285750"/>
                <a:ext cx="1981200" cy="609600"/>
                <a:chOff x="0" y="0"/>
                <a:chExt cx="1981200" cy="609600"/>
              </a:xfrm>
            </p:grpSpPr>
            <p:sp>
              <p:nvSpPr>
                <p:cNvPr id="79" name="Google Shape;79;p14"/>
                <p:cNvSpPr/>
                <p:nvPr/>
              </p:nvSpPr>
              <p:spPr>
                <a:xfrm>
                  <a:off x="0" y="0"/>
                  <a:ext cx="1981200" cy="609600"/>
                </a:xfrm>
                <a:prstGeom prst="roundRect">
                  <a:avLst>
                    <a:gd fmla="val 218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txBox="1"/>
                <p:nvPr/>
              </p:nvSpPr>
              <p:spPr>
                <a:xfrm>
                  <a:off x="0" y="0"/>
                  <a:ext cx="1981200" cy="609600"/>
                </a:xfrm>
                <a:prstGeom prst="rect">
                  <a:avLst/>
                </a:prstGeom>
                <a:solidFill>
                  <a:srgbClr val="000000">
                    <a:alpha val="0"/>
                  </a:srgbClr>
                </a:solidFill>
                <a:ln>
                  <a:noFill/>
                </a:ln>
              </p:spPr>
              <p:txBody>
                <a:bodyPr anchorCtr="0" anchor="t" bIns="0" lIns="133350" spcFirstLastPara="1" rIns="0" wrap="square" tIns="0">
                  <a:noAutofit/>
                </a:bodyPr>
                <a:lstStyle/>
                <a:p>
                  <a:pPr indent="0" lvl="0" marL="0" rtl="0" algn="ctr">
                    <a:spcBef>
                      <a:spcPts val="0"/>
                    </a:spcBef>
                    <a:spcAft>
                      <a:spcPts val="0"/>
                    </a:spcAft>
                    <a:buNone/>
                  </a:pPr>
                  <a:r>
                    <a:rPr b="0" i="0" lang="en-GB" sz="1800">
                      <a:solidFill>
                        <a:srgbClr val="7E22CE"/>
                      </a:solidFill>
                      <a:latin typeface="Material Icons"/>
                      <a:ea typeface="Material Icons"/>
                      <a:cs typeface="Material Icons"/>
                      <a:sym typeface="Material Icons"/>
                    </a:rPr>
                    <a:t>psychology</a:t>
                  </a:r>
                  <a:endParaRPr b="0" i="0" sz="1800">
                    <a:solidFill>
                      <a:srgbClr val="7E22CE"/>
                    </a:solidFill>
                    <a:latin typeface="Material Icons"/>
                    <a:ea typeface="Material Icons"/>
                    <a:cs typeface="Material Icons"/>
                    <a:sym typeface="Material Icons"/>
                  </a:endParaRPr>
                </a:p>
                <a:p>
                  <a:pPr indent="0" lvl="0" marL="0" rtl="0" algn="ctr">
                    <a:spcBef>
                      <a:spcPts val="0"/>
                    </a:spcBef>
                    <a:spcAft>
                      <a:spcPts val="0"/>
                    </a:spcAft>
                    <a:buNone/>
                  </a:pPr>
                  <a:r>
                    <a:rPr b="1" i="0" lang="en-GB" sz="1100">
                      <a:solidFill>
                        <a:srgbClr val="0F172A"/>
                      </a:solidFill>
                      <a:latin typeface="Inter"/>
                      <a:ea typeface="Inter"/>
                      <a:cs typeface="Inter"/>
                      <a:sym typeface="Inter"/>
                    </a:rPr>
                    <a:t>Srashti Kaurav</a:t>
                  </a:r>
                  <a:endParaRPr b="0" i="0" sz="1100">
                    <a:solidFill>
                      <a:srgbClr val="7E22CE"/>
                    </a:solidFill>
                    <a:latin typeface="Material Icons"/>
                    <a:ea typeface="Material Icons"/>
                    <a:cs typeface="Material Icons"/>
                    <a:sym typeface="Material Icons"/>
                  </a:endParaRPr>
                </a:p>
                <a:p>
                  <a:pPr indent="0" lvl="0" marL="0" rtl="0" algn="ctr">
                    <a:spcBef>
                      <a:spcPts val="0"/>
                    </a:spcBef>
                    <a:spcAft>
                      <a:spcPts val="0"/>
                    </a:spcAft>
                    <a:buNone/>
                  </a:pPr>
                  <a:r>
                    <a:rPr b="0" i="0" lang="en-GB" sz="900">
                      <a:solidFill>
                        <a:srgbClr val="64748B"/>
                      </a:solidFill>
                      <a:latin typeface="Inter"/>
                      <a:ea typeface="Inter"/>
                      <a:cs typeface="Inter"/>
                      <a:sym typeface="Inter"/>
                    </a:rPr>
                    <a:t>Bosch</a:t>
                  </a:r>
                  <a:endParaRPr b="0" i="0" sz="900">
                    <a:solidFill>
                      <a:srgbClr val="7E22CE"/>
                    </a:solidFill>
                    <a:latin typeface="Material Icons"/>
                    <a:ea typeface="Material Icons"/>
                    <a:cs typeface="Material Icons"/>
                    <a:sym typeface="Material Icons"/>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title="tripmate_demo.mov">
            <a:hlinkClick r:id="rId3"/>
          </p:cNvPr>
          <p:cNvPicPr preferRelativeResize="0"/>
          <p:nvPr/>
        </p:nvPicPr>
        <p:blipFill>
          <a:blip r:embed="rId4">
            <a:alphaModFix/>
          </a:blip>
          <a:stretch>
            <a:fillRect/>
          </a:stretch>
        </p:blipFill>
        <p:spPr>
          <a:xfrm>
            <a:off x="152400" y="152400"/>
            <a:ext cx="8839198" cy="46838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6"/>
          <p:cNvPicPr preferRelativeResize="0"/>
          <p:nvPr/>
        </p:nvPicPr>
        <p:blipFill>
          <a:blip r:embed="rId3">
            <a:alphaModFix/>
          </a:blip>
          <a:stretch>
            <a:fillRect/>
          </a:stretch>
        </p:blipFill>
        <p:spPr>
          <a:xfrm>
            <a:off x="406575" y="0"/>
            <a:ext cx="8235249" cy="508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rotWithShape="1">
          <a:blip r:embed="rId3">
            <a:alphaModFix/>
          </a:blip>
          <a:srcRect b="397" l="0" r="0" t="397"/>
          <a:stretch/>
        </p:blipFill>
        <p:spPr>
          <a:xfrm>
            <a:off x="521150" y="152400"/>
            <a:ext cx="7270199" cy="4991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8"/>
          <p:cNvPicPr preferRelativeResize="0"/>
          <p:nvPr/>
        </p:nvPicPr>
        <p:blipFill>
          <a:blip r:embed="rId3">
            <a:alphaModFix/>
          </a:blip>
          <a:stretch>
            <a:fillRect/>
          </a:stretch>
        </p:blipFill>
        <p:spPr>
          <a:xfrm>
            <a:off x="-61850" y="-111325"/>
            <a:ext cx="9205850" cy="5591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9"/>
          <p:cNvPicPr preferRelativeResize="0"/>
          <p:nvPr/>
        </p:nvPicPr>
        <p:blipFill rotWithShape="1">
          <a:blip r:embed="rId3">
            <a:alphaModFix/>
          </a:blip>
          <a:srcRect b="259" l="0" r="0" t="259"/>
          <a:stretch/>
        </p:blipFill>
        <p:spPr>
          <a:xfrm>
            <a:off x="-107030" y="-12370"/>
            <a:ext cx="9263401"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20"/>
          <p:cNvSpPr txBox="1"/>
          <p:nvPr/>
        </p:nvSpPr>
        <p:spPr>
          <a:xfrm>
            <a:off x="0" y="190500"/>
            <a:ext cx="91440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800">
                <a:solidFill>
                  <a:srgbClr val="0F172A"/>
                </a:solidFill>
                <a:latin typeface="Inter ExtraBold"/>
                <a:ea typeface="Inter ExtraBold"/>
                <a:cs typeface="Inter ExtraBold"/>
                <a:sym typeface="Inter ExtraBold"/>
              </a:rPr>
              <a:t>LIVEKIT REAL-TIME VOICE AI ORCHESTRATION</a:t>
            </a:r>
            <a:endParaRPr b="0" sz="1800">
              <a:solidFill>
                <a:srgbClr val="0F172A"/>
              </a:solidFill>
              <a:latin typeface="Inter ExtraBold"/>
              <a:ea typeface="Inter ExtraBold"/>
              <a:cs typeface="Inter ExtraBold"/>
              <a:sym typeface="Inter ExtraBold"/>
            </a:endParaRPr>
          </a:p>
        </p:txBody>
      </p:sp>
      <p:grpSp>
        <p:nvGrpSpPr>
          <p:cNvPr id="112" name="Google Shape;112;p20"/>
          <p:cNvGrpSpPr/>
          <p:nvPr/>
        </p:nvGrpSpPr>
        <p:grpSpPr>
          <a:xfrm>
            <a:off x="2381250" y="619125"/>
            <a:ext cx="4381500" cy="3571800"/>
            <a:chOff x="0" y="0"/>
            <a:chExt cx="4381500" cy="3571800"/>
          </a:xfrm>
        </p:grpSpPr>
        <p:sp>
          <p:nvSpPr>
            <p:cNvPr id="113" name="Google Shape;113;p20"/>
            <p:cNvSpPr/>
            <p:nvPr/>
          </p:nvSpPr>
          <p:spPr>
            <a:xfrm>
              <a:off x="0" y="0"/>
              <a:ext cx="4381500" cy="3571800"/>
            </a:xfrm>
            <a:prstGeom prst="roundRect">
              <a:avLst>
                <a:gd fmla="val 3200" name="adj"/>
              </a:avLst>
            </a:prstGeom>
            <a:solidFill>
              <a:srgbClr val="F0F7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20"/>
            <p:cNvSpPr txBox="1"/>
            <p:nvPr/>
          </p:nvSpPr>
          <p:spPr>
            <a:xfrm>
              <a:off x="0" y="76200"/>
              <a:ext cx="438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E40AF"/>
                  </a:solidFill>
                  <a:latin typeface="Inter ExtraBold"/>
                  <a:ea typeface="Inter ExtraBold"/>
                  <a:cs typeface="Inter ExtraBold"/>
                  <a:sym typeface="Inter ExtraBold"/>
                </a:rPr>
                <a:t>LIVEKIT ROOM</a:t>
              </a:r>
              <a:endParaRPr b="0" sz="1000">
                <a:solidFill>
                  <a:srgbClr val="1E40AF"/>
                </a:solidFill>
                <a:latin typeface="Inter ExtraBold"/>
                <a:ea typeface="Inter ExtraBold"/>
                <a:cs typeface="Inter ExtraBold"/>
                <a:sym typeface="Inter ExtraBold"/>
              </a:endParaRPr>
            </a:p>
          </p:txBody>
        </p:sp>
        <p:sp>
          <p:nvSpPr>
            <p:cNvPr id="115" name="Google Shape;115;p20"/>
            <p:cNvSpPr/>
            <p:nvPr/>
          </p:nvSpPr>
          <p:spPr>
            <a:xfrm>
              <a:off x="1619250" y="304800"/>
              <a:ext cx="1143000" cy="266700"/>
            </a:xfrm>
            <a:prstGeom prst="roundRect">
              <a:avLst>
                <a:gd fmla="val 21428"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20"/>
            <p:cNvSpPr txBox="1"/>
            <p:nvPr/>
          </p:nvSpPr>
          <p:spPr>
            <a:xfrm>
              <a:off x="1619250" y="304800"/>
              <a:ext cx="1143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USER</a:t>
              </a:r>
              <a:endParaRPr b="0" sz="950">
                <a:solidFill>
                  <a:srgbClr val="334155"/>
                </a:solidFill>
                <a:latin typeface="Inter SemiBold"/>
                <a:ea typeface="Inter SemiBold"/>
                <a:cs typeface="Inter SemiBold"/>
                <a:sym typeface="Inter SemiBold"/>
              </a:endParaRPr>
            </a:p>
          </p:txBody>
        </p:sp>
        <p:cxnSp>
          <p:nvCxnSpPr>
            <p:cNvPr id="117" name="Google Shape;117;p20"/>
            <p:cNvCxnSpPr/>
            <p:nvPr/>
          </p:nvCxnSpPr>
          <p:spPr>
            <a:xfrm>
              <a:off x="2190750" y="571500"/>
              <a:ext cx="0" cy="1143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18" name="Google Shape;118;p20"/>
            <p:cNvSpPr/>
            <p:nvPr/>
          </p:nvSpPr>
          <p:spPr>
            <a:xfrm>
              <a:off x="1333500" y="685800"/>
              <a:ext cx="1714500" cy="285900"/>
            </a:xfrm>
            <a:prstGeom prst="roundRect">
              <a:avLst>
                <a:gd fmla="val 20000"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20"/>
            <p:cNvSpPr txBox="1"/>
            <p:nvPr/>
          </p:nvSpPr>
          <p:spPr>
            <a:xfrm>
              <a:off x="1333500" y="685800"/>
              <a:ext cx="17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WEBRTC TRANSPORT</a:t>
              </a:r>
              <a:endParaRPr b="0" sz="950">
                <a:solidFill>
                  <a:srgbClr val="334155"/>
                </a:solidFill>
                <a:latin typeface="Inter SemiBold"/>
                <a:ea typeface="Inter SemiBold"/>
                <a:cs typeface="Inter SemiBold"/>
                <a:sym typeface="Inter SemiBold"/>
              </a:endParaRPr>
            </a:p>
          </p:txBody>
        </p:sp>
        <p:cxnSp>
          <p:nvCxnSpPr>
            <p:cNvPr id="120" name="Google Shape;120;p20"/>
            <p:cNvCxnSpPr/>
            <p:nvPr/>
          </p:nvCxnSpPr>
          <p:spPr>
            <a:xfrm>
              <a:off x="2190750" y="971550"/>
              <a:ext cx="0" cy="1335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21" name="Google Shape;121;p20"/>
            <p:cNvSpPr/>
            <p:nvPr/>
          </p:nvSpPr>
          <p:spPr>
            <a:xfrm>
              <a:off x="857250" y="1104900"/>
              <a:ext cx="2667000" cy="438300"/>
            </a:xfrm>
            <a:prstGeom prst="roundRect">
              <a:avLst>
                <a:gd fmla="val 17391"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20"/>
            <p:cNvSpPr txBox="1"/>
            <p:nvPr/>
          </p:nvSpPr>
          <p:spPr>
            <a:xfrm>
              <a:off x="857250" y="1104900"/>
              <a:ext cx="26670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1E3A8A"/>
                  </a:solidFill>
                  <a:latin typeface="Inter"/>
                  <a:ea typeface="Inter"/>
                  <a:cs typeface="Inter"/>
                  <a:sym typeface="Inter"/>
                </a:rPr>
                <a:t>VAD &amp; TURN DETECTION</a:t>
              </a:r>
              <a:endParaRPr b="1" sz="950">
                <a:solidFill>
                  <a:srgbClr val="1E3A8A"/>
                </a:solidFill>
                <a:latin typeface="Inter"/>
                <a:ea typeface="Inter"/>
                <a:cs typeface="Inter"/>
                <a:sym typeface="Inter"/>
              </a:endParaRPr>
            </a:p>
            <a:p>
              <a:pPr indent="0" lvl="0" marL="0" rtl="0" algn="ctr">
                <a:spcBef>
                  <a:spcPts val="75"/>
                </a:spcBef>
                <a:spcAft>
                  <a:spcPts val="0"/>
                </a:spcAft>
                <a:buNone/>
              </a:pPr>
              <a:r>
                <a:rPr b="1" lang="en-GB" sz="800">
                  <a:solidFill>
                    <a:srgbClr val="2563EB"/>
                  </a:solidFill>
                  <a:latin typeface="Inter"/>
                  <a:ea typeface="Inter"/>
                  <a:cs typeface="Inter"/>
                  <a:sym typeface="Inter"/>
                </a:rPr>
                <a:t>⚡ INTERRUPTION MODULE</a:t>
              </a:r>
              <a:endParaRPr b="1" sz="800">
                <a:solidFill>
                  <a:srgbClr val="2563EB"/>
                </a:solidFill>
                <a:latin typeface="Inter"/>
                <a:ea typeface="Inter"/>
                <a:cs typeface="Inter"/>
                <a:sym typeface="Inter"/>
              </a:endParaRPr>
            </a:p>
          </p:txBody>
        </p:sp>
        <p:cxnSp>
          <p:nvCxnSpPr>
            <p:cNvPr id="123" name="Google Shape;123;p20"/>
            <p:cNvCxnSpPr/>
            <p:nvPr/>
          </p:nvCxnSpPr>
          <p:spPr>
            <a:xfrm>
              <a:off x="2190750" y="1543050"/>
              <a:ext cx="0" cy="2478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24" name="Google Shape;124;p20"/>
            <p:cNvSpPr/>
            <p:nvPr/>
          </p:nvSpPr>
          <p:spPr>
            <a:xfrm>
              <a:off x="190500" y="1790700"/>
              <a:ext cx="666900" cy="342900"/>
            </a:xfrm>
            <a:prstGeom prst="roundRect">
              <a:avLst>
                <a:gd fmla="val 16666"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20"/>
            <p:cNvSpPr txBox="1"/>
            <p:nvPr/>
          </p:nvSpPr>
          <p:spPr>
            <a:xfrm>
              <a:off x="190500" y="1790700"/>
              <a:ext cx="666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334155"/>
                  </a:solidFill>
                  <a:latin typeface="Inter"/>
                  <a:ea typeface="Inter"/>
                  <a:cs typeface="Inter"/>
                  <a:sym typeface="Inter"/>
                </a:rPr>
                <a:t>STT</a:t>
              </a:r>
              <a:endParaRPr b="1" sz="950">
                <a:solidFill>
                  <a:srgbClr val="334155"/>
                </a:solidFill>
                <a:latin typeface="Inter"/>
                <a:ea typeface="Inter"/>
                <a:cs typeface="Inter"/>
                <a:sym typeface="Inter"/>
              </a:endParaRPr>
            </a:p>
          </p:txBody>
        </p:sp>
        <p:cxnSp>
          <p:nvCxnSpPr>
            <p:cNvPr id="126" name="Google Shape;126;p20"/>
            <p:cNvCxnSpPr/>
            <p:nvPr/>
          </p:nvCxnSpPr>
          <p:spPr>
            <a:xfrm>
              <a:off x="857250" y="1962150"/>
              <a:ext cx="4287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27" name="Google Shape;127;p20"/>
            <p:cNvSpPr/>
            <p:nvPr/>
          </p:nvSpPr>
          <p:spPr>
            <a:xfrm>
              <a:off x="1285875" y="1771650"/>
              <a:ext cx="1238400" cy="381000"/>
            </a:xfrm>
            <a:prstGeom prst="roundRect">
              <a:avLst>
                <a:gd fmla="val 150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20"/>
            <p:cNvSpPr txBox="1"/>
            <p:nvPr/>
          </p:nvSpPr>
          <p:spPr>
            <a:xfrm>
              <a:off x="1285875" y="1771650"/>
              <a:ext cx="1238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1E3A8A"/>
                  </a:solidFill>
                  <a:latin typeface="Inter"/>
                  <a:ea typeface="Inter"/>
                  <a:cs typeface="Inter"/>
                  <a:sym typeface="Inter"/>
                </a:rPr>
                <a:t>LLM / REASONING</a:t>
              </a:r>
              <a:endParaRPr b="1" sz="950">
                <a:solidFill>
                  <a:srgbClr val="1E3A8A"/>
                </a:solidFill>
                <a:latin typeface="Inter"/>
                <a:ea typeface="Inter"/>
                <a:cs typeface="Inter"/>
                <a:sym typeface="Inter"/>
              </a:endParaRPr>
            </a:p>
          </p:txBody>
        </p:sp>
        <p:cxnSp>
          <p:nvCxnSpPr>
            <p:cNvPr id="129" name="Google Shape;129;p20"/>
            <p:cNvCxnSpPr/>
            <p:nvPr/>
          </p:nvCxnSpPr>
          <p:spPr>
            <a:xfrm>
              <a:off x="2524125" y="1885950"/>
              <a:ext cx="571500" cy="0"/>
            </a:xfrm>
            <a:prstGeom prst="straightConnector1">
              <a:avLst/>
            </a:prstGeom>
            <a:solidFill>
              <a:srgbClr val="FFFFFF"/>
            </a:solidFill>
            <a:ln cap="flat" cmpd="sng" w="19050">
              <a:solidFill>
                <a:srgbClr val="DC2626"/>
              </a:solidFill>
              <a:prstDash val="solid"/>
              <a:round/>
              <a:headEnd len="sm" w="sm" type="none"/>
              <a:tailEnd len="sm" w="sm" type="none"/>
            </a:ln>
          </p:spPr>
        </p:cxnSp>
        <p:sp>
          <p:nvSpPr>
            <p:cNvPr id="130" name="Google Shape;130;p20"/>
            <p:cNvSpPr txBox="1"/>
            <p:nvPr/>
          </p:nvSpPr>
          <p:spPr>
            <a:xfrm>
              <a:off x="2524125" y="1733550"/>
              <a:ext cx="5715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553">
                  <a:solidFill>
                    <a:srgbClr val="DC2626"/>
                  </a:solidFill>
                  <a:latin typeface="Inter"/>
                  <a:ea typeface="Inter"/>
                  <a:cs typeface="Inter"/>
                  <a:sym typeface="Inter"/>
                </a:rPr>
                <a:t>NEED ACTION?</a:t>
              </a:r>
              <a:endParaRPr b="1" sz="553">
                <a:solidFill>
                  <a:srgbClr val="DC2626"/>
                </a:solidFill>
                <a:latin typeface="Inter"/>
                <a:ea typeface="Inter"/>
                <a:cs typeface="Inter"/>
                <a:sym typeface="Inter"/>
              </a:endParaRPr>
            </a:p>
          </p:txBody>
        </p:sp>
        <p:sp>
          <p:nvSpPr>
            <p:cNvPr id="131" name="Google Shape;131;p20"/>
            <p:cNvSpPr/>
            <p:nvPr/>
          </p:nvSpPr>
          <p:spPr>
            <a:xfrm>
              <a:off x="3095625" y="1771650"/>
              <a:ext cx="1000200" cy="381000"/>
            </a:xfrm>
            <a:prstGeom prst="roundRect">
              <a:avLst>
                <a:gd fmla="val 15000" name="adj"/>
              </a:avLst>
            </a:prstGeom>
            <a:solidFill>
              <a:srgbClr val="FFFFFF"/>
            </a:solidFill>
            <a:ln cap="flat" cmpd="sng" w="1430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0"/>
            <p:cNvSpPr txBox="1"/>
            <p:nvPr/>
          </p:nvSpPr>
          <p:spPr>
            <a:xfrm>
              <a:off x="3095625" y="1771650"/>
              <a:ext cx="1000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991B1B"/>
                  </a:solidFill>
                  <a:latin typeface="Inter"/>
                  <a:ea typeface="Inter"/>
                  <a:cs typeface="Inter"/>
                  <a:sym typeface="Inter"/>
                </a:rPr>
                <a:t>TOOL / API</a:t>
              </a:r>
              <a:endParaRPr b="1" sz="950">
                <a:solidFill>
                  <a:srgbClr val="991B1B"/>
                </a:solidFill>
                <a:latin typeface="Inter"/>
                <a:ea typeface="Inter"/>
                <a:cs typeface="Inter"/>
                <a:sym typeface="Inter"/>
              </a:endParaRPr>
            </a:p>
          </p:txBody>
        </p:sp>
        <p:sp>
          <p:nvSpPr>
            <p:cNvPr id="133" name="Google Shape;133;p20"/>
            <p:cNvSpPr/>
            <p:nvPr/>
          </p:nvSpPr>
          <p:spPr>
            <a:xfrm>
              <a:off x="1905000" y="2152650"/>
              <a:ext cx="1686000" cy="419100"/>
            </a:xfrm>
            <a:custGeom>
              <a:rect b="b" l="l" r="r" t="t"/>
              <a:pathLst>
                <a:path extrusionOk="0" h="120000" w="120000">
                  <a:moveTo>
                    <a:pt x="120000" y="0"/>
                  </a:moveTo>
                  <a:cubicBezTo>
                    <a:pt x="120000" y="120000"/>
                    <a:pt x="0" y="120000"/>
                    <a:pt x="0" y="92727"/>
                  </a:cubicBezTo>
                </a:path>
              </a:pathLst>
            </a:cu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4" name="Google Shape;134;p20"/>
            <p:cNvCxnSpPr/>
            <p:nvPr/>
          </p:nvCxnSpPr>
          <p:spPr>
            <a:xfrm>
              <a:off x="1905000" y="2152650"/>
              <a:ext cx="0" cy="32400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35" name="Google Shape;135;p20"/>
            <p:cNvSpPr txBox="1"/>
            <p:nvPr/>
          </p:nvSpPr>
          <p:spPr>
            <a:xfrm>
              <a:off x="1333500" y="2228850"/>
              <a:ext cx="5715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553">
                  <a:solidFill>
                    <a:srgbClr val="2563EB"/>
                  </a:solidFill>
                  <a:latin typeface="Inter"/>
                  <a:ea typeface="Inter"/>
                  <a:cs typeface="Inter"/>
                  <a:sym typeface="Inter"/>
                </a:rPr>
                <a:t>JUST ANSWER?</a:t>
              </a:r>
              <a:endParaRPr b="1" sz="553">
                <a:solidFill>
                  <a:srgbClr val="2563EB"/>
                </a:solidFill>
                <a:latin typeface="Inter"/>
                <a:ea typeface="Inter"/>
                <a:cs typeface="Inter"/>
                <a:sym typeface="Inter"/>
              </a:endParaRPr>
            </a:p>
          </p:txBody>
        </p:sp>
        <p:sp>
          <p:nvSpPr>
            <p:cNvPr id="136" name="Google Shape;136;p20"/>
            <p:cNvSpPr/>
            <p:nvPr/>
          </p:nvSpPr>
          <p:spPr>
            <a:xfrm>
              <a:off x="1571625" y="2476500"/>
              <a:ext cx="1238400" cy="342900"/>
            </a:xfrm>
            <a:prstGeom prst="roundRect">
              <a:avLst>
                <a:gd fmla="val 16666"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20"/>
            <p:cNvSpPr txBox="1"/>
            <p:nvPr/>
          </p:nvSpPr>
          <p:spPr>
            <a:xfrm>
              <a:off x="1571625" y="2476500"/>
              <a:ext cx="1238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334155"/>
                  </a:solidFill>
                  <a:latin typeface="Inter"/>
                  <a:ea typeface="Inter"/>
                  <a:cs typeface="Inter"/>
                  <a:sym typeface="Inter"/>
                </a:rPr>
                <a:t>TTS</a:t>
              </a:r>
              <a:endParaRPr b="1" sz="950">
                <a:solidFill>
                  <a:srgbClr val="334155"/>
                </a:solidFill>
                <a:latin typeface="Inter"/>
                <a:ea typeface="Inter"/>
                <a:cs typeface="Inter"/>
                <a:sym typeface="Inter"/>
              </a:endParaRPr>
            </a:p>
          </p:txBody>
        </p:sp>
        <p:cxnSp>
          <p:nvCxnSpPr>
            <p:cNvPr id="138" name="Google Shape;138;p20"/>
            <p:cNvCxnSpPr/>
            <p:nvPr/>
          </p:nvCxnSpPr>
          <p:spPr>
            <a:xfrm>
              <a:off x="2190750" y="2819400"/>
              <a:ext cx="0" cy="2667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39" name="Google Shape;139;p20"/>
            <p:cNvSpPr/>
            <p:nvPr/>
          </p:nvSpPr>
          <p:spPr>
            <a:xfrm>
              <a:off x="1619250" y="3086100"/>
              <a:ext cx="1143000" cy="266700"/>
            </a:xfrm>
            <a:prstGeom prst="roundRect">
              <a:avLst>
                <a:gd fmla="val 21428"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20"/>
            <p:cNvSpPr txBox="1"/>
            <p:nvPr/>
          </p:nvSpPr>
          <p:spPr>
            <a:xfrm>
              <a:off x="1619250" y="3086100"/>
              <a:ext cx="1143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USER</a:t>
              </a:r>
              <a:endParaRPr b="0" sz="950">
                <a:solidFill>
                  <a:srgbClr val="334155"/>
                </a:solidFill>
                <a:latin typeface="Inter SemiBold"/>
                <a:ea typeface="Inter SemiBold"/>
                <a:cs typeface="Inter SemiBold"/>
                <a:sym typeface="Inter SemiBold"/>
              </a:endParaRPr>
            </a:p>
          </p:txBody>
        </p:sp>
      </p:grpSp>
      <p:grpSp>
        <p:nvGrpSpPr>
          <p:cNvPr id="141" name="Google Shape;141;p20"/>
          <p:cNvGrpSpPr/>
          <p:nvPr/>
        </p:nvGrpSpPr>
        <p:grpSpPr>
          <a:xfrm>
            <a:off x="285750" y="1285875"/>
            <a:ext cx="2095575" cy="1295400"/>
            <a:chOff x="0" y="0"/>
            <a:chExt cx="2095575" cy="1295400"/>
          </a:xfrm>
        </p:grpSpPr>
        <p:sp>
          <p:nvSpPr>
            <p:cNvPr id="142" name="Google Shape;142;p20"/>
            <p:cNvSpPr/>
            <p:nvPr/>
          </p:nvSpPr>
          <p:spPr>
            <a:xfrm>
              <a:off x="0" y="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20"/>
            <p:cNvSpPr txBox="1"/>
            <p:nvPr/>
          </p:nvSpPr>
          <p:spPr>
            <a:xfrm>
              <a:off x="0" y="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MEMORY</a:t>
              </a:r>
              <a:endParaRPr b="0" sz="850">
                <a:solidFill>
                  <a:srgbClr val="334155"/>
                </a:solidFill>
                <a:latin typeface="Inter SemiBold"/>
                <a:ea typeface="Inter SemiBold"/>
                <a:cs typeface="Inter SemiBold"/>
                <a:sym typeface="Inter SemiBold"/>
              </a:endParaRPr>
            </a:p>
          </p:txBody>
        </p:sp>
        <p:sp>
          <p:nvSpPr>
            <p:cNvPr id="144" name="Google Shape;144;p20"/>
            <p:cNvSpPr/>
            <p:nvPr/>
          </p:nvSpPr>
          <p:spPr>
            <a:xfrm>
              <a:off x="0" y="47625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0"/>
            <p:cNvSpPr txBox="1"/>
            <p:nvPr/>
          </p:nvSpPr>
          <p:spPr>
            <a:xfrm>
              <a:off x="0" y="47625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CONTEXT</a:t>
              </a:r>
              <a:endParaRPr b="0" sz="850">
                <a:solidFill>
                  <a:srgbClr val="334155"/>
                </a:solidFill>
                <a:latin typeface="Inter SemiBold"/>
                <a:ea typeface="Inter SemiBold"/>
                <a:cs typeface="Inter SemiBold"/>
                <a:sym typeface="Inter SemiBold"/>
              </a:endParaRPr>
            </a:p>
          </p:txBody>
        </p:sp>
        <p:sp>
          <p:nvSpPr>
            <p:cNvPr id="146" name="Google Shape;146;p20"/>
            <p:cNvSpPr/>
            <p:nvPr/>
          </p:nvSpPr>
          <p:spPr>
            <a:xfrm>
              <a:off x="0" y="95250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20"/>
            <p:cNvSpPr txBox="1"/>
            <p:nvPr/>
          </p:nvSpPr>
          <p:spPr>
            <a:xfrm>
              <a:off x="0" y="95250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GUARDRAILS</a:t>
              </a:r>
              <a:endParaRPr b="0" sz="850">
                <a:solidFill>
                  <a:srgbClr val="334155"/>
                </a:solidFill>
                <a:latin typeface="Inter SemiBold"/>
                <a:ea typeface="Inter SemiBold"/>
                <a:cs typeface="Inter SemiBold"/>
                <a:sym typeface="Inter SemiBold"/>
              </a:endParaRPr>
            </a:p>
          </p:txBody>
        </p:sp>
        <p:sp>
          <p:nvSpPr>
            <p:cNvPr id="148" name="Google Shape;148;p20"/>
            <p:cNvSpPr/>
            <p:nvPr/>
          </p:nvSpPr>
          <p:spPr>
            <a:xfrm>
              <a:off x="1047750" y="171450"/>
              <a:ext cx="428700" cy="476400"/>
            </a:xfrm>
            <a:custGeom>
              <a:rect b="b" l="l" r="r" t="t"/>
              <a:pathLst>
                <a:path extrusionOk="0" h="120000" w="120000">
                  <a:moveTo>
                    <a:pt x="0" y="0"/>
                  </a:moveTo>
                  <a:cubicBezTo>
                    <a:pt x="80000" y="0"/>
                    <a:pt x="80000" y="120000"/>
                    <a:pt x="120000" y="120000"/>
                  </a:cubicBezTo>
                </a:path>
              </a:pathLst>
            </a:custGeom>
            <a:solidFill>
              <a:srgbClr val="000000">
                <a:alpha val="0"/>
              </a:srgbClr>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9" name="Google Shape;149;p20"/>
            <p:cNvCxnSpPr/>
            <p:nvPr/>
          </p:nvCxnSpPr>
          <p:spPr>
            <a:xfrm>
              <a:off x="1047750" y="647700"/>
              <a:ext cx="428700" cy="0"/>
            </a:xfrm>
            <a:prstGeom prst="straightConnector1">
              <a:avLst/>
            </a:prstGeom>
            <a:solidFill>
              <a:srgbClr val="FFFFFF"/>
            </a:solidFill>
            <a:ln cap="flat" cmpd="sng" w="14300">
              <a:solidFill>
                <a:srgbClr val="94A3B8"/>
              </a:solidFill>
              <a:prstDash val="solid"/>
              <a:round/>
              <a:headEnd len="sm" w="sm" type="none"/>
              <a:tailEnd len="sm" w="sm" type="none"/>
            </a:ln>
          </p:spPr>
        </p:cxnSp>
        <p:sp>
          <p:nvSpPr>
            <p:cNvPr id="150" name="Google Shape;150;p20"/>
            <p:cNvSpPr/>
            <p:nvPr/>
          </p:nvSpPr>
          <p:spPr>
            <a:xfrm>
              <a:off x="1047750" y="647700"/>
              <a:ext cx="428700" cy="476400"/>
            </a:xfrm>
            <a:custGeom>
              <a:rect b="b" l="l" r="r" t="t"/>
              <a:pathLst>
                <a:path extrusionOk="0" h="120000" w="120000">
                  <a:moveTo>
                    <a:pt x="0" y="120000"/>
                  </a:moveTo>
                  <a:cubicBezTo>
                    <a:pt x="80000" y="120000"/>
                    <a:pt x="80000" y="0"/>
                    <a:pt x="120000" y="0"/>
                  </a:cubicBezTo>
                </a:path>
              </a:pathLst>
            </a:custGeom>
            <a:solidFill>
              <a:srgbClr val="000000">
                <a:alpha val="0"/>
              </a:srgbClr>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1" name="Google Shape;151;p20"/>
            <p:cNvCxnSpPr/>
            <p:nvPr/>
          </p:nvCxnSpPr>
          <p:spPr>
            <a:xfrm>
              <a:off x="1476375" y="647700"/>
              <a:ext cx="6192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52" name="Google Shape;152;p20"/>
            <p:cNvSpPr txBox="1"/>
            <p:nvPr/>
          </p:nvSpPr>
          <p:spPr>
            <a:xfrm>
              <a:off x="1238250" y="457200"/>
              <a:ext cx="7620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00">
                  <a:solidFill>
                    <a:srgbClr val="1E40AF"/>
                  </a:solidFill>
                  <a:latin typeface="Inter"/>
                  <a:ea typeface="Inter"/>
                  <a:cs typeface="Inter"/>
                  <a:sym typeface="Inter"/>
                </a:rPr>
                <a:t>SESSION STATE</a:t>
              </a:r>
              <a:endParaRPr b="1" sz="700">
                <a:solidFill>
                  <a:srgbClr val="1E40AF"/>
                </a:solidFill>
                <a:latin typeface="Inter"/>
                <a:ea typeface="Inter"/>
                <a:cs typeface="Inter"/>
                <a:sym typeface="Inter"/>
              </a:endParaRPr>
            </a:p>
          </p:txBody>
        </p:sp>
      </p:grpSp>
      <p:grpSp>
        <p:nvGrpSpPr>
          <p:cNvPr id="153" name="Google Shape;153;p20"/>
          <p:cNvGrpSpPr/>
          <p:nvPr/>
        </p:nvGrpSpPr>
        <p:grpSpPr>
          <a:xfrm>
            <a:off x="6715125" y="1857375"/>
            <a:ext cx="2143200" cy="1238400"/>
            <a:chOff x="-238125" y="0"/>
            <a:chExt cx="2143200" cy="1238400"/>
          </a:xfrm>
        </p:grpSpPr>
        <p:cxnSp>
          <p:nvCxnSpPr>
            <p:cNvPr id="154" name="Google Shape;154;p20"/>
            <p:cNvCxnSpPr/>
            <p:nvPr/>
          </p:nvCxnSpPr>
          <p:spPr>
            <a:xfrm>
              <a:off x="-190500" y="619125"/>
              <a:ext cx="3333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55" name="Google Shape;155;p20"/>
            <p:cNvSpPr txBox="1"/>
            <p:nvPr/>
          </p:nvSpPr>
          <p:spPr>
            <a:xfrm>
              <a:off x="-238125" y="438150"/>
              <a:ext cx="3810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463">
                  <a:solidFill>
                    <a:srgbClr val="2563EB"/>
                  </a:solidFill>
                  <a:latin typeface="Inter"/>
                  <a:ea typeface="Inter"/>
                  <a:cs typeface="Inter"/>
                  <a:sym typeface="Inter"/>
                </a:rPr>
                <a:t>TELEMETRY</a:t>
              </a:r>
              <a:endParaRPr b="1" sz="463">
                <a:solidFill>
                  <a:srgbClr val="2563EB"/>
                </a:solidFill>
                <a:latin typeface="Inter"/>
                <a:ea typeface="Inter"/>
                <a:cs typeface="Inter"/>
                <a:sym typeface="Inter"/>
              </a:endParaRPr>
            </a:p>
          </p:txBody>
        </p:sp>
        <p:sp>
          <p:nvSpPr>
            <p:cNvPr id="156" name="Google Shape;156;p20"/>
            <p:cNvSpPr/>
            <p:nvPr/>
          </p:nvSpPr>
          <p:spPr>
            <a:xfrm>
              <a:off x="142875" y="0"/>
              <a:ext cx="1762200" cy="1238400"/>
            </a:xfrm>
            <a:prstGeom prst="roundRect">
              <a:avLst>
                <a:gd fmla="val 6153"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20"/>
            <p:cNvSpPr txBox="1"/>
            <p:nvPr/>
          </p:nvSpPr>
          <p:spPr>
            <a:xfrm>
              <a:off x="142875" y="76200"/>
              <a:ext cx="17622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0F172A"/>
                  </a:solidFill>
                  <a:latin typeface="Inter"/>
                  <a:ea typeface="Inter"/>
                  <a:cs typeface="Inter"/>
                  <a:sym typeface="Inter"/>
                </a:rPr>
                <a:t>OBSERVABILITY DASHBOARD</a:t>
              </a:r>
              <a:endParaRPr b="1" sz="800">
                <a:solidFill>
                  <a:srgbClr val="0F172A"/>
                </a:solidFill>
                <a:latin typeface="Inter"/>
                <a:ea typeface="Inter"/>
                <a:cs typeface="Inter"/>
                <a:sym typeface="Inter"/>
              </a:endParaRPr>
            </a:p>
          </p:txBody>
        </p:sp>
        <p:sp>
          <p:nvSpPr>
            <p:cNvPr id="158" name="Google Shape;158;p20"/>
            <p:cNvSpPr/>
            <p:nvPr/>
          </p:nvSpPr>
          <p:spPr>
            <a:xfrm>
              <a:off x="257175" y="342900"/>
              <a:ext cx="1533600" cy="781200"/>
            </a:xfrm>
            <a:prstGeom prst="roundRect">
              <a:avLst>
                <a:gd fmla="val 487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20"/>
            <p:cNvSpPr/>
            <p:nvPr/>
          </p:nvSpPr>
          <p:spPr>
            <a:xfrm>
              <a:off x="333375" y="419100"/>
              <a:ext cx="647700" cy="285900"/>
            </a:xfrm>
            <a:prstGeom prst="roundRect">
              <a:avLst>
                <a:gd fmla="val 133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20"/>
            <p:cNvSpPr txBox="1"/>
            <p:nvPr/>
          </p:nvSpPr>
          <p:spPr>
            <a:xfrm>
              <a:off x="333375" y="419100"/>
              <a:ext cx="647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00">
                  <a:solidFill>
                    <a:srgbClr val="475569"/>
                  </a:solidFill>
                  <a:latin typeface="Inter SemiBold"/>
                  <a:ea typeface="Inter SemiBold"/>
                  <a:cs typeface="Inter SemiBold"/>
                  <a:sym typeface="Inter SemiBold"/>
                </a:rPr>
                <a:t>Latency</a:t>
              </a:r>
              <a:endParaRPr b="0" sz="600">
                <a:solidFill>
                  <a:srgbClr val="475569"/>
                </a:solidFill>
                <a:latin typeface="Inter SemiBold"/>
                <a:ea typeface="Inter SemiBold"/>
                <a:cs typeface="Inter SemiBold"/>
                <a:sym typeface="Inter SemiBold"/>
              </a:endParaRPr>
            </a:p>
            <a:p>
              <a:pPr indent="0" lvl="0" marL="0" rtl="0" algn="ctr">
                <a:spcBef>
                  <a:spcPts val="0"/>
                </a:spcBef>
                <a:spcAft>
                  <a:spcPts val="0"/>
                </a:spcAft>
                <a:buNone/>
              </a:pPr>
              <a:r>
                <a:rPr b="1" lang="en-GB" sz="700">
                  <a:solidFill>
                    <a:srgbClr val="1E40AF"/>
                  </a:solidFill>
                  <a:latin typeface="Inter"/>
                  <a:ea typeface="Inter"/>
                  <a:cs typeface="Inter"/>
                  <a:sym typeface="Inter"/>
                </a:rPr>
                <a:t>180ms</a:t>
              </a:r>
              <a:endParaRPr b="1" sz="700">
                <a:solidFill>
                  <a:srgbClr val="1E40AF"/>
                </a:solidFill>
                <a:latin typeface="Inter"/>
                <a:ea typeface="Inter"/>
                <a:cs typeface="Inter"/>
                <a:sym typeface="Inter"/>
              </a:endParaRPr>
            </a:p>
          </p:txBody>
        </p:sp>
        <p:sp>
          <p:nvSpPr>
            <p:cNvPr id="161" name="Google Shape;161;p20"/>
            <p:cNvSpPr/>
            <p:nvPr/>
          </p:nvSpPr>
          <p:spPr>
            <a:xfrm>
              <a:off x="1066800" y="419100"/>
              <a:ext cx="647700" cy="285900"/>
            </a:xfrm>
            <a:prstGeom prst="roundRect">
              <a:avLst>
                <a:gd fmla="val 13333"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20"/>
            <p:cNvSpPr txBox="1"/>
            <p:nvPr/>
          </p:nvSpPr>
          <p:spPr>
            <a:xfrm>
              <a:off x="1066800" y="419100"/>
              <a:ext cx="647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00">
                  <a:solidFill>
                    <a:srgbClr val="475569"/>
                  </a:solidFill>
                  <a:latin typeface="Inter SemiBold"/>
                  <a:ea typeface="Inter SemiBold"/>
                  <a:cs typeface="Inter SemiBold"/>
                  <a:sym typeface="Inter SemiBold"/>
                </a:rPr>
                <a:t>Barge-ins</a:t>
              </a:r>
              <a:endParaRPr b="0" sz="600">
                <a:solidFill>
                  <a:srgbClr val="475569"/>
                </a:solidFill>
                <a:latin typeface="Inter SemiBold"/>
                <a:ea typeface="Inter SemiBold"/>
                <a:cs typeface="Inter SemiBold"/>
                <a:sym typeface="Inter SemiBold"/>
              </a:endParaRPr>
            </a:p>
            <a:p>
              <a:pPr indent="0" lvl="0" marL="0" rtl="0" algn="ctr">
                <a:spcBef>
                  <a:spcPts val="0"/>
                </a:spcBef>
                <a:spcAft>
                  <a:spcPts val="0"/>
                </a:spcAft>
                <a:buNone/>
              </a:pPr>
              <a:r>
                <a:rPr b="1" lang="en-GB" sz="700">
                  <a:solidFill>
                    <a:srgbClr val="991B1B"/>
                  </a:solidFill>
                  <a:latin typeface="Inter"/>
                  <a:ea typeface="Inter"/>
                  <a:cs typeface="Inter"/>
                  <a:sym typeface="Inter"/>
                </a:rPr>
                <a:t>3 Handled</a:t>
              </a:r>
              <a:endParaRPr b="1" sz="700">
                <a:solidFill>
                  <a:srgbClr val="991B1B"/>
                </a:solidFill>
                <a:latin typeface="Inter"/>
                <a:ea typeface="Inter"/>
                <a:cs typeface="Inter"/>
                <a:sym typeface="Inter"/>
              </a:endParaRPr>
            </a:p>
          </p:txBody>
        </p:sp>
        <p:sp>
          <p:nvSpPr>
            <p:cNvPr id="163" name="Google Shape;163;p20"/>
            <p:cNvSpPr/>
            <p:nvPr/>
          </p:nvSpPr>
          <p:spPr>
            <a:xfrm>
              <a:off x="333375" y="762000"/>
              <a:ext cx="1381200" cy="266700"/>
            </a:xfrm>
            <a:prstGeom prst="roundRect">
              <a:avLst>
                <a:gd fmla="val 14285"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0"/>
            <p:cNvSpPr txBox="1"/>
            <p:nvPr/>
          </p:nvSpPr>
          <p:spPr>
            <a:xfrm>
              <a:off x="381000" y="762000"/>
              <a:ext cx="12858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600">
                  <a:solidFill>
                    <a:srgbClr val="475569"/>
                  </a:solidFill>
                  <a:latin typeface="Inter"/>
                  <a:ea typeface="Inter"/>
                  <a:cs typeface="Inter"/>
                  <a:sym typeface="Inter"/>
                </a:rPr>
                <a:t>• STT: Deepgram Nova-2</a:t>
              </a:r>
              <a:endParaRPr sz="600">
                <a:solidFill>
                  <a:srgbClr val="475569"/>
                </a:solidFill>
                <a:latin typeface="Inter"/>
                <a:ea typeface="Inter"/>
                <a:cs typeface="Inter"/>
                <a:sym typeface="Inter"/>
              </a:endParaRPr>
            </a:p>
            <a:p>
              <a:pPr indent="0" lvl="0" marL="0" rtl="0" algn="l">
                <a:spcBef>
                  <a:spcPts val="0"/>
                </a:spcBef>
                <a:spcAft>
                  <a:spcPts val="0"/>
                </a:spcAft>
                <a:buNone/>
              </a:pPr>
              <a:r>
                <a:rPr lang="en-GB" sz="600">
                  <a:solidFill>
                    <a:srgbClr val="475569"/>
                  </a:solidFill>
                  <a:latin typeface="Inter"/>
                  <a:ea typeface="Inter"/>
                  <a:cs typeface="Inter"/>
                  <a:sym typeface="Inter"/>
                </a:rPr>
                <a:t>• LLM: GPT-4o Realtime</a:t>
              </a:r>
              <a:endParaRPr sz="600">
                <a:solidFill>
                  <a:srgbClr val="475569"/>
                </a:solidFill>
                <a:latin typeface="Inter"/>
                <a:ea typeface="Inter"/>
                <a:cs typeface="Inter"/>
                <a:sym typeface="Inter"/>
              </a:endParaRPr>
            </a:p>
          </p:txBody>
        </p:sp>
      </p:grpSp>
      <p:grpSp>
        <p:nvGrpSpPr>
          <p:cNvPr id="165" name="Google Shape;165;p20"/>
          <p:cNvGrpSpPr/>
          <p:nvPr/>
        </p:nvGrpSpPr>
        <p:grpSpPr>
          <a:xfrm>
            <a:off x="276225" y="3800475"/>
            <a:ext cx="3352800" cy="1066800"/>
            <a:chOff x="-9525" y="-9525"/>
            <a:chExt cx="3352800" cy="1066800"/>
          </a:xfrm>
        </p:grpSpPr>
        <p:pic>
          <p:nvPicPr>
            <p:cNvPr id="166" name="Google Shape;166;p20"/>
            <p:cNvPicPr preferRelativeResize="0"/>
            <p:nvPr/>
          </p:nvPicPr>
          <p:blipFill rotWithShape="1">
            <a:blip r:embed="rId3">
              <a:alphaModFix/>
            </a:blip>
            <a:srcRect b="0" l="0" r="0" t="0"/>
            <a:stretch/>
          </p:blipFill>
          <p:spPr>
            <a:xfrm>
              <a:off x="-9525" y="-9525"/>
              <a:ext cx="3352800" cy="1066800"/>
            </a:xfrm>
            <a:prstGeom prst="rect">
              <a:avLst/>
            </a:prstGeom>
            <a:noFill/>
            <a:ln>
              <a:noFill/>
            </a:ln>
          </p:spPr>
        </p:pic>
        <p:sp>
          <p:nvSpPr>
            <p:cNvPr id="167" name="Google Shape;167;p20"/>
            <p:cNvSpPr txBox="1"/>
            <p:nvPr/>
          </p:nvSpPr>
          <p:spPr>
            <a:xfrm>
              <a:off x="152400" y="114300"/>
              <a:ext cx="30291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900">
                  <a:solidFill>
                    <a:srgbClr val="0F172A"/>
                  </a:solidFill>
                  <a:latin typeface="Inter ExtraBold"/>
                  <a:ea typeface="Inter ExtraBold"/>
                  <a:cs typeface="Inter ExtraBold"/>
                  <a:sym typeface="Inter ExtraBold"/>
                </a:rPr>
                <a:t>THE LIVEKIT ADVANTAGE</a:t>
              </a:r>
              <a:endParaRPr b="0" sz="900">
                <a:solidFill>
                  <a:srgbClr val="0F172A"/>
                </a:solidFill>
                <a:latin typeface="Inter ExtraBold"/>
                <a:ea typeface="Inter ExtraBold"/>
                <a:cs typeface="Inter ExtraBold"/>
                <a:sym typeface="Inter ExtraBold"/>
              </a:endParaRPr>
            </a:p>
            <a:p>
              <a:pPr indent="0" lvl="0" marL="0" rtl="0" algn="l">
                <a:spcBef>
                  <a:spcPts val="450"/>
                </a:spcBef>
                <a:spcAft>
                  <a:spcPts val="0"/>
                </a:spcAft>
                <a:buNone/>
              </a:pPr>
              <a:r>
                <a:rPr b="0" lang="en-GB" sz="800">
                  <a:solidFill>
                    <a:srgbClr val="334155"/>
                  </a:solidFill>
                  <a:latin typeface="Inter"/>
                  <a:ea typeface="Inter"/>
                  <a:cs typeface="Inter"/>
                  <a:sym typeface="Inter"/>
                </a:rPr>
                <a:t>1. Real-time WebRTC Transport &amp; Orchestration.</a:t>
              </a:r>
              <a:endParaRPr b="0" sz="800">
                <a:solidFill>
                  <a:srgbClr val="334155"/>
                </a:solidFill>
                <a:latin typeface="Inter"/>
                <a:ea typeface="Inter"/>
                <a:cs typeface="Inter"/>
                <a:sym typeface="Inter"/>
              </a:endParaRPr>
            </a:p>
            <a:p>
              <a:pPr indent="0" lvl="0" marL="0" rtl="0" algn="l">
                <a:spcBef>
                  <a:spcPts val="300"/>
                </a:spcBef>
                <a:spcAft>
                  <a:spcPts val="0"/>
                </a:spcAft>
                <a:buNone/>
              </a:pPr>
              <a:r>
                <a:rPr b="0" lang="en-GB" sz="800">
                  <a:solidFill>
                    <a:srgbClr val="334155"/>
                  </a:solidFill>
                  <a:latin typeface="Inter"/>
                  <a:ea typeface="Inter"/>
                  <a:cs typeface="Inter"/>
                  <a:sym typeface="Inter"/>
                </a:rPr>
                <a:t>2. Low-Latency Streaming (STT-LLM-TTS).</a:t>
              </a:r>
              <a:endParaRPr b="0" sz="800">
                <a:solidFill>
                  <a:srgbClr val="334155"/>
                </a:solidFill>
                <a:latin typeface="Inter"/>
                <a:ea typeface="Inter"/>
                <a:cs typeface="Inter"/>
                <a:sym typeface="Inter"/>
              </a:endParaRPr>
            </a:p>
            <a:p>
              <a:pPr indent="0" lvl="0" marL="0" rtl="0" algn="l">
                <a:spcBef>
                  <a:spcPts val="300"/>
                </a:spcBef>
                <a:spcAft>
                  <a:spcPts val="0"/>
                </a:spcAft>
                <a:buNone/>
              </a:pPr>
              <a:r>
                <a:rPr b="0" lang="en-GB" sz="800">
                  <a:solidFill>
                    <a:srgbClr val="2563EB"/>
                  </a:solidFill>
                  <a:latin typeface="Inter SemiBold"/>
                  <a:ea typeface="Inter SemiBold"/>
                  <a:cs typeface="Inter SemiBold"/>
                  <a:sym typeface="Inter SemiBold"/>
                </a:rPr>
                <a:t>3. Integrated State, Context &amp; Interruption Handling.</a:t>
              </a:r>
              <a:endParaRPr b="0" sz="800">
                <a:solidFill>
                  <a:srgbClr val="2563EB"/>
                </a:solidFill>
                <a:latin typeface="Inter SemiBold"/>
                <a:ea typeface="Inter SemiBold"/>
                <a:cs typeface="Inter SemiBold"/>
                <a:sym typeface="Inter SemiBold"/>
              </a:endParaRPr>
            </a:p>
          </p:txBody>
        </p:sp>
      </p:grpSp>
      <p:grpSp>
        <p:nvGrpSpPr>
          <p:cNvPr id="168" name="Google Shape;168;p20"/>
          <p:cNvGrpSpPr/>
          <p:nvPr/>
        </p:nvGrpSpPr>
        <p:grpSpPr>
          <a:xfrm>
            <a:off x="7810500" y="4619625"/>
            <a:ext cx="1066950" cy="314400"/>
            <a:chOff x="0" y="0"/>
            <a:chExt cx="1066950" cy="314400"/>
          </a:xfrm>
        </p:grpSpPr>
        <p:pic>
          <p:nvPicPr>
            <p:cNvPr id="169" name="Google Shape;169;p20"/>
            <p:cNvPicPr preferRelativeResize="0"/>
            <p:nvPr/>
          </p:nvPicPr>
          <p:blipFill/>
          <p:spPr>
            <a:xfrm>
              <a:off x="0" y="0"/>
              <a:ext cx="342900" cy="314400"/>
            </a:xfrm>
            <a:prstGeom prst="roundRect">
              <a:avLst>
                <a:gd fmla="val 12121" name="adj"/>
              </a:avLst>
            </a:prstGeom>
            <a:noFill/>
            <a:ln>
              <a:noFill/>
            </a:ln>
          </p:spPr>
        </p:pic>
        <p:sp>
          <p:nvSpPr>
            <p:cNvPr id="170" name="Google Shape;170;p20"/>
            <p:cNvSpPr txBox="1"/>
            <p:nvPr/>
          </p:nvSpPr>
          <p:spPr>
            <a:xfrm>
              <a:off x="400050" y="0"/>
              <a:ext cx="666900" cy="3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200">
                  <a:solidFill>
                    <a:srgbClr val="0F172A"/>
                  </a:solidFill>
                  <a:latin typeface="Inter ExtraBold"/>
                  <a:ea typeface="Inter ExtraBold"/>
                  <a:cs typeface="Inter ExtraBold"/>
                  <a:sym typeface="Inter ExtraBold"/>
                </a:rPr>
                <a:t>LiveKit</a:t>
              </a:r>
              <a:endParaRPr b="0" sz="1200">
                <a:solidFill>
                  <a:srgbClr val="0F172A"/>
                </a:solidFill>
                <a:latin typeface="Inter ExtraBold"/>
                <a:ea typeface="Inter ExtraBold"/>
                <a:cs typeface="Inter ExtraBold"/>
                <a:sym typeface="Inter Extra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p:nvPr/>
        </p:nvSpPr>
        <p:spPr>
          <a:xfrm>
            <a:off x="1274125" y="2016325"/>
            <a:ext cx="7084077" cy="12929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Thank you!</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2"/>
          <p:cNvSpPr txBox="1"/>
          <p:nvPr/>
        </p:nvSpPr>
        <p:spPr>
          <a:xfrm>
            <a:off x="476250" y="848650"/>
            <a:ext cx="648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https://colab.research.google.com/drive/1jYR5QGbUueBZLUVSBd4zg2e3MaaXl7bF?usp=sharing</a:t>
            </a:r>
            <a:endParaRPr/>
          </a:p>
        </p:txBody>
      </p:sp>
      <p:sp>
        <p:nvSpPr>
          <p:cNvPr id="181" name="Google Shape;181;p22"/>
          <p:cNvSpPr txBox="1"/>
          <p:nvPr/>
        </p:nvSpPr>
        <p:spPr>
          <a:xfrm>
            <a:off x="377025" y="386950"/>
            <a:ext cx="5715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rPr>
              <a:t>Colab Notebook</a:t>
            </a:r>
            <a:endParaRPr sz="1800">
              <a:solidFill>
                <a:schemeClr val="dk2"/>
              </a:solidFill>
            </a:endParaRPr>
          </a:p>
        </p:txBody>
      </p:sp>
      <p:sp>
        <p:nvSpPr>
          <p:cNvPr id="182" name="Google Shape;182;p22"/>
          <p:cNvSpPr txBox="1"/>
          <p:nvPr/>
        </p:nvSpPr>
        <p:spPr>
          <a:xfrm>
            <a:off x="535800" y="2171550"/>
            <a:ext cx="713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3" name="Google Shape;183;p22"/>
          <p:cNvSpPr txBox="1"/>
          <p:nvPr/>
        </p:nvSpPr>
        <p:spPr>
          <a:xfrm>
            <a:off x="416725" y="1636950"/>
            <a:ext cx="8443500" cy="53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To create an account on Livekit, sign up on </a:t>
            </a:r>
            <a:r>
              <a:rPr lang="en-GB">
                <a:solidFill>
                  <a:schemeClr val="dk1"/>
                </a:solidFill>
              </a:rPr>
              <a:t>https://cloud.livekit.io/</a:t>
            </a:r>
            <a:endParaRPr sz="1800">
              <a:solidFill>
                <a:schemeClr val="dk2"/>
              </a:solidFill>
            </a:endParaRPr>
          </a:p>
        </p:txBody>
      </p:sp>
      <p:sp>
        <p:nvSpPr>
          <p:cNvPr id="184" name="Google Shape;184;p22"/>
          <p:cNvSpPr txBox="1"/>
          <p:nvPr/>
        </p:nvSpPr>
        <p:spPr>
          <a:xfrm>
            <a:off x="416725" y="32146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5" name="Google Shape;185;p22"/>
          <p:cNvSpPr txBox="1"/>
          <p:nvPr/>
        </p:nvSpPr>
        <p:spPr>
          <a:xfrm>
            <a:off x="416725" y="2865450"/>
            <a:ext cx="7878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accent3"/>
                </a:solidFill>
              </a:rPr>
              <a:t>Spreadsheet link: </a:t>
            </a:r>
            <a:r>
              <a:rPr lang="en-GB"/>
              <a:t>https://docs.google.com/spreadsheets/d/1OglCBcP7h2xMuteumovEY81eh_-bpr-hp_vyQ2lnWSs/edit?usp=sharing</a:t>
            </a:r>
            <a:endParaRPr/>
          </a:p>
        </p:txBody>
      </p:sp>
      <p:sp>
        <p:nvSpPr>
          <p:cNvPr id="186" name="Google Shape;186;p22"/>
          <p:cNvSpPr txBox="1"/>
          <p:nvPr/>
        </p:nvSpPr>
        <p:spPr>
          <a:xfrm>
            <a:off x="476250" y="2191950"/>
            <a:ext cx="61713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rPr>
              <a:t>Frontend URL: </a:t>
            </a:r>
            <a:r>
              <a:rPr lang="en-GB">
                <a:solidFill>
                  <a:schemeClr val="dk1"/>
                </a:solidFill>
              </a:rPr>
              <a:t>https://tripmate-ai-blond.vercel.app/</a:t>
            </a:r>
            <a:endParaRPr>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