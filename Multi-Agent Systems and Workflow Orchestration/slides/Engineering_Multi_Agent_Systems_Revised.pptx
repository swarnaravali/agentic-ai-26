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6f994d89d42e4" /><Relationship Type="http://schemas.openxmlformats.org/officeDocument/2006/relationships/extended-properties" Target="/docProps/app.xml" Id="R99b84ede6d544863" /><Relationship Type="http://schemas.openxmlformats.org/officeDocument/2006/relationships/officeDocument" Target="/ppt/presentation.xml" Id="R64215f0476c64a8d" /></Relationships>
</file>

<file path=ppt/presentation.xml><?xml version="1.0" encoding="utf-8"?>
<p:presentation xmlns:p="http://schemas.openxmlformats.org/presentationml/2006/main">
  <p:sldMasterIdLst>
    <p:sldMasterId xmlns:r="http://schemas.openxmlformats.org/officeDocument/2006/relationships" id="2147483648" r:id="Rc483f5ddb2224763"/>
  </p:sldMasterIdLst>
  <p:notesMasterIdLst>
    <p:notesMasterId xmlns:r="http://schemas.openxmlformats.org/officeDocument/2006/relationships" r:id="R816bda428ad24590"/>
  </p:notesMasterIdLst>
  <p:sldIdLst>
    <p:sldId xmlns:r="http://schemas.openxmlformats.org/officeDocument/2006/relationships" id="256" r:id="Rc8019688e8d948d7"/>
    <p:sldId xmlns:r="http://schemas.openxmlformats.org/officeDocument/2006/relationships" id="257" r:id="R899709d8e714425f"/>
    <p:sldId xmlns:r="http://schemas.openxmlformats.org/officeDocument/2006/relationships" id="258" r:id="R35eef54840064c18"/>
    <p:sldId xmlns:r="http://schemas.openxmlformats.org/officeDocument/2006/relationships" id="259" r:id="R282ee66cb8b64345"/>
    <p:sldId xmlns:r="http://schemas.openxmlformats.org/officeDocument/2006/relationships" id="260" r:id="R1e06929ff38c4dfc"/>
    <p:sldId xmlns:r="http://schemas.openxmlformats.org/officeDocument/2006/relationships" id="261" r:id="R2f55ecb51ec14aad"/>
    <p:sldId xmlns:r="http://schemas.openxmlformats.org/officeDocument/2006/relationships" id="262" r:id="Rbffad2f8c39e49e4"/>
    <p:sldId xmlns:r="http://schemas.openxmlformats.org/officeDocument/2006/relationships" id="263" r:id="R4ecb9c7c47514fa9"/>
    <p:sldId xmlns:r="http://schemas.openxmlformats.org/officeDocument/2006/relationships" id="264" r:id="R55b4f645f4d34b5e"/>
    <p:sldId xmlns:r="http://schemas.openxmlformats.org/officeDocument/2006/relationships" id="265" r:id="Rdb353f28220244a3"/>
    <p:sldId xmlns:r="http://schemas.openxmlformats.org/officeDocument/2006/relationships" id="266" r:id="R8d3e52a383894b9f"/>
    <p:sldId xmlns:r="http://schemas.openxmlformats.org/officeDocument/2006/relationships" id="267" r:id="Ra3bbbc2e9f2b4f6f"/>
    <p:sldId xmlns:r="http://schemas.openxmlformats.org/officeDocument/2006/relationships" id="268" r:id="Rceee64ebb6b74927"/>
    <p:sldId xmlns:r="http://schemas.openxmlformats.org/officeDocument/2006/relationships" id="269" r:id="R29989e96f67e4980"/>
    <p:sldId xmlns:r="http://schemas.openxmlformats.org/officeDocument/2006/relationships" id="270" r:id="Rc01fc2b3e69c4773"/>
    <p:sldId xmlns:r="http://schemas.openxmlformats.org/officeDocument/2006/relationships" id="271" r:id="R8fcec63810d743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87e0751dcc455d" /><Relationship Type="http://schemas.openxmlformats.org/officeDocument/2006/relationships/slideMaster" Target="/ppt/slideMasters/slideMaster1.xml" Id="Rc483f5ddb2224763" /><Relationship Type="http://schemas.openxmlformats.org/officeDocument/2006/relationships/notesMaster" Target="/ppt/notesMasters/notesMaster1.xml" Id="R816bda428ad24590" /><Relationship Type="http://schemas.openxmlformats.org/officeDocument/2006/relationships/presProps" Target="/ppt/presProps.xml" Id="Rf2a19bef16064914" /><Relationship Type="http://schemas.openxmlformats.org/officeDocument/2006/relationships/tableStyles" Target="/ppt/tableStyles.xml" Id="R090c11e378334e43" /><Relationship Type="http://schemas.openxmlformats.org/officeDocument/2006/relationships/slide" Target="/ppt/slides/slide1.xml" Id="Rc8019688e8d948d7" /><Relationship Type="http://schemas.openxmlformats.org/officeDocument/2006/relationships/slide" Target="/ppt/slides/slide2.xml" Id="R899709d8e714425f" /><Relationship Type="http://schemas.openxmlformats.org/officeDocument/2006/relationships/slide" Target="/ppt/slides/slide3.xml" Id="R35eef54840064c18" /><Relationship Type="http://schemas.openxmlformats.org/officeDocument/2006/relationships/slide" Target="/ppt/slides/slide4.xml" Id="R282ee66cb8b64345" /><Relationship Type="http://schemas.openxmlformats.org/officeDocument/2006/relationships/slide" Target="/ppt/slides/slide5.xml" Id="R1e06929ff38c4dfc" /><Relationship Type="http://schemas.openxmlformats.org/officeDocument/2006/relationships/slide" Target="/ppt/slides/slide6.xml" Id="R2f55ecb51ec14aad" /><Relationship Type="http://schemas.openxmlformats.org/officeDocument/2006/relationships/slide" Target="/ppt/slides/slide7.xml" Id="Rbffad2f8c39e49e4" /><Relationship Type="http://schemas.openxmlformats.org/officeDocument/2006/relationships/slide" Target="/ppt/slides/slide8.xml" Id="R4ecb9c7c47514fa9" /><Relationship Type="http://schemas.openxmlformats.org/officeDocument/2006/relationships/slide" Target="/ppt/slides/slide9.xml" Id="R55b4f645f4d34b5e" /><Relationship Type="http://schemas.openxmlformats.org/officeDocument/2006/relationships/slide" Target="/ppt/slides/slide10.xml" Id="Rdb353f28220244a3" /><Relationship Type="http://schemas.openxmlformats.org/officeDocument/2006/relationships/slide" Target="/ppt/slides/slide11.xml" Id="R8d3e52a383894b9f" /><Relationship Type="http://schemas.openxmlformats.org/officeDocument/2006/relationships/slide" Target="/ppt/slides/slide12.xml" Id="Ra3bbbc2e9f2b4f6f" /><Relationship Type="http://schemas.openxmlformats.org/officeDocument/2006/relationships/slide" Target="/ppt/slides/slide13.xml" Id="Rceee64ebb6b74927" /><Relationship Type="http://schemas.openxmlformats.org/officeDocument/2006/relationships/slide" Target="/ppt/slides/slide14.xml" Id="R29989e96f67e4980" /><Relationship Type="http://schemas.openxmlformats.org/officeDocument/2006/relationships/slide" Target="/ppt/slides/slide15.xml" Id="Rc01fc2b3e69c4773" /><Relationship Type="http://schemas.openxmlformats.org/officeDocument/2006/relationships/slide" Target="/ppt/slides/slide16.xml" Id="R8fcec63810d743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85e12f77f548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47bf49fb8c4a97" /><Relationship Type="http://schemas.openxmlformats.org/officeDocument/2006/relationships/notesMaster" Target="/ppt/notesMasters/notesMaster1.xml" Id="R65b99a30ab7f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67d1e4ef084eb0" /><Relationship Type="http://schemas.openxmlformats.org/officeDocument/2006/relationships/notesMaster" Target="/ppt/notesMasters/notesMaster1.xml" Id="R19a22e8be0b8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9bccd8fb2747cc" /><Relationship Type="http://schemas.openxmlformats.org/officeDocument/2006/relationships/notesMaster" Target="/ppt/notesMasters/notesMaster1.xml" Id="R10085aba1b17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e0eeb6f70c4025" /><Relationship Type="http://schemas.openxmlformats.org/officeDocument/2006/relationships/notesMaster" Target="/ppt/notesMasters/notesMaster1.xml" Id="R3b36bcb290a247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eb648394f24ded" /><Relationship Type="http://schemas.openxmlformats.org/officeDocument/2006/relationships/notesMaster" Target="/ppt/notesMasters/notesMaster1.xml" Id="Rd3ae249ebb8f43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26636ea8f2475a" /><Relationship Type="http://schemas.openxmlformats.org/officeDocument/2006/relationships/notesMaster" Target="/ppt/notesMasters/notesMaster1.xml" Id="Rd17be66d7bf743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5d27a436c34b4c" /><Relationship Type="http://schemas.openxmlformats.org/officeDocument/2006/relationships/notesMaster" Target="/ppt/notesMasters/notesMaster1.xml" Id="Rff8591f6eba843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d2f688f8274dcb" /><Relationship Type="http://schemas.openxmlformats.org/officeDocument/2006/relationships/notesMaster" Target="/ppt/notesMasters/notesMaster1.xml" Id="R4a8f52f144524d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ef8c60a32340e1" /><Relationship Type="http://schemas.openxmlformats.org/officeDocument/2006/relationships/notesMaster" Target="/ppt/notesMasters/notesMaster1.xml" Id="R85ff6275e20641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54098069e64d39" /><Relationship Type="http://schemas.openxmlformats.org/officeDocument/2006/relationships/notesMaster" Target="/ppt/notesMasters/notesMaster1.xml" Id="Rcb52e8b2865c41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679f3abdfb4495" /><Relationship Type="http://schemas.openxmlformats.org/officeDocument/2006/relationships/notesMaster" Target="/ppt/notesMasters/notesMaster1.xml" Id="R8f0156440a9a48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dda55ec7564293" /><Relationship Type="http://schemas.openxmlformats.org/officeDocument/2006/relationships/notesMaster" Target="/ppt/notesMasters/notesMaster1.xml" Id="R8f31cff636c442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471b5e3c5f417e" /><Relationship Type="http://schemas.openxmlformats.org/officeDocument/2006/relationships/notesMaster" Target="/ppt/notesMasters/notesMaster1.xml" Id="R8c06deac1aa042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f55ef425044cb9" /><Relationship Type="http://schemas.openxmlformats.org/officeDocument/2006/relationships/notesMaster" Target="/ppt/notesMasters/notesMaster1.xml" Id="Raa5f03da22f542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3c99eb3251437e" /><Relationship Type="http://schemas.openxmlformats.org/officeDocument/2006/relationships/notesMaster" Target="/ppt/notesMasters/notesMaster1.xml" Id="Re754f640795644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b0e15053294ad1" /><Relationship Type="http://schemas.openxmlformats.org/officeDocument/2006/relationships/notesMaster" Target="/ppt/notesMasters/notesMaster1.xml" Id="R5abcbadfe66144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00:00–01:00</a:t>
            </a:r>
          </a:p>
          <a:p xmlns:a="http://schemas.openxmlformats.org/drawingml/2006/main">
            <a:r>
              <a:t/>
            </a:r>
          </a:p>
          <a:p xmlns:a="http://schemas.openxmlformats.org/drawingml/2006/main">
            <a:r>
              <a:t>PURPOSE</a:t>
            </a:r>
          </a:p>
          <a:p xmlns:a="http://schemas.openxmlformats.org/drawingml/2006/main">
            <a:r>
              <a:t>Engineering</a:t>
            </a:r>
          </a:p>
          <a:p xmlns:a="http://schemas.openxmlformats.org/drawingml/2006/main">
            <a:r>
              <a:t>Multi-Agent Systems</a:t>
            </a:r>
          </a:p>
          <a:p xmlns:a="http://schemas.openxmlformats.org/drawingml/2006/main">
            <a:r>
              <a:t/>
            </a:r>
          </a:p>
          <a:p xmlns:a="http://schemas.openxmlformats.org/drawingml/2006/main">
            <a:r>
              <a:t>WHAT TO SAY</a:t>
            </a:r>
          </a:p>
          <a:p xmlns:a="http://schemas.openxmlformats.org/drawingml/2006/main">
            <a:r>
              <a:t>The engineering question is how to divide reasoning, inspect the handoffs, and control execution. We will establish the design decisions first, implement roles with CrewAI, then use n8n to control a workflow.</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 single agent can hide several different responsibilities inside one loop.</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01:00–03:00</a:t>
            </a:r>
          </a:p>
          <a:p xmlns:a="http://schemas.openxmlformats.org/drawingml/2006/main">
            <a:r>
              <a:t/>
            </a:r>
          </a:p>
          <a:p xmlns:a="http://schemas.openxmlformats.org/drawingml/2006/main">
            <a:r>
              <a:t>PURPOSE</a:t>
            </a:r>
          </a:p>
          <a:p xmlns:a="http://schemas.openxmlformats.org/drawingml/2006/main">
            <a:r>
              <a:t>The single-agent coupling problem</a:t>
            </a:r>
          </a:p>
          <a:p xmlns:a="http://schemas.openxmlformats.org/drawingml/2006/main">
            <a:r>
              <a:t/>
            </a:r>
          </a:p>
          <a:p xmlns:a="http://schemas.openxmlformats.org/drawingml/2006/main">
            <a:r>
              <a:t>WHAT TO SAY</a:t>
            </a:r>
          </a:p>
          <a:p xmlns:a="http://schemas.openxmlformats.org/drawingml/2006/main">
            <a:r>
              <a:t>This is a design failure mode, not a claim that single agents always fail. When one agent interprets, investigates, evaluates and acts, an error can propagate across those duties. A longer prompt does not by itself create a separately testable contract or permission boundary.</a:t>
            </a:r>
          </a:p>
          <a:p xmlns:a="http://schemas.openxmlformats.org/drawingml/2006/main">
            <a:r>
              <a:t/>
            </a:r>
          </a:p>
          <a:p xmlns:a="http://schemas.openxmlformats.org/drawingml/2006/main">
            <a:r>
              <a:t>AUDIENCE PROMPT</a:t>
            </a:r>
          </a:p>
          <a:p xmlns:a="http://schemas.openxmlformats.org/drawingml/2006/main">
            <a:r>
              <a:t>Which responsibility would you want to test independently?</a:t>
            </a:r>
          </a:p>
          <a:p xmlns:a="http://schemas.openxmlformats.org/drawingml/2006/main">
            <a:r>
              <a:t/>
            </a:r>
          </a:p>
          <a:p xmlns:a="http://schemas.openxmlformats.org/drawingml/2006/main">
            <a:r>
              <a:t>DEMO CUE</a:t>
            </a:r>
          </a:p>
          <a:p xmlns:a="http://schemas.openxmlformats.org/drawingml/2006/main">
            <a:r>
              <a:t>Which responsibility would you want to test independently?</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Role separation is useful when it produces a measurable benefit.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03:00–05:00</a:t>
            </a:r>
          </a:p>
          <a:p xmlns:a="http://schemas.openxmlformats.org/drawingml/2006/main">
            <a:r>
              <a:t/>
            </a:r>
          </a:p>
          <a:p xmlns:a="http://schemas.openxmlformats.org/drawingml/2006/main">
            <a:r>
              <a:t>PURPOSE</a:t>
            </a:r>
          </a:p>
          <a:p xmlns:a="http://schemas.openxmlformats.org/drawingml/2006/main">
            <a:r>
              <a:t>When multiple agents earn their cost</a:t>
            </a:r>
          </a:p>
          <a:p xmlns:a="http://schemas.openxmlformats.org/drawingml/2006/main">
            <a:r>
              <a:t/>
            </a:r>
          </a:p>
          <a:p xmlns:a="http://schemas.openxmlformats.org/drawingml/2006/main">
            <a:r>
              <a:t>WHAT TO SAY</a:t>
            </a:r>
          </a:p>
          <a:p xmlns:a="http://schemas.openxmlformats.org/drawingml/2006/main">
            <a:r>
              <a:t>A specialist can use a smaller tool set and a different evaluation criterion. Independent work may run in parallel. A separate reviewer can challenge an output but can still share model biases. More calls add latency, token cost and coordination failures. Start with one agent and split only when evaluation shows a reason.</a:t>
            </a:r>
          </a:p>
          <a:p xmlns:a="http://schemas.openxmlformats.org/drawingml/2006/main">
            <a:r>
              <a:t/>
            </a:r>
          </a:p>
          <a:p xmlns:a="http://schemas.openxmlformats.org/drawingml/2006/main">
            <a:r>
              <a:t>AUDIENCE PROMPT</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DEMO CUE</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useful unit is the role plus its input and output contract.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05:00–07:00</a:t>
            </a:r>
          </a:p>
          <a:p xmlns:a="http://schemas.openxmlformats.org/drawingml/2006/main">
            <a:r>
              <a:t/>
            </a:r>
          </a:p>
          <a:p xmlns:a="http://schemas.openxmlformats.org/drawingml/2006/main">
            <a:r>
              <a:t>PURPOSE</a:t>
            </a:r>
          </a:p>
          <a:p xmlns:a="http://schemas.openxmlformats.org/drawingml/2006/main">
            <a:r>
              <a:t>Contracts make collaboration inspectable</a:t>
            </a:r>
          </a:p>
          <a:p xmlns:a="http://schemas.openxmlformats.org/drawingml/2006/main">
            <a:r>
              <a:t/>
            </a:r>
          </a:p>
          <a:p xmlns:a="http://schemas.openxmlformats.org/drawingml/2006/main">
            <a:r>
              <a:t>WHAT TO SAY</a:t>
            </a:r>
          </a:p>
          <a:p xmlns:a="http://schemas.openxmlformats.org/drawingml/2006/main">
            <a:r>
              <a:t>Each role needs explicit inputs, allowed tools, output schema, and stopping condition. Schema validation checks structure. Application code checks deterministic policy. Tool permissions determine actual authority. Evaluate each role and the end-to-end task. Agent disagreement is not proof of correctness.</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CrewAI gives us a concrete way to implement this role graph.</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07:00–09:00</a:t>
            </a:r>
          </a:p>
          <a:p xmlns:a="http://schemas.openxmlformats.org/drawingml/2006/main">
            <a:r>
              <a:t/>
            </a:r>
          </a:p>
          <a:p xmlns:a="http://schemas.openxmlformats.org/drawingml/2006/main">
            <a:r>
              <a:t>PURPOSE</a:t>
            </a:r>
          </a:p>
          <a:p xmlns:a="http://schemas.openxmlformats.org/drawingml/2006/main">
            <a:r>
              <a:t>CrewAI: three roles, one request</a:t>
            </a:r>
          </a:p>
          <a:p xmlns:a="http://schemas.openxmlformats.org/drawingml/2006/main">
            <a:r>
              <a:t/>
            </a:r>
          </a:p>
          <a:p xmlns:a="http://schemas.openxmlformats.org/drawingml/2006/main">
            <a:r>
              <a:t>WHAT TO SAY</a:t>
            </a:r>
          </a:p>
          <a:p xmlns:a="http://schemas.openxmlformats.org/drawingml/2006/main">
            <a:r>
              <a:t>This is the first appearance of the retail example. Keep the budget at 1000 throughout. Required intent is black running shoes with a total under 1000 and approval before ordering. Size, stock, delivery and returns are unknown unless evidenced. They may become hard constraints if explicitly requested. The source CrewAI saved run uses a different 4000 budget; rerun with this request before presenting the revised case.</a:t>
            </a:r>
          </a:p>
          <a:p xmlns:a="http://schemas.openxmlformats.org/drawingml/2006/main">
            <a:r>
              <a:t/>
            </a:r>
          </a:p>
          <a:p xmlns:a="http://schemas.openxmlformats.org/drawingml/2006/main">
            <a:r>
              <a:t>AUDIENCE PROMPT</a:t>
            </a:r>
          </a:p>
          <a:p xmlns:a="http://schemas.openxmlformats.org/drawingml/2006/main">
            <a:r>
              <a:t>Which of these agents should receive a purchase tool? None.</a:t>
            </a:r>
          </a:p>
          <a:p xmlns:a="http://schemas.openxmlformats.org/drawingml/2006/main">
            <a:r>
              <a:t/>
            </a:r>
          </a:p>
          <a:p xmlns:a="http://schemas.openxmlformats.org/drawingml/2006/main">
            <a:r>
              <a:t>DEMO CUE</a:t>
            </a:r>
          </a:p>
          <a:p xmlns:a="http://schemas.openxmlformats.org/drawingml/2006/main">
            <a:r>
              <a:t>Which of these agents should receive a purchase tool? None.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framework expresses these roles as agents and tasks.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09:00–11:00</a:t>
            </a:r>
          </a:p>
          <a:p xmlns:a="http://schemas.openxmlformats.org/drawingml/2006/main">
            <a:r>
              <a:t/>
            </a:r>
          </a:p>
          <a:p xmlns:a="http://schemas.openxmlformats.org/drawingml/2006/main">
            <a:r>
              <a:t>PURPOSE</a:t>
            </a:r>
          </a:p>
          <a:p xmlns:a="http://schemas.openxmlformats.org/drawingml/2006/main">
            <a:r>
              <a:t>CrewAI wiring that matters</a:t>
            </a:r>
          </a:p>
          <a:p xmlns:a="http://schemas.openxmlformats.org/drawingml/2006/main">
            <a:r>
              <a:t/>
            </a:r>
          </a:p>
          <a:p xmlns:a="http://schemas.openxmlformats.org/drawingml/2006/main">
            <a:r>
              <a:t>WHAT TO SAY</a:t>
            </a:r>
          </a:p>
          <a:p xmlns:a="http://schemas.openxmlformats.org/drawingml/2006/main">
            <a:r>
              <a:t>This is an excerpt, not a standalone script. Task descriptions, expected outputs, agents, request input and the shared offers input are configured in the full lab. The same normalized request and evidence must reach both evaluator and reviewer. For this workshop, llm is a custom CodexCLILLM adapter supplied with the lab, not a built-in CrewAI class. Installation instructions are in the companion handout.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Point to context and output_pydantic. Open the prepared lab instead of installing on stage.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Inspect the handoffs rather than judging the final prose alone.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11:00–15:00</a:t>
            </a:r>
          </a:p>
          <a:p xmlns:a="http://schemas.openxmlformats.org/drawingml/2006/main">
            <a:r>
              <a:t/>
            </a:r>
          </a:p>
          <a:p xmlns:a="http://schemas.openxmlformats.org/drawingml/2006/main">
            <a:r>
              <a:t>PURPOSE</a:t>
            </a:r>
          </a:p>
          <a:p xmlns:a="http://schemas.openxmlformats.org/drawingml/2006/main">
            <a:r>
              <a:t>CrewAI demo: inspect each handoff</a:t>
            </a:r>
          </a:p>
          <a:p xmlns:a="http://schemas.openxmlformats.org/drawingml/2006/main">
            <a:r>
              <a:t/>
            </a:r>
          </a:p>
          <a:p xmlns:a="http://schemas.openxmlformats.org/drawingml/2006/main">
            <a:r>
              <a:t>WHAT TO SAY</a:t>
            </a:r>
          </a:p>
          <a:p xmlns:a="http://schemas.openxmlformats.org/drawingml/2006/main">
            <a:r>
              <a:t>Do not present the old under-4000 saved CrewAI run as evidence for this scenario. Run the prepared crew with the new request. Use the budget in ShoppingRequest to catch constraint drift. Inspect why every offer passed or failed. Inspect the final authority field. These fields below are illustrative contract targets, not a captured execution. If no eligible offer exists, NO_MATCH is a successful safe outcome.</a:t>
            </a:r>
          </a:p>
          <a:p xmlns:a="http://schemas.openxmlformats.org/drawingml/2006/main">
            <a:r>
              <a:t/>
            </a:r>
          </a:p>
          <a:p xmlns:a="http://schemas.openxmlformats.org/drawingml/2006/main">
            <a:r>
              <a:t>AUDIENCE PROMPT</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DEMO CUE</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FALLBACK</a:t>
            </a:r>
          </a:p>
          <a:p xmlns:a="http://schemas.openxmlformats.org/drawingml/2006/main">
            <a:r>
              <a:t>Use the illustrative contract and explain that it is not a recorded ₹1,000 CrewAI run.</a:t>
            </a:r>
          </a:p>
          <a:p xmlns:a="http://schemas.openxmlformats.org/drawingml/2006/main">
            <a:r>
              <a:t/>
            </a:r>
          </a:p>
          <a:p xmlns:a="http://schemas.openxmlformats.org/drawingml/2006/main">
            <a:r>
              <a:t>TRANSITION</a:t>
            </a:r>
          </a:p>
          <a:p xmlns:a="http://schemas.openxmlformats.org/drawingml/2006/main">
            <a:r>
              <a:t>A valid recommendation still needs a process that can wait and resume.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15:00–17:00</a:t>
            </a:r>
          </a:p>
          <a:p xmlns:a="http://schemas.openxmlformats.org/drawingml/2006/main">
            <a:r>
              <a:t/>
            </a:r>
          </a:p>
          <a:p xmlns:a="http://schemas.openxmlformats.org/drawingml/2006/main">
            <a:r>
              <a:t>PURPOSE</a:t>
            </a:r>
          </a:p>
          <a:p xmlns:a="http://schemas.openxmlformats.org/drawingml/2006/main">
            <a:r>
              <a:t>Reasoning needs durable execution</a:t>
            </a:r>
          </a:p>
          <a:p xmlns:a="http://schemas.openxmlformats.org/drawingml/2006/main">
            <a:r>
              <a:t/>
            </a:r>
          </a:p>
          <a:p xmlns:a="http://schemas.openxmlformats.org/drawingml/2006/main">
            <a:r>
              <a:t>WHAT TO SAY</a:t>
            </a:r>
          </a:p>
          <a:p xmlns:a="http://schemas.openxmlformats.org/drawingml/2006/main">
            <a:r>
              <a:t>The workflow stores request, evidence, validation results and selected branches. It can wait for human input, handle errors and resume. These responsibilities can also be implemented in application code; n8n is the implementation used in this workshop. A typed result does not imply authorization.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two demos share an interface, not an assumed live integration.</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17:00–19:00</a:t>
            </a:r>
          </a:p>
          <a:p xmlns:a="http://schemas.openxmlformats.org/drawingml/2006/main">
            <a:r>
              <a:t/>
            </a:r>
          </a:p>
          <a:p xmlns:a="http://schemas.openxmlformats.org/drawingml/2006/main">
            <a:r>
              <a:t>PURPOSE</a:t>
            </a:r>
          </a:p>
          <a:p xmlns:a="http://schemas.openxmlformats.org/drawingml/2006/main">
            <a:r>
              <a:t>Two demos, one proposal boundary</a:t>
            </a:r>
          </a:p>
          <a:p xmlns:a="http://schemas.openxmlformats.org/drawingml/2006/main">
            <a:r>
              <a:t/>
            </a:r>
          </a:p>
          <a:p xmlns:a="http://schemas.openxmlformats.org/drawingml/2006/main">
            <a:r>
              <a:t>WHAT TO SAY</a:t>
            </a:r>
          </a:p>
          <a:p xmlns:a="http://schemas.openxmlformats.org/drawingml/2006/main">
            <a:r>
              <a:t>The source materials show two teaching lanes. CrewAI returns a recommendation in demo one. The recorded n8n graph calls browser search and Codex ranking in demo two. Do not claim CrewAI is already wired into that live graph. The interface is the transfer pattern. A future adapter can connect CrewAI to the same workflow contract.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First see the smallest n8n wait-and-route workflow.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19:00–21:00</a:t>
            </a:r>
          </a:p>
          <a:p xmlns:a="http://schemas.openxmlformats.org/drawingml/2006/main">
            <a:r>
              <a:t/>
            </a:r>
          </a:p>
          <a:p xmlns:a="http://schemas.openxmlformats.org/drawingml/2006/main">
            <a:r>
              <a:t>PURPOSE</a:t>
            </a:r>
          </a:p>
          <a:p xmlns:a="http://schemas.openxmlformats.org/drawingml/2006/main">
            <a:r>
              <a:t>n8n: work, wait, and route</a:t>
            </a:r>
          </a:p>
          <a:p xmlns:a="http://schemas.openxmlformats.org/drawingml/2006/main">
            <a:r>
              <a:t/>
            </a:r>
          </a:p>
          <a:p xmlns:a="http://schemas.openxmlformats.org/drawingml/2006/main">
            <a:r>
              <a:t>WHAT TO SAY</a:t>
            </a:r>
          </a:p>
          <a:p xmlns:a="http://schemas.openxmlformats.org/drawingml/2006/main">
            <a:r>
              <a:t>This is a six-node hello workflow including both terminal nodes. Form Trigger collects name. Edit Fields builds a greeting. A Form node displays a decision page. Switch routes Approve or Cancel. Show execution data at each step. Installation and the pinned environment are in the handout. Do not build this from scratch if the session is running late.</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Run the prepared hello flow, pause at the decision form, then choose Cancel.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recorded commerce graph adds evidence and validation before the wait.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21:00–23:00</a:t>
            </a:r>
          </a:p>
          <a:p xmlns:a="http://schemas.openxmlformats.org/drawingml/2006/main">
            <a:r>
              <a:t/>
            </a:r>
          </a:p>
          <a:p xmlns:a="http://schemas.openxmlformats.org/drawingml/2006/main">
            <a:r>
              <a:t>PURPOSE</a:t>
            </a:r>
          </a:p>
          <a:p xmlns:a="http://schemas.openxmlformats.org/drawingml/2006/main">
            <a:r>
              <a:t>The recorded n8n workflow</a:t>
            </a:r>
          </a:p>
          <a:p xmlns:a="http://schemas.openxmlformats.org/drawingml/2006/main">
            <a:r>
              <a:t/>
            </a:r>
          </a:p>
          <a:p xmlns:a="http://schemas.openxmlformats.org/drawingml/2006/main">
            <a:r>
              <a:t>WHAT TO SAY</a:t>
            </a:r>
          </a:p>
          <a:p xmlns:a="http://schemas.openxmlformats.org/drawingml/2006/main">
            <a:r>
              <a:t>This redraws the existing eleven-node live graph. Error, timeout, and freshness-after-wait handling are not established by the supplied artifact. Slide 14 specifies the recommended extension. The browser and Codex nodes are HTTP adapters. The final action is simulated.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Open the n8n canvas and inspect the inputs of Browser Search and Codex Rank.</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adapter boundary separates page observation from model ranking.</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23:00–26:00</a:t>
            </a:r>
          </a:p>
          <a:p xmlns:a="http://schemas.openxmlformats.org/drawingml/2006/main">
            <a:r>
              <a:t/>
            </a:r>
          </a:p>
          <a:p xmlns:a="http://schemas.openxmlformats.org/drawingml/2006/main">
            <a:r>
              <a:t>PURPOSE</a:t>
            </a:r>
          </a:p>
          <a:p xmlns:a="http://schemas.openxmlformats.org/drawingml/2006/main">
            <a:r>
              <a:t>Browser evidence and model judgment</a:t>
            </a:r>
          </a:p>
          <a:p xmlns:a="http://schemas.openxmlformats.org/drawingml/2006/main">
            <a:r>
              <a:t/>
            </a:r>
          </a:p>
          <a:p xmlns:a="http://schemas.openxmlformats.org/drawingml/2006/main">
            <a:r>
              <a:t>WHAT TO SAY</a:t>
            </a:r>
          </a:p>
          <a:p xmlns:a="http://schemas.openxmlformats.org/drawingml/2006/main">
            <a:r>
              <a:t>Browser Search calls POST /search. The adapter uses Playwright and Chrome to collect observations. Codex Rank calls POST /recommend-live. Its local service invokes the signed-in Codex CLI. The model ranks the supplied evidence. A model can use browser tools in other architectures; here the roles are deliberately separated.</a:t>
            </a:r>
          </a:p>
          <a:p xmlns:a="http://schemas.openxmlformats.org/drawingml/2006/main">
            <a:r>
              <a:t/>
            </a:r>
          </a:p>
          <a:p xmlns:a="http://schemas.openxmlformats.org/drawingml/2006/main">
            <a:r>
              <a:t>AUDIENCE PROMPT</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DEMO CUE</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Evidence remains partial, even when the tools run successfully.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26:00–29:00</a:t>
            </a:r>
          </a:p>
          <a:p xmlns:a="http://schemas.openxmlformats.org/drawingml/2006/main">
            <a:r>
              <a:t/>
            </a:r>
          </a:p>
          <a:p xmlns:a="http://schemas.openxmlformats.org/drawingml/2006/main">
            <a:r>
              <a:t>PURPOSE</a:t>
            </a:r>
          </a:p>
          <a:p xmlns:a="http://schemas.openxmlformats.org/drawingml/2006/main">
            <a:r>
              <a:t>Recorded evidence has visible limits</a:t>
            </a:r>
          </a:p>
          <a:p xmlns:a="http://schemas.openxmlformats.org/drawingml/2006/main">
            <a:r>
              <a:t/>
            </a:r>
          </a:p>
          <a:p xmlns:a="http://schemas.openxmlformats.org/drawingml/2006/main">
            <a:r>
              <a:t>WHAT TO SAY</a:t>
            </a:r>
          </a:p>
          <a:p xmlns:a="http://schemas.openxmlformats.org/drawingml/2006/main">
            <a:r>
              <a:t>The original notes report four Amazon and four Flipkart candidates, with Myntra showing maintenance. The ranked result is Amazon SPARX at 649. These are historical observations described in the source deck, not independently verified current retailer data. The full source URLs and timestamps were not supplied as standalone evidence files. Do not claim the displayed 649 is a verified checkout total.</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Inspect the real source URL, observed_at, source status and unverified_fields in the live execution.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Approval needs a clear contract for both evidence and expiry.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29:00–34:00</a:t>
            </a:r>
          </a:p>
          <a:p xmlns:a="http://schemas.openxmlformats.org/drawingml/2006/main">
            <a:r>
              <a:t/>
            </a:r>
          </a:p>
          <a:p xmlns:a="http://schemas.openxmlformats.org/drawingml/2006/main">
            <a:r>
              <a:t>PURPOSE</a:t>
            </a:r>
          </a:p>
          <a:p xmlns:a="http://schemas.openxmlformats.org/drawingml/2006/main">
            <a:r>
              <a:t>Approval requires fresh, scoped evidence</a:t>
            </a:r>
          </a:p>
          <a:p xmlns:a="http://schemas.openxmlformats.org/drawingml/2006/main">
            <a:r>
              <a:t/>
            </a:r>
          </a:p>
          <a:p xmlns:a="http://schemas.openxmlformats.org/drawingml/2006/main">
            <a:r>
              <a:t>WHAT TO SAY</a:t>
            </a:r>
          </a:p>
          <a:p xmlns:a="http://schemas.openxmlformats.org/drawingml/2006/main">
            <a:r>
              <a:t>Show the recorded human approval first. Then explain this proposed hardening. Required product attributes and total price must be evidenced. Unknown required fields produce REVIEW_REQUIRED or NO_MATCH. Human approval binds run ID, candidate and evidence version. After the wait, code rechecks age and unchanged proposal. Expired or changed evidence triggers refresh and a new approval. A failed check, error, cancel, or timeout stops without simulated action. Existing source source notes do not prove these extensions are implemented.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Before approval, inspect the selected URL and unknowns. Ask what must happen if the human waits 20 minutes.</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same bounded execution pattern applies to code review.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34:00–37:00</a:t>
            </a:r>
          </a:p>
          <a:p xmlns:a="http://schemas.openxmlformats.org/drawingml/2006/main">
            <a:r>
              <a:t/>
            </a:r>
          </a:p>
          <a:p xmlns:a="http://schemas.openxmlformats.org/drawingml/2006/main">
            <a:r>
              <a:t>PURPOSE</a:t>
            </a:r>
          </a:p>
          <a:p xmlns:a="http://schemas.openxmlformats.org/drawingml/2006/main">
            <a:r>
              <a:t>Bounded review and repair</a:t>
            </a:r>
          </a:p>
          <a:p xmlns:a="http://schemas.openxmlformats.org/drawingml/2006/main">
            <a:r>
              <a:t/>
            </a:r>
          </a:p>
          <a:p xmlns:a="http://schemas.openxmlformats.org/drawingml/2006/main">
            <a:r>
              <a:t>WHAT TO SAY</a:t>
            </a:r>
          </a:p>
          <a:p xmlns:a="http://schemas.openxmlformats.org/drawingml/2006/main">
            <a:r>
              <a:t>Planner and implementer produce a change. Security review, tests and quality checks evaluate it. Any failed gate may enter a scoped repair loop with a maximum of two attempts. Re-review the same failed gate after repair and rerun affected downstream checks. Retry exhaustion, errors and timeouts route to stop and human review. Only all checks passing reaches final human approval. Approval is bound to the reviewed change revision.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architecture is defined by its boundaries, not the number of agents.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37:00–40:00</a:t>
            </a:r>
          </a:p>
          <a:p xmlns:a="http://schemas.openxmlformats.org/drawingml/2006/main">
            <a:r>
              <a:t/>
            </a:r>
          </a:p>
          <a:p xmlns:a="http://schemas.openxmlformats.org/drawingml/2006/main">
            <a:r>
              <a:t>PURPOSE</a:t>
            </a:r>
          </a:p>
          <a:p xmlns:a="http://schemas.openxmlformats.org/drawingml/2006/main">
            <a:r>
              <a:t>The engineering contract</a:t>
            </a:r>
          </a:p>
          <a:p xmlns:a="http://schemas.openxmlformats.org/drawingml/2006/main">
            <a:r>
              <a:t/>
            </a:r>
          </a:p>
          <a:p xmlns:a="http://schemas.openxmlformats.org/drawingml/2006/main">
            <a:r>
              <a:t>WHAT TO SAY</a:t>
            </a:r>
          </a:p>
          <a:p xmlns:a="http://schemas.openxmlformats.org/drawingml/2006/main">
            <a:r>
              <a:t>Summarize the design. Use agents when specialization is useful, evaluate the handoffs, and keep authority in application permissions and workflow routes. The deck has 40 minutes of content with 5 minutes reserved for questions and demo recovery. Do not add a real purchase claim.</a:t>
            </a:r>
          </a:p>
          <a:p xmlns:a="http://schemas.openxmlformats.org/drawingml/2006/main">
            <a:r>
              <a:t/>
            </a:r>
          </a:p>
          <a:p xmlns:a="http://schemas.openxmlformats.org/drawingml/2006/main">
            <a:r>
              <a:t>AUDIENCE PROMPT</a:t>
            </a:r>
          </a:p>
          <a:p xmlns:a="http://schemas.openxmlformats.org/drawingml/2006/main">
            <a:r>
              <a:t>Which boundary would improve a workflow in your domain?</a:t>
            </a:r>
          </a:p>
          <a:p xmlns:a="http://schemas.openxmlformats.org/drawingml/2006/main">
            <a:r>
              <a:t/>
            </a:r>
          </a:p>
          <a:p xmlns:a="http://schemas.openxmlformats.org/drawingml/2006/main">
            <a:r>
              <a:t>DEMO CUE</a:t>
            </a:r>
          </a:p>
          <a:p xmlns:a="http://schemas.openxmlformats.org/drawingml/2006/main">
            <a:r>
              <a:t>Which boundary would improve a workflow in your domain?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Questions. Keep the final workflow visible if useful.</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Source notes describe workshop code and recorded outputs; local demo source was not supplied for this revision.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9d0b5546374e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eb158e67a445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46b4cfc72e4e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6af647ef7a40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393a1d7ad343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f0d3efb7fc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F6F981-8A11-430A-A35A-C16F4F9050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6B1A0D-0303-421D-9825-70D1FDE1C0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952105-3123-429F-94AB-D33452A6EB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636B9F-2C27-4EDD-B6A7-952CA38CA9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38EB60-C3A9-440E-AF50-EA61A2B152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F313EF-E775-4AE0-952D-A723CBD29D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E60988-5A3D-44D8-8983-F4EE56D37D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5EB6C4-C008-4821-8971-EA6D89A4F3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E27620-1A6F-46EC-92D9-B4E9E28B2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2FD2A-7D42-495E-9539-9950E16AFF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e5d18729744007" /><Relationship Type="http://schemas.openxmlformats.org/officeDocument/2006/relationships/slideLayout" Target="/ppt/slideLayouts/slideLayout1.xml" Id="R4034a35664884532" /><Relationship Type="http://schemas.openxmlformats.org/officeDocument/2006/relationships/slideLayout" Target="/ppt/slideLayouts/slideLayout2.xml" Id="R6cc8347e5e9f4e6f" /><Relationship Type="http://schemas.openxmlformats.org/officeDocument/2006/relationships/slideLayout" Target="/ppt/slideLayouts/slideLayout3.xml" Id="Rd6dc3c8880844166" /><Relationship Type="http://schemas.openxmlformats.org/officeDocument/2006/relationships/slideLayout" Target="/ppt/slideLayouts/slideLayout4.xml" Id="Rd37c21ee84c1452c" /><Relationship Type="http://schemas.openxmlformats.org/officeDocument/2006/relationships/slideLayout" Target="/ppt/slideLayouts/slideLayout5.xml" Id="R66aaf3d471c14b99" /><Relationship Type="http://schemas.openxmlformats.org/officeDocument/2006/relationships/slideLayout" Target="/ppt/slideLayouts/slideLayout6.xml" Id="Rff89a55402ec4a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34a35664884532"/>
    <p:sldLayoutId xmlns:r="http://schemas.openxmlformats.org/officeDocument/2006/relationships" id="2147483650" r:id="R6cc8347e5e9f4e6f"/>
    <p:sldLayoutId xmlns:r="http://schemas.openxmlformats.org/officeDocument/2006/relationships" id="2147483651" r:id="Rd6dc3c8880844166"/>
    <p:sldLayoutId xmlns:r="http://schemas.openxmlformats.org/officeDocument/2006/relationships" id="2147483652" r:id="Rd37c21ee84c1452c"/>
    <p:sldLayoutId xmlns:r="http://schemas.openxmlformats.org/officeDocument/2006/relationships" id="2147483653" r:id="R66aaf3d471c14b99"/>
    <p:sldLayoutId xmlns:r="http://schemas.openxmlformats.org/officeDocument/2006/relationships" id="2147483654" r:id="Rff89a55402ec4a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fff4a25a3a44db" /><Relationship Type="http://schemas.openxmlformats.org/officeDocument/2006/relationships/notesSlide" Target="/ppt/notesSlides/notesSlide1.xml" Id="Rbbc69fe6673c4a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ae6a1175f64c51" /><Relationship Type="http://schemas.openxmlformats.org/officeDocument/2006/relationships/notesSlide" Target="/ppt/notesSlides/notesSlide2.xml" Id="R0d67630e2c0e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dec668d4574e22" /><Relationship Type="http://schemas.openxmlformats.org/officeDocument/2006/relationships/notesSlide" Target="/ppt/notesSlides/notesSlide3.xml" Id="Rb222dcfb181842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3768b1991041dc" /><Relationship Type="http://schemas.openxmlformats.org/officeDocument/2006/relationships/notesSlide" Target="/ppt/notesSlides/notesSlide4.xml" Id="Rb54d1c17800e4e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a15c62303048b3" /><Relationship Type="http://schemas.openxmlformats.org/officeDocument/2006/relationships/notesSlide" Target="/ppt/notesSlides/notesSlide5.xml" Id="R8b2445f8248348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1c13b7b8bd4f31" /><Relationship Type="http://schemas.openxmlformats.org/officeDocument/2006/relationships/notesSlide" Target="/ppt/notesSlides/notesSlide6.xml" Id="R2bf61643ebab49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826d258ada430a" /><Relationship Type="http://schemas.openxmlformats.org/officeDocument/2006/relationships/notesSlide" Target="/ppt/notesSlides/notesSlide7.xml" Id="Rabc8aa4d4fe242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fedc9300bb46e2" /><Relationship Type="http://schemas.openxmlformats.org/officeDocument/2006/relationships/notesSlide" Target="/ppt/notesSlides/notesSlide8.xml" Id="Rf92d83ab43494e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ade9b6f6474dc7" /><Relationship Type="http://schemas.openxmlformats.org/officeDocument/2006/relationships/notesSlide" Target="/ppt/notesSlides/notesSlide9.xml" Id="Rba03cc22dcf547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411a33662c4848" /><Relationship Type="http://schemas.openxmlformats.org/officeDocument/2006/relationships/notesSlide" Target="/ppt/notesSlides/notesSlide10.xml" Id="Rdf1241f0c04745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b6980f4eeb4105" /><Relationship Type="http://schemas.openxmlformats.org/officeDocument/2006/relationships/notesSlide" Target="/ppt/notesSlides/notesSlide11.xml" Id="R2eadb448ea9040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23ee06989034685" /><Relationship Type="http://schemas.openxmlformats.org/officeDocument/2006/relationships/notesSlide" Target="/ppt/notesSlides/notesSlide12.xml" Id="Rcf78b870c9f54c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d3368a453584893" /><Relationship Type="http://schemas.openxmlformats.org/officeDocument/2006/relationships/notesSlide" Target="/ppt/notesSlides/notesSlide13.xml" Id="Rd088ff5e128b44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6f0cd7c38f4c70" /><Relationship Type="http://schemas.openxmlformats.org/officeDocument/2006/relationships/notesSlide" Target="/ppt/notesSlides/notesSlide14.xml" Id="R8cb5c8a2678a4c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74a477853e42aa" /><Relationship Type="http://schemas.openxmlformats.org/officeDocument/2006/relationships/notesSlide" Target="/ppt/notesSlides/notesSlide15.xml" Id="Rc49423c226db4b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65586f345ea4f4d" /><Relationship Type="http://schemas.openxmlformats.org/officeDocument/2006/relationships/notesSlide" Target="/ppt/notesSlides/notesSlide16.xml" Id="Ra5e5052507314bcd" /></Relationships>
</file>

<file path=ppt/slides/slide1.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7" name="IEEE AGENTICAI ’26">
            <a:extLst xmlns:a="http://schemas.openxmlformats.org/drawingml/2006/main">
              <a:ext uri="{FF2B5EF4-FFF2-40B4-BE49-F238E27FC236}">
                <a16:creationId xmlns:a16="http://schemas.microsoft.com/office/drawing/2014/main" id="{BC3B37ED-4AA0-44F1-B212-83D4E2CBE98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IEEE AGENTICAI ’26</a:t>
            </a:r>
          </a:p>
        </p:txBody>
      </p:sp>
      <p:sp>
        <p:nvSpPr>
          <p:cNvPr id="2" name="01">
            <a:extLst xmlns:a="http://schemas.openxmlformats.org/drawingml/2006/main">
              <a:ext uri="{FF2B5EF4-FFF2-40B4-BE49-F238E27FC236}">
                <a16:creationId xmlns:a16="http://schemas.microsoft.com/office/drawing/2014/main" id="{DAF29C26-31AB-4D2A-85AB-8D33410983E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01</a:t>
            </a:r>
          </a:p>
        </p:txBody>
      </p:sp>
      <p:sp>
        <p:nvSpPr>
          <p:cNvPr id="3" name="Engineering&#10;Multi-Agent Systems">
            <a:extLst xmlns:a="http://schemas.openxmlformats.org/drawingml/2006/main">
              <a:ext uri="{FF2B5EF4-FFF2-40B4-BE49-F238E27FC236}">
                <a16:creationId xmlns:a16="http://schemas.microsoft.com/office/drawing/2014/main" id="{3DEEF919-735A-4D26-93A7-83BEEF8EDCF3}"/>
              </a:ext>
            </a:extLst>
          </p:cNvPr>
          <p:cNvSpPr>
            <a:spLocks xmlns:a="http://schemas.openxmlformats.org/drawingml/2006/main" noGrp="1"/>
          </p:cNvSpPr>
          <p:nvPr/>
        </p:nvSpPr>
        <p:spPr>
          <a:xfrm xmlns:a="http://schemas.openxmlformats.org/drawingml/2006/main">
            <a:off x="609600" y="138112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Engineering</a:t>
            </a:r>
          </a:p>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Multi-Agent Systems</a:t>
            </a:r>
          </a:p>
        </p:txBody>
      </p:sp>
      <p:sp>
        <p:nvSpPr>
          <p:cNvPr id="4" name="Roles, typed handoffs, and governed execution">
            <a:extLst xmlns:a="http://schemas.openxmlformats.org/drawingml/2006/main">
              <a:ext uri="{FF2B5EF4-FFF2-40B4-BE49-F238E27FC236}">
                <a16:creationId xmlns:a16="http://schemas.microsoft.com/office/drawing/2014/main" id="{A4F231FB-E2E4-41EF-9ED9-DD6063CC5035}"/>
              </a:ext>
            </a:extLst>
          </p:cNvPr>
          <p:cNvSpPr>
            <a:spLocks xmlns:a="http://schemas.openxmlformats.org/drawingml/2006/main" noGrp="1"/>
          </p:cNvSpPr>
          <p:nvPr/>
        </p:nvSpPr>
        <p:spPr>
          <a:xfrm xmlns:a="http://schemas.openxmlformats.org/drawingml/2006/main">
            <a:off x="647700" y="352425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0C0CB"/>
                </a:solidFill>
                <a:latin typeface="Arial"/>
                <a:ea typeface="Arial"/>
                <a:cs typeface="Arial"/>
              </a:defRPr>
            </a:defPPr>
            <a:lvl1pPr algn="l">
              <a:defRPr sz="2550" b="0">
                <a:solidFill>
                  <a:srgbClr val="C0C0CB"/>
                </a:solidFill>
                <a:latin typeface="Arial"/>
                <a:ea typeface="Arial"/>
                <a:cs typeface="Arial"/>
              </a:defRPr>
            </a:lvl1pPr>
            <a:lvl2pPr algn="l">
              <a:defRPr sz="2550" b="0">
                <a:solidFill>
                  <a:srgbClr val="C0C0CB"/>
                </a:solidFill>
                <a:latin typeface="Arial"/>
                <a:ea typeface="Arial"/>
                <a:cs typeface="Arial"/>
              </a:defRPr>
            </a:lvl2pPr>
            <a:lvl3pPr algn="l">
              <a:defRPr sz="2550" b="0">
                <a:solidFill>
                  <a:srgbClr val="C0C0CB"/>
                </a:solidFill>
                <a:latin typeface="Arial"/>
                <a:ea typeface="Arial"/>
                <a:cs typeface="Arial"/>
              </a:defRPr>
            </a:lvl3pPr>
            <a:lvl4pPr algn="l">
              <a:defRPr sz="2550" b="0">
                <a:solidFill>
                  <a:srgbClr val="C0C0CB"/>
                </a:solidFill>
                <a:latin typeface="Arial"/>
                <a:ea typeface="Arial"/>
                <a:cs typeface="Arial"/>
              </a:defRPr>
            </a:lvl4pPr>
            <a:lvl5pPr algn="l">
              <a:defRPr sz="2550" b="0">
                <a:solidFill>
                  <a:srgbClr val="C0C0CB"/>
                </a:solidFill>
                <a:latin typeface="Arial"/>
                <a:ea typeface="Arial"/>
                <a:cs typeface="Arial"/>
              </a:defRPr>
            </a:lvl5pPr>
            <a:lvl6pPr algn="l">
              <a:defRPr sz="2550" b="0">
                <a:solidFill>
                  <a:srgbClr val="C0C0CB"/>
                </a:solidFill>
                <a:latin typeface="Arial"/>
                <a:ea typeface="Arial"/>
                <a:cs typeface="Arial"/>
              </a:defRPr>
            </a:lvl6pPr>
            <a:lvl7pPr algn="l">
              <a:defRPr sz="2550" b="0">
                <a:solidFill>
                  <a:srgbClr val="C0C0CB"/>
                </a:solidFill>
                <a:latin typeface="Arial"/>
                <a:ea typeface="Arial"/>
                <a:cs typeface="Arial"/>
              </a:defRPr>
            </a:lvl7pPr>
            <a:lvl8pPr algn="l">
              <a:defRPr sz="2550" b="0">
                <a:solidFill>
                  <a:srgbClr val="C0C0CB"/>
                </a:solidFill>
                <a:latin typeface="Arial"/>
                <a:ea typeface="Arial"/>
                <a:cs typeface="Arial"/>
              </a:defRPr>
            </a:lvl8pPr>
            <a:lvl9pPr algn="l">
              <a:defRPr sz="2550" b="0">
                <a:solidFill>
                  <a:srgbClr val="C0C0CB"/>
                </a:solidFill>
                <a:latin typeface="Arial"/>
                <a:ea typeface="Arial"/>
                <a:cs typeface="Arial"/>
              </a:defRPr>
            </a:lvl9pPr>
          </a:lstStyle>
          <a:p xmlns:a="http://schemas.openxmlformats.org/drawingml/2006/main">
            <a:pPr algn="l">
              <a:defRPr sz="2550" b="0">
                <a:solidFill>
                  <a:srgbClr val="C0C0CB"/>
                </a:solidFill>
                <a:latin typeface="Arial"/>
                <a:ea typeface="Arial"/>
                <a:cs typeface="Arial"/>
              </a:defRPr>
            </a:pPr>
            <a:r>
              <a:rPr sz="2550" b="0">
                <a:solidFill>
                  <a:srgbClr val="C0C0CB"/>
                </a:solidFill>
                <a:latin typeface="Arial"/>
                <a:ea typeface="Arial"/>
                <a:cs typeface="Arial"/>
              </a:rPr>
              <a:t>Roles, typed handoffs, and governed execution</a:t>
            </a:r>
          </a:p>
        </p:txBody>
      </p:sp>
      <p:sp>
        <p:nvSpPr>
          <p:cNvPr id="5" name="Rahul Verma">
            <a:extLst xmlns:a="http://schemas.openxmlformats.org/drawingml/2006/main">
              <a:ext uri="{FF2B5EF4-FFF2-40B4-BE49-F238E27FC236}">
                <a16:creationId xmlns:a16="http://schemas.microsoft.com/office/drawing/2014/main" id="{12CD578D-2F72-45F8-AEB6-2F4709D4A788}"/>
              </a:ext>
            </a:extLst>
          </p:cNvPr>
          <p:cNvSpPr>
            <a:spLocks xmlns:a="http://schemas.openxmlformats.org/drawingml/2006/main" noGrp="1"/>
          </p:cNvSpPr>
          <p:nvPr/>
        </p:nvSpPr>
        <p:spPr>
          <a:xfrm xmlns:a="http://schemas.openxmlformats.org/drawingml/2006/main">
            <a:off x="647700" y="53911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Rahul Verma</a:t>
            </a:r>
          </a:p>
        </p:txBody>
      </p:sp>
      <p:sp>
        <p:nvSpPr>
          <p:cNvPr id="6" name="Software Engineer, Cisco">
            <a:extLst xmlns:a="http://schemas.openxmlformats.org/drawingml/2006/main">
              <a:ext uri="{FF2B5EF4-FFF2-40B4-BE49-F238E27FC236}">
                <a16:creationId xmlns:a16="http://schemas.microsoft.com/office/drawing/2014/main" id="{54C5F98C-7515-4C41-990F-5DB444D94DAA}"/>
              </a:ext>
            </a:extLst>
          </p:cNvPr>
          <p:cNvSpPr>
            <a:spLocks xmlns:a="http://schemas.openxmlformats.org/drawingml/2006/main" noGrp="1"/>
          </p:cNvSpPr>
          <p:nvPr/>
        </p:nvSpPr>
        <p:spPr>
          <a:xfrm xmlns:a="http://schemas.openxmlformats.org/drawingml/2006/main">
            <a:off x="647700" y="5810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C0CB"/>
                </a:solidFill>
                <a:latin typeface="Arial"/>
                <a:ea typeface="Arial"/>
                <a:cs typeface="Arial"/>
              </a:defRPr>
            </a:defPPr>
            <a:lvl1pPr algn="l">
              <a:defRPr sz="1725" b="0">
                <a:solidFill>
                  <a:srgbClr val="C0C0CB"/>
                </a:solidFill>
                <a:latin typeface="Arial"/>
                <a:ea typeface="Arial"/>
                <a:cs typeface="Arial"/>
              </a:defRPr>
            </a:lvl1pPr>
            <a:lvl2pPr algn="l">
              <a:defRPr sz="1725" b="0">
                <a:solidFill>
                  <a:srgbClr val="C0C0CB"/>
                </a:solidFill>
                <a:latin typeface="Arial"/>
                <a:ea typeface="Arial"/>
                <a:cs typeface="Arial"/>
              </a:defRPr>
            </a:lvl2pPr>
            <a:lvl3pPr algn="l">
              <a:defRPr sz="1725" b="0">
                <a:solidFill>
                  <a:srgbClr val="C0C0CB"/>
                </a:solidFill>
                <a:latin typeface="Arial"/>
                <a:ea typeface="Arial"/>
                <a:cs typeface="Arial"/>
              </a:defRPr>
            </a:lvl3pPr>
            <a:lvl4pPr algn="l">
              <a:defRPr sz="1725" b="0">
                <a:solidFill>
                  <a:srgbClr val="C0C0CB"/>
                </a:solidFill>
                <a:latin typeface="Arial"/>
                <a:ea typeface="Arial"/>
                <a:cs typeface="Arial"/>
              </a:defRPr>
            </a:lvl4pPr>
            <a:lvl5pPr algn="l">
              <a:defRPr sz="1725" b="0">
                <a:solidFill>
                  <a:srgbClr val="C0C0CB"/>
                </a:solidFill>
                <a:latin typeface="Arial"/>
                <a:ea typeface="Arial"/>
                <a:cs typeface="Arial"/>
              </a:defRPr>
            </a:lvl5pPr>
            <a:lvl6pPr algn="l">
              <a:defRPr sz="1725" b="0">
                <a:solidFill>
                  <a:srgbClr val="C0C0CB"/>
                </a:solidFill>
                <a:latin typeface="Arial"/>
                <a:ea typeface="Arial"/>
                <a:cs typeface="Arial"/>
              </a:defRPr>
            </a:lvl6pPr>
            <a:lvl7pPr algn="l">
              <a:defRPr sz="1725" b="0">
                <a:solidFill>
                  <a:srgbClr val="C0C0CB"/>
                </a:solidFill>
                <a:latin typeface="Arial"/>
                <a:ea typeface="Arial"/>
                <a:cs typeface="Arial"/>
              </a:defRPr>
            </a:lvl7pPr>
            <a:lvl8pPr algn="l">
              <a:defRPr sz="1725" b="0">
                <a:solidFill>
                  <a:srgbClr val="C0C0CB"/>
                </a:solidFill>
                <a:latin typeface="Arial"/>
                <a:ea typeface="Arial"/>
                <a:cs typeface="Arial"/>
              </a:defRPr>
            </a:lvl8pPr>
            <a:lvl9pPr algn="l">
              <a:defRPr sz="1725" b="0">
                <a:solidFill>
                  <a:srgbClr val="C0C0CB"/>
                </a:solidFill>
                <a:latin typeface="Arial"/>
                <a:ea typeface="Arial"/>
                <a:cs typeface="Arial"/>
              </a:defRPr>
            </a:lvl9pPr>
          </a:lstStyle>
          <a:p xmlns:a="http://schemas.openxmlformats.org/drawingml/2006/main">
            <a:pPr algn="l">
              <a:defRPr sz="1725" b="0">
                <a:solidFill>
                  <a:srgbClr val="C0C0CB"/>
                </a:solidFill>
                <a:latin typeface="Arial"/>
                <a:ea typeface="Arial"/>
                <a:cs typeface="Arial"/>
              </a:defRPr>
            </a:pPr>
            <a:r>
              <a:rPr sz="1725" b="0">
                <a:solidFill>
                  <a:srgbClr val="C0C0CB"/>
                </a:solidFill>
                <a:latin typeface="Arial"/>
                <a:ea typeface="Arial"/>
                <a:cs typeface="Arial"/>
              </a:rPr>
              <a:t>Software Engineer, Cisco</a:t>
            </a:r>
          </a:p>
        </p:txBody>
      </p:sp>
    </p:spTree>
    <p:extLst>
      <p:ext uri="{BB962C8B-B14F-4D97-AF65-F5344CB8AC3E}">
        <p14:creationId xmlns:p14="http://schemas.microsoft.com/office/powerpoint/2010/main" val="93099524"/>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8" name="WHY MULTIPLE AGENTS">
            <a:extLst xmlns:a="http://schemas.openxmlformats.org/drawingml/2006/main">
              <a:ext uri="{FF2B5EF4-FFF2-40B4-BE49-F238E27FC236}">
                <a16:creationId xmlns:a16="http://schemas.microsoft.com/office/drawing/2014/main" id="{4B1F7E5F-3DCC-4D36-A551-A19347C28722}"/>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MULTIPLE AGENTS</a:t>
            </a:r>
          </a:p>
        </p:txBody>
      </p:sp>
      <p:sp>
        <p:nvSpPr>
          <p:cNvPr id="2" name="02">
            <a:extLst xmlns:a="http://schemas.openxmlformats.org/drawingml/2006/main">
              <a:ext uri="{FF2B5EF4-FFF2-40B4-BE49-F238E27FC236}">
                <a16:creationId xmlns:a16="http://schemas.microsoft.com/office/drawing/2014/main" id="{694604A0-65E5-4E82-8FCD-8BBF312222E1}"/>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02</a:t>
            </a:r>
          </a:p>
        </p:txBody>
      </p:sp>
      <p:sp>
        <p:nvSpPr>
          <p:cNvPr id="3" name="The single-agent coupling problem">
            <a:extLst xmlns:a="http://schemas.openxmlformats.org/drawingml/2006/main">
              <a:ext uri="{FF2B5EF4-FFF2-40B4-BE49-F238E27FC236}">
                <a16:creationId xmlns:a16="http://schemas.microsoft.com/office/drawing/2014/main" id="{BF99C0F6-C58A-4164-A581-3962A410A8AD}"/>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single-agent coupling problem</a:t>
            </a:r>
          </a:p>
        </p:txBody>
      </p:sp>
      <p:sp>
        <p:nvSpPr>
          <p:cNvPr id="4" name="One loop may hold the plan, tool access, working context, and fin">
            <a:extLst xmlns:a="http://schemas.openxmlformats.org/drawingml/2006/main">
              <a:ext uri="{FF2B5EF4-FFF2-40B4-BE49-F238E27FC236}">
                <a16:creationId xmlns:a16="http://schemas.microsoft.com/office/drawing/2014/main" id="{CA91F22B-529A-4F33-9B76-DB44C2CFC9A4}"/>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One loop may hold the plan, tool access, working context, and final judgment.</a:t>
            </a:r>
          </a:p>
        </p:txBody>
      </p:sp>
      <p:sp>
        <p:nvSpPr>
          <p:cNvPr id="5" name="Interpret">
            <a:extLst xmlns:a="http://schemas.openxmlformats.org/drawingml/2006/main">
              <a:ext uri="{FF2B5EF4-FFF2-40B4-BE49-F238E27FC236}">
                <a16:creationId xmlns:a16="http://schemas.microsoft.com/office/drawing/2014/main" id="{7FED8D0E-44DF-459A-97D3-37742EDFD6B7}"/>
              </a:ext>
            </a:extLst>
          </p:cNvPr>
          <p:cNvSpPr>
            <a:spLocks xmlns:a="http://schemas.openxmlformats.org/drawingml/2006/main" noGrp="1"/>
          </p:cNvSpPr>
          <p:nvPr/>
        </p:nvSpPr>
        <p:spPr>
          <a:xfrm xmlns:a="http://schemas.openxmlformats.org/drawingml/2006/main">
            <a:off x="60960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Interpret</a:t>
            </a:r>
          </a:p>
        </p:txBody>
      </p:sp>
      <p:sp>
        <p:nvSpPr>
          <p:cNvPr id="6" name="Investigate">
            <a:extLst xmlns:a="http://schemas.openxmlformats.org/drawingml/2006/main">
              <a:ext uri="{FF2B5EF4-FFF2-40B4-BE49-F238E27FC236}">
                <a16:creationId xmlns:a16="http://schemas.microsoft.com/office/drawing/2014/main" id="{AC86DB1D-EA00-4342-A88F-7FA44F86DD6B}"/>
              </a:ext>
            </a:extLst>
          </p:cNvPr>
          <p:cNvSpPr>
            <a:spLocks xmlns:a="http://schemas.openxmlformats.org/drawingml/2006/main" noGrp="1"/>
          </p:cNvSpPr>
          <p:nvPr/>
        </p:nvSpPr>
        <p:spPr>
          <a:xfrm xmlns:a="http://schemas.openxmlformats.org/drawingml/2006/main">
            <a:off x="3476625"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Investigate</a:t>
            </a:r>
          </a:p>
        </p:txBody>
      </p:sp>
      <p:sp>
        <p:nvSpPr>
          <p:cNvPr id="7" name="Evaluate">
            <a:extLst xmlns:a="http://schemas.openxmlformats.org/drawingml/2006/main">
              <a:ext uri="{FF2B5EF4-FFF2-40B4-BE49-F238E27FC236}">
                <a16:creationId xmlns:a16="http://schemas.microsoft.com/office/drawing/2014/main" id="{035F5399-4E95-45C9-8A72-18C2ECB5A6E7}"/>
              </a:ext>
            </a:extLst>
          </p:cNvPr>
          <p:cNvSpPr>
            <a:spLocks xmlns:a="http://schemas.openxmlformats.org/drawingml/2006/main" noGrp="1"/>
          </p:cNvSpPr>
          <p:nvPr/>
        </p:nvSpPr>
        <p:spPr>
          <a:xfrm xmlns:a="http://schemas.openxmlformats.org/drawingml/2006/main">
            <a:off x="634365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Evaluate</a:t>
            </a:r>
          </a:p>
        </p:txBody>
      </p:sp>
      <p:sp>
        <p:nvSpPr>
          <p:cNvPr id="8" name="Act">
            <a:extLst xmlns:a="http://schemas.openxmlformats.org/drawingml/2006/main">
              <a:ext uri="{FF2B5EF4-FFF2-40B4-BE49-F238E27FC236}">
                <a16:creationId xmlns:a16="http://schemas.microsoft.com/office/drawing/2014/main" id="{3998BDEB-5363-468D-973B-4F7AE0CD3E20}"/>
              </a:ext>
            </a:extLst>
          </p:cNvPr>
          <p:cNvSpPr>
            <a:spLocks xmlns:a="http://schemas.openxmlformats.org/drawingml/2006/main" noGrp="1"/>
          </p:cNvSpPr>
          <p:nvPr/>
        </p:nvSpPr>
        <p:spPr>
          <a:xfrm xmlns:a="http://schemas.openxmlformats.org/drawingml/2006/main">
            <a:off x="9210675" y="2952750"/>
            <a:ext cx="23717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Act</a:t>
            </a:r>
          </a:p>
        </p:txBody>
      </p:sp>
      <p:cxnSp>
        <p:nvCxnSpPr>
          <p:cNvPr id="9" name="">
            <a:extLst xmlns:a="http://schemas.openxmlformats.org/drawingml/2006/main">
              <a:ext uri="{FF2B5EF4-FFF2-40B4-BE49-F238E27FC236}">
                <a16:creationId xmlns:a16="http://schemas.microsoft.com/office/drawing/2014/main" id="{D786967E-CDD8-4840-817A-32DDF8691712}"/>
              </a:ext>
            </a:extLst>
          </p:cNvPr>
          <p:cNvCxnSpPr/>
          <p:nvPr/>
        </p:nvCxnSpPr>
        <p:spPr>
          <a:xfrm xmlns:a="http://schemas.openxmlformats.org/drawingml/2006/main" flipH="0" flipV="0">
            <a:off x="284797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0" name="">
            <a:extLst xmlns:a="http://schemas.openxmlformats.org/drawingml/2006/main">
              <a:ext uri="{FF2B5EF4-FFF2-40B4-BE49-F238E27FC236}">
                <a16:creationId xmlns:a16="http://schemas.microsoft.com/office/drawing/2014/main" id="{CB7F6C0F-D41C-4CA7-9BD3-02EE6976FF2E}"/>
              </a:ext>
            </a:extLst>
          </p:cNvPr>
          <p:cNvCxnSpPr/>
          <p:nvPr/>
        </p:nvCxnSpPr>
        <p:spPr>
          <a:xfrm xmlns:a="http://schemas.openxmlformats.org/drawingml/2006/main" flipH="0" flipV="0">
            <a:off x="5715000"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632EBF65-F767-4668-AEE7-03635774A8B8}"/>
              </a:ext>
            </a:extLst>
          </p:cNvPr>
          <p:cNvCxnSpPr/>
          <p:nvPr/>
        </p:nvCxnSpPr>
        <p:spPr>
          <a:xfrm xmlns:a="http://schemas.openxmlformats.org/drawingml/2006/main" flipH="0" flipV="0">
            <a:off x="858202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2" name="Shared context">
            <a:extLst xmlns:a="http://schemas.openxmlformats.org/drawingml/2006/main">
              <a:ext uri="{FF2B5EF4-FFF2-40B4-BE49-F238E27FC236}">
                <a16:creationId xmlns:a16="http://schemas.microsoft.com/office/drawing/2014/main" id="{FADC3198-A086-4787-8141-3F466014C2CE}"/>
              </a:ext>
            </a:extLst>
          </p:cNvPr>
          <p:cNvSpPr>
            <a:spLocks xmlns:a="http://schemas.openxmlformats.org/drawingml/2006/main" noGrp="1"/>
          </p:cNvSpPr>
          <p:nvPr/>
        </p:nvSpPr>
        <p:spPr>
          <a:xfrm xmlns:a="http://schemas.openxmlformats.org/drawingml/2006/main">
            <a:off x="609600" y="44005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Arial"/>
                <a:ea typeface="Arial"/>
                <a:cs typeface="Arial"/>
              </a:defRPr>
            </a:defPPr>
            <a:lvl1pPr algn="l">
              <a:defRPr sz="2250" b="1">
                <a:solidFill>
                  <a:srgbClr val="6D5CE7"/>
                </a:solidFill>
                <a:latin typeface="Arial"/>
                <a:ea typeface="Arial"/>
                <a:cs typeface="Arial"/>
              </a:defRPr>
            </a:lvl1pPr>
            <a:lvl2pPr algn="l">
              <a:defRPr sz="2250" b="1">
                <a:solidFill>
                  <a:srgbClr val="6D5CE7"/>
                </a:solidFill>
                <a:latin typeface="Arial"/>
                <a:ea typeface="Arial"/>
                <a:cs typeface="Arial"/>
              </a:defRPr>
            </a:lvl2pPr>
            <a:lvl3pPr algn="l">
              <a:defRPr sz="2250" b="1">
                <a:solidFill>
                  <a:srgbClr val="6D5CE7"/>
                </a:solidFill>
                <a:latin typeface="Arial"/>
                <a:ea typeface="Arial"/>
                <a:cs typeface="Arial"/>
              </a:defRPr>
            </a:lvl3pPr>
            <a:lvl4pPr algn="l">
              <a:defRPr sz="2250" b="1">
                <a:solidFill>
                  <a:srgbClr val="6D5CE7"/>
                </a:solidFill>
                <a:latin typeface="Arial"/>
                <a:ea typeface="Arial"/>
                <a:cs typeface="Arial"/>
              </a:defRPr>
            </a:lvl4pPr>
            <a:lvl5pPr algn="l">
              <a:defRPr sz="2250" b="1">
                <a:solidFill>
                  <a:srgbClr val="6D5CE7"/>
                </a:solidFill>
                <a:latin typeface="Arial"/>
                <a:ea typeface="Arial"/>
                <a:cs typeface="Arial"/>
              </a:defRPr>
            </a:lvl5pPr>
            <a:lvl6pPr algn="l">
              <a:defRPr sz="2250" b="1">
                <a:solidFill>
                  <a:srgbClr val="6D5CE7"/>
                </a:solidFill>
                <a:latin typeface="Arial"/>
                <a:ea typeface="Arial"/>
                <a:cs typeface="Arial"/>
              </a:defRPr>
            </a:lvl6pPr>
            <a:lvl7pPr algn="l">
              <a:defRPr sz="2250" b="1">
                <a:solidFill>
                  <a:srgbClr val="6D5CE7"/>
                </a:solidFill>
                <a:latin typeface="Arial"/>
                <a:ea typeface="Arial"/>
                <a:cs typeface="Arial"/>
              </a:defRPr>
            </a:lvl7pPr>
            <a:lvl8pPr algn="l">
              <a:defRPr sz="2250" b="1">
                <a:solidFill>
                  <a:srgbClr val="6D5CE7"/>
                </a:solidFill>
                <a:latin typeface="Arial"/>
                <a:ea typeface="Arial"/>
                <a:cs typeface="Arial"/>
              </a:defRPr>
            </a:lvl8pPr>
            <a:lvl9pPr algn="l">
              <a:defRPr sz="2250" b="1">
                <a:solidFill>
                  <a:srgbClr val="6D5CE7"/>
                </a:solidFill>
                <a:latin typeface="Arial"/>
                <a:ea typeface="Arial"/>
                <a:cs typeface="Arial"/>
              </a:defRPr>
            </a:lvl9pPr>
          </a:lstStyle>
          <a:p xmlns:a="http://schemas.openxmlformats.org/drawingml/2006/main">
            <a:pPr algn="l">
              <a:defRPr sz="2250" b="1">
                <a:solidFill>
                  <a:srgbClr val="6D5CE7"/>
                </a:solidFill>
                <a:latin typeface="Arial"/>
                <a:ea typeface="Arial"/>
                <a:cs typeface="Arial"/>
              </a:defRPr>
            </a:pPr>
            <a:r>
              <a:rPr sz="2250" b="1">
                <a:solidFill>
                  <a:srgbClr val="6D5CE7"/>
                </a:solidFill>
                <a:latin typeface="Arial"/>
                <a:ea typeface="Arial"/>
                <a:cs typeface="Arial"/>
              </a:rPr>
              <a:t>Shared context</a:t>
            </a:r>
          </a:p>
        </p:txBody>
      </p:sp>
      <p:sp>
        <p:nvSpPr>
          <p:cNvPr id="13" name="Earlier mistakes can influence later steps.">
            <a:extLst xmlns:a="http://schemas.openxmlformats.org/drawingml/2006/main">
              <a:ext uri="{FF2B5EF4-FFF2-40B4-BE49-F238E27FC236}">
                <a16:creationId xmlns:a16="http://schemas.microsoft.com/office/drawing/2014/main" id="{E3AF6204-DD34-46EE-9AC3-42DF455F107A}"/>
              </a:ext>
            </a:extLst>
          </p:cNvPr>
          <p:cNvSpPr>
            <a:spLocks xmlns:a="http://schemas.openxmlformats.org/drawingml/2006/main" noGrp="1"/>
          </p:cNvSpPr>
          <p:nvPr/>
        </p:nvSpPr>
        <p:spPr>
          <a:xfrm xmlns:a="http://schemas.openxmlformats.org/drawingml/2006/main">
            <a:off x="609600" y="486727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Earlier mistakes can influence later steps.</a:t>
            </a:r>
          </a:p>
        </p:txBody>
      </p:sp>
      <p:sp>
        <p:nvSpPr>
          <p:cNvPr id="14" name="Shared permissions">
            <a:extLst xmlns:a="http://schemas.openxmlformats.org/drawingml/2006/main">
              <a:ext uri="{FF2B5EF4-FFF2-40B4-BE49-F238E27FC236}">
                <a16:creationId xmlns:a16="http://schemas.microsoft.com/office/drawing/2014/main" id="{32AEB98A-B801-444A-B6CF-A50849BA9AD9}"/>
              </a:ext>
            </a:extLst>
          </p:cNvPr>
          <p:cNvSpPr>
            <a:spLocks xmlns:a="http://schemas.openxmlformats.org/drawingml/2006/main" noGrp="1"/>
          </p:cNvSpPr>
          <p:nvPr/>
        </p:nvSpPr>
        <p:spPr>
          <a:xfrm xmlns:a="http://schemas.openxmlformats.org/drawingml/2006/main">
            <a:off x="4391025" y="44005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D4824"/>
                </a:solidFill>
                <a:latin typeface="Arial"/>
                <a:ea typeface="Arial"/>
                <a:cs typeface="Arial"/>
              </a:defRPr>
            </a:defPPr>
            <a:lvl1pPr algn="l">
              <a:defRPr sz="2250" b="1">
                <a:solidFill>
                  <a:srgbClr val="BD4824"/>
                </a:solidFill>
                <a:latin typeface="Arial"/>
                <a:ea typeface="Arial"/>
                <a:cs typeface="Arial"/>
              </a:defRPr>
            </a:lvl1pPr>
            <a:lvl2pPr algn="l">
              <a:defRPr sz="2250" b="1">
                <a:solidFill>
                  <a:srgbClr val="BD4824"/>
                </a:solidFill>
                <a:latin typeface="Arial"/>
                <a:ea typeface="Arial"/>
                <a:cs typeface="Arial"/>
              </a:defRPr>
            </a:lvl2pPr>
            <a:lvl3pPr algn="l">
              <a:defRPr sz="2250" b="1">
                <a:solidFill>
                  <a:srgbClr val="BD4824"/>
                </a:solidFill>
                <a:latin typeface="Arial"/>
                <a:ea typeface="Arial"/>
                <a:cs typeface="Arial"/>
              </a:defRPr>
            </a:lvl3pPr>
            <a:lvl4pPr algn="l">
              <a:defRPr sz="2250" b="1">
                <a:solidFill>
                  <a:srgbClr val="BD4824"/>
                </a:solidFill>
                <a:latin typeface="Arial"/>
                <a:ea typeface="Arial"/>
                <a:cs typeface="Arial"/>
              </a:defRPr>
            </a:lvl4pPr>
            <a:lvl5pPr algn="l">
              <a:defRPr sz="2250" b="1">
                <a:solidFill>
                  <a:srgbClr val="BD4824"/>
                </a:solidFill>
                <a:latin typeface="Arial"/>
                <a:ea typeface="Arial"/>
                <a:cs typeface="Arial"/>
              </a:defRPr>
            </a:lvl5pPr>
            <a:lvl6pPr algn="l">
              <a:defRPr sz="2250" b="1">
                <a:solidFill>
                  <a:srgbClr val="BD4824"/>
                </a:solidFill>
                <a:latin typeface="Arial"/>
                <a:ea typeface="Arial"/>
                <a:cs typeface="Arial"/>
              </a:defRPr>
            </a:lvl6pPr>
            <a:lvl7pPr algn="l">
              <a:defRPr sz="2250" b="1">
                <a:solidFill>
                  <a:srgbClr val="BD4824"/>
                </a:solidFill>
                <a:latin typeface="Arial"/>
                <a:ea typeface="Arial"/>
                <a:cs typeface="Arial"/>
              </a:defRPr>
            </a:lvl7pPr>
            <a:lvl8pPr algn="l">
              <a:defRPr sz="2250" b="1">
                <a:solidFill>
                  <a:srgbClr val="BD4824"/>
                </a:solidFill>
                <a:latin typeface="Arial"/>
                <a:ea typeface="Arial"/>
                <a:cs typeface="Arial"/>
              </a:defRPr>
            </a:lvl8pPr>
            <a:lvl9pPr algn="l">
              <a:defRPr sz="2250" b="1">
                <a:solidFill>
                  <a:srgbClr val="BD4824"/>
                </a:solidFill>
                <a:latin typeface="Arial"/>
                <a:ea typeface="Arial"/>
                <a:cs typeface="Arial"/>
              </a:defRPr>
            </a:lvl9pPr>
          </a:lstStyle>
          <a:p xmlns:a="http://schemas.openxmlformats.org/drawingml/2006/main">
            <a:pPr algn="l">
              <a:defRPr sz="2250" b="1">
                <a:solidFill>
                  <a:srgbClr val="BD4824"/>
                </a:solidFill>
                <a:latin typeface="Arial"/>
                <a:ea typeface="Arial"/>
                <a:cs typeface="Arial"/>
              </a:defRPr>
            </a:pPr>
            <a:r>
              <a:rPr sz="2250" b="1">
                <a:solidFill>
                  <a:srgbClr val="BD4824"/>
                </a:solidFill>
                <a:latin typeface="Arial"/>
                <a:ea typeface="Arial"/>
                <a:cs typeface="Arial"/>
              </a:rPr>
              <a:t>Shared permissions</a:t>
            </a:r>
          </a:p>
        </p:txBody>
      </p:sp>
      <p:sp>
        <p:nvSpPr>
          <p:cNvPr id="15" name="Tool access can span analysis and action.">
            <a:extLst xmlns:a="http://schemas.openxmlformats.org/drawingml/2006/main">
              <a:ext uri="{FF2B5EF4-FFF2-40B4-BE49-F238E27FC236}">
                <a16:creationId xmlns:a16="http://schemas.microsoft.com/office/drawing/2014/main" id="{D0288811-827D-4157-BAE0-AA5A8242D84F}"/>
              </a:ext>
            </a:extLst>
          </p:cNvPr>
          <p:cNvSpPr>
            <a:spLocks xmlns:a="http://schemas.openxmlformats.org/drawingml/2006/main" noGrp="1"/>
          </p:cNvSpPr>
          <p:nvPr/>
        </p:nvSpPr>
        <p:spPr>
          <a:xfrm xmlns:a="http://schemas.openxmlformats.org/drawingml/2006/main">
            <a:off x="4391025" y="486727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Tool access can span analysis and action.</a:t>
            </a:r>
          </a:p>
        </p:txBody>
      </p:sp>
      <p:sp>
        <p:nvSpPr>
          <p:cNvPr id="16" name="Opaque handoffs">
            <a:extLst xmlns:a="http://schemas.openxmlformats.org/drawingml/2006/main">
              <a:ext uri="{FF2B5EF4-FFF2-40B4-BE49-F238E27FC236}">
                <a16:creationId xmlns:a16="http://schemas.microsoft.com/office/drawing/2014/main" id="{FD566BDD-8AEB-458E-B173-BA3E1F25A2A6}"/>
              </a:ext>
            </a:extLst>
          </p:cNvPr>
          <p:cNvSpPr>
            <a:spLocks xmlns:a="http://schemas.openxmlformats.org/drawingml/2006/main" noGrp="1"/>
          </p:cNvSpPr>
          <p:nvPr/>
        </p:nvSpPr>
        <p:spPr>
          <a:xfrm xmlns:a="http://schemas.openxmlformats.org/drawingml/2006/main">
            <a:off x="8172450" y="4400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B"/>
                </a:solidFill>
                <a:latin typeface="Arial"/>
                <a:ea typeface="Arial"/>
                <a:cs typeface="Arial"/>
              </a:defRPr>
            </a:defPPr>
            <a:lvl1pPr algn="l">
              <a:defRPr sz="2250" b="1">
                <a:solidFill>
                  <a:srgbClr val="087F8B"/>
                </a:solidFill>
                <a:latin typeface="Arial"/>
                <a:ea typeface="Arial"/>
                <a:cs typeface="Arial"/>
              </a:defRPr>
            </a:lvl1pPr>
            <a:lvl2pPr algn="l">
              <a:defRPr sz="2250" b="1">
                <a:solidFill>
                  <a:srgbClr val="087F8B"/>
                </a:solidFill>
                <a:latin typeface="Arial"/>
                <a:ea typeface="Arial"/>
                <a:cs typeface="Arial"/>
              </a:defRPr>
            </a:lvl2pPr>
            <a:lvl3pPr algn="l">
              <a:defRPr sz="2250" b="1">
                <a:solidFill>
                  <a:srgbClr val="087F8B"/>
                </a:solidFill>
                <a:latin typeface="Arial"/>
                <a:ea typeface="Arial"/>
                <a:cs typeface="Arial"/>
              </a:defRPr>
            </a:lvl3pPr>
            <a:lvl4pPr algn="l">
              <a:defRPr sz="2250" b="1">
                <a:solidFill>
                  <a:srgbClr val="087F8B"/>
                </a:solidFill>
                <a:latin typeface="Arial"/>
                <a:ea typeface="Arial"/>
                <a:cs typeface="Arial"/>
              </a:defRPr>
            </a:lvl4pPr>
            <a:lvl5pPr algn="l">
              <a:defRPr sz="2250" b="1">
                <a:solidFill>
                  <a:srgbClr val="087F8B"/>
                </a:solidFill>
                <a:latin typeface="Arial"/>
                <a:ea typeface="Arial"/>
                <a:cs typeface="Arial"/>
              </a:defRPr>
            </a:lvl5pPr>
            <a:lvl6pPr algn="l">
              <a:defRPr sz="2250" b="1">
                <a:solidFill>
                  <a:srgbClr val="087F8B"/>
                </a:solidFill>
                <a:latin typeface="Arial"/>
                <a:ea typeface="Arial"/>
                <a:cs typeface="Arial"/>
              </a:defRPr>
            </a:lvl6pPr>
            <a:lvl7pPr algn="l">
              <a:defRPr sz="2250" b="1">
                <a:solidFill>
                  <a:srgbClr val="087F8B"/>
                </a:solidFill>
                <a:latin typeface="Arial"/>
                <a:ea typeface="Arial"/>
                <a:cs typeface="Arial"/>
              </a:defRPr>
            </a:lvl7pPr>
            <a:lvl8pPr algn="l">
              <a:defRPr sz="2250" b="1">
                <a:solidFill>
                  <a:srgbClr val="087F8B"/>
                </a:solidFill>
                <a:latin typeface="Arial"/>
                <a:ea typeface="Arial"/>
                <a:cs typeface="Arial"/>
              </a:defRPr>
            </a:lvl8pPr>
            <a:lvl9pPr algn="l">
              <a:defRPr sz="2250" b="1">
                <a:solidFill>
                  <a:srgbClr val="087F8B"/>
                </a:solidFill>
                <a:latin typeface="Arial"/>
                <a:ea typeface="Arial"/>
                <a:cs typeface="Arial"/>
              </a:defRPr>
            </a:lvl9pPr>
          </a:lstStyle>
          <a:p xmlns:a="http://schemas.openxmlformats.org/drawingml/2006/main">
            <a:pPr algn="l">
              <a:defRPr sz="2250" b="1">
                <a:solidFill>
                  <a:srgbClr val="087F8B"/>
                </a:solidFill>
                <a:latin typeface="Arial"/>
                <a:ea typeface="Arial"/>
                <a:cs typeface="Arial"/>
              </a:defRPr>
            </a:pPr>
            <a:r>
              <a:rPr sz="2250" b="1">
                <a:solidFill>
                  <a:srgbClr val="087F8B"/>
                </a:solidFill>
                <a:latin typeface="Arial"/>
                <a:ea typeface="Arial"/>
                <a:cs typeface="Arial"/>
              </a:rPr>
              <a:t>Opaque handoffs</a:t>
            </a:r>
          </a:p>
        </p:txBody>
      </p:sp>
      <p:sp>
        <p:nvSpPr>
          <p:cNvPr id="17" name="Intermediate decisions are harder to isolate.">
            <a:extLst xmlns:a="http://schemas.openxmlformats.org/drawingml/2006/main">
              <a:ext uri="{FF2B5EF4-FFF2-40B4-BE49-F238E27FC236}">
                <a16:creationId xmlns:a16="http://schemas.microsoft.com/office/drawing/2014/main" id="{0434A915-596C-4668-A5C8-C453E0EBAA76}"/>
              </a:ext>
            </a:extLst>
          </p:cNvPr>
          <p:cNvSpPr>
            <a:spLocks xmlns:a="http://schemas.openxmlformats.org/drawingml/2006/main" noGrp="1"/>
          </p:cNvSpPr>
          <p:nvPr/>
        </p:nvSpPr>
        <p:spPr>
          <a:xfrm xmlns:a="http://schemas.openxmlformats.org/drawingml/2006/main">
            <a:off x="8172450" y="4867275"/>
            <a:ext cx="3409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Intermediate decisions are harder to isolate.</a:t>
            </a:r>
          </a:p>
        </p:txBody>
      </p:sp>
    </p:spTree>
    <p:extLst>
      <p:ext uri="{BB962C8B-B14F-4D97-AF65-F5344CB8AC3E}">
        <p14:creationId xmlns:p14="http://schemas.microsoft.com/office/powerpoint/2010/main" val="975152579"/>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0" name="ARCHITECTURE CHOICE">
            <a:extLst xmlns:a="http://schemas.openxmlformats.org/drawingml/2006/main">
              <a:ext uri="{FF2B5EF4-FFF2-40B4-BE49-F238E27FC236}">
                <a16:creationId xmlns:a16="http://schemas.microsoft.com/office/drawing/2014/main" id="{949EF881-0147-469F-AD12-02A7365A377A}"/>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CHOICE</a:t>
            </a:r>
          </a:p>
        </p:txBody>
      </p:sp>
      <p:sp>
        <p:nvSpPr>
          <p:cNvPr id="2" name="03">
            <a:extLst xmlns:a="http://schemas.openxmlformats.org/drawingml/2006/main">
              <a:ext uri="{FF2B5EF4-FFF2-40B4-BE49-F238E27FC236}">
                <a16:creationId xmlns:a16="http://schemas.microsoft.com/office/drawing/2014/main" id="{2D485EE9-326A-41DC-92C8-4E7EB45914EE}"/>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03</a:t>
            </a:r>
          </a:p>
        </p:txBody>
      </p:sp>
      <p:sp>
        <p:nvSpPr>
          <p:cNvPr id="3" name="When multiple agents earn their cost">
            <a:extLst xmlns:a="http://schemas.openxmlformats.org/drawingml/2006/main">
              <a:ext uri="{FF2B5EF4-FFF2-40B4-BE49-F238E27FC236}">
                <a16:creationId xmlns:a16="http://schemas.microsoft.com/office/drawing/2014/main" id="{6C6AB62C-756F-4D34-AC1E-309CBD4270CC}"/>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When multiple agents earn their cost</a:t>
            </a:r>
          </a:p>
        </p:txBody>
      </p:sp>
      <p:sp>
        <p:nvSpPr>
          <p:cNvPr id="4" name="Use specialization when each role has a distinct contract and a t">
            <a:extLst xmlns:a="http://schemas.openxmlformats.org/drawingml/2006/main">
              <a:ext uri="{FF2B5EF4-FFF2-40B4-BE49-F238E27FC236}">
                <a16:creationId xmlns:a16="http://schemas.microsoft.com/office/drawing/2014/main" id="{A1581784-2DAD-4AA0-B4F7-42B4A6F6535C}"/>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Use specialization when each role has a distinct contract and a testable job.</a:t>
            </a:r>
          </a:p>
        </p:txBody>
      </p:sp>
      <p:sp>
        <p:nvSpPr>
          <p:cNvPr id="5" name="Useful separation">
            <a:extLst xmlns:a="http://schemas.openxmlformats.org/drawingml/2006/main">
              <a:ext uri="{FF2B5EF4-FFF2-40B4-BE49-F238E27FC236}">
                <a16:creationId xmlns:a16="http://schemas.microsoft.com/office/drawing/2014/main" id="{838CB733-15C7-4DFD-BFEC-B4C3DF134FB2}"/>
              </a:ext>
            </a:extLst>
          </p:cNvPr>
          <p:cNvSpPr>
            <a:spLocks xmlns:a="http://schemas.openxmlformats.org/drawingml/2006/main" noGrp="1"/>
          </p:cNvSpPr>
          <p:nvPr/>
        </p:nvSpPr>
        <p:spPr>
          <a:xfrm xmlns:a="http://schemas.openxmlformats.org/drawingml/2006/main">
            <a:off x="609600" y="27813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D5CE7"/>
                </a:solidFill>
                <a:latin typeface="Arial"/>
                <a:ea typeface="Arial"/>
                <a:cs typeface="Arial"/>
              </a:defRPr>
            </a:defPPr>
            <a:lvl1pPr algn="l">
              <a:defRPr sz="2550" b="1">
                <a:solidFill>
                  <a:srgbClr val="6D5CE7"/>
                </a:solidFill>
                <a:latin typeface="Arial"/>
                <a:ea typeface="Arial"/>
                <a:cs typeface="Arial"/>
              </a:defRPr>
            </a:lvl1pPr>
            <a:lvl2pPr algn="l">
              <a:defRPr sz="2550" b="1">
                <a:solidFill>
                  <a:srgbClr val="6D5CE7"/>
                </a:solidFill>
                <a:latin typeface="Arial"/>
                <a:ea typeface="Arial"/>
                <a:cs typeface="Arial"/>
              </a:defRPr>
            </a:lvl2pPr>
            <a:lvl3pPr algn="l">
              <a:defRPr sz="2550" b="1">
                <a:solidFill>
                  <a:srgbClr val="6D5CE7"/>
                </a:solidFill>
                <a:latin typeface="Arial"/>
                <a:ea typeface="Arial"/>
                <a:cs typeface="Arial"/>
              </a:defRPr>
            </a:lvl3pPr>
            <a:lvl4pPr algn="l">
              <a:defRPr sz="2550" b="1">
                <a:solidFill>
                  <a:srgbClr val="6D5CE7"/>
                </a:solidFill>
                <a:latin typeface="Arial"/>
                <a:ea typeface="Arial"/>
                <a:cs typeface="Arial"/>
              </a:defRPr>
            </a:lvl4pPr>
            <a:lvl5pPr algn="l">
              <a:defRPr sz="2550" b="1">
                <a:solidFill>
                  <a:srgbClr val="6D5CE7"/>
                </a:solidFill>
                <a:latin typeface="Arial"/>
                <a:ea typeface="Arial"/>
                <a:cs typeface="Arial"/>
              </a:defRPr>
            </a:lvl5pPr>
            <a:lvl6pPr algn="l">
              <a:defRPr sz="2550" b="1">
                <a:solidFill>
                  <a:srgbClr val="6D5CE7"/>
                </a:solidFill>
                <a:latin typeface="Arial"/>
                <a:ea typeface="Arial"/>
                <a:cs typeface="Arial"/>
              </a:defRPr>
            </a:lvl6pPr>
            <a:lvl7pPr algn="l">
              <a:defRPr sz="2550" b="1">
                <a:solidFill>
                  <a:srgbClr val="6D5CE7"/>
                </a:solidFill>
                <a:latin typeface="Arial"/>
                <a:ea typeface="Arial"/>
                <a:cs typeface="Arial"/>
              </a:defRPr>
            </a:lvl7pPr>
            <a:lvl8pPr algn="l">
              <a:defRPr sz="2550" b="1">
                <a:solidFill>
                  <a:srgbClr val="6D5CE7"/>
                </a:solidFill>
                <a:latin typeface="Arial"/>
                <a:ea typeface="Arial"/>
                <a:cs typeface="Arial"/>
              </a:defRPr>
            </a:lvl8pPr>
            <a:lvl9pPr algn="l">
              <a:defRPr sz="2550" b="1">
                <a:solidFill>
                  <a:srgbClr val="6D5CE7"/>
                </a:solidFill>
                <a:latin typeface="Arial"/>
                <a:ea typeface="Arial"/>
                <a:cs typeface="Arial"/>
              </a:defRPr>
            </a:lvl9pPr>
          </a:lstStyle>
          <a:p xmlns:a="http://schemas.openxmlformats.org/drawingml/2006/main">
            <a:pPr algn="l">
              <a:defRPr sz="2550" b="1">
                <a:solidFill>
                  <a:srgbClr val="6D5CE7"/>
                </a:solidFill>
                <a:latin typeface="Arial"/>
                <a:ea typeface="Arial"/>
                <a:cs typeface="Arial"/>
              </a:defRPr>
            </a:pPr>
            <a:r>
              <a:rPr sz="2550" b="1">
                <a:solidFill>
                  <a:srgbClr val="6D5CE7"/>
                </a:solidFill>
                <a:latin typeface="Arial"/>
                <a:ea typeface="Arial"/>
                <a:cs typeface="Arial"/>
              </a:rPr>
              <a:t>Useful separation</a:t>
            </a:r>
          </a:p>
        </p:txBody>
      </p:sp>
      <p:sp>
        <p:nvSpPr>
          <p:cNvPr id="6" name="Different tool permissions&#10;Different evaluation criteria&#10;Independ">
            <a:extLst xmlns:a="http://schemas.openxmlformats.org/drawingml/2006/main">
              <a:ext uri="{FF2B5EF4-FFF2-40B4-BE49-F238E27FC236}">
                <a16:creationId xmlns:a16="http://schemas.microsoft.com/office/drawing/2014/main" id="{97471B38-3FE2-47F7-8BCB-FA613A7079CF}"/>
              </a:ext>
            </a:extLst>
          </p:cNvPr>
          <p:cNvSpPr>
            <a:spLocks xmlns:a="http://schemas.openxmlformats.org/drawingml/2006/main" noGrp="1"/>
          </p:cNvSpPr>
          <p:nvPr/>
        </p:nvSpPr>
        <p:spPr>
          <a:xfrm xmlns:a="http://schemas.openxmlformats.org/drawingml/2006/main">
            <a:off x="609600" y="34385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tool permissions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evaluation criteria</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Independent work to parallelize</a:t>
            </a:r>
          </a:p>
        </p:txBody>
      </p:sp>
      <p:sp>
        <p:nvSpPr>
          <p:cNvPr id="7" name="Coordination costs">
            <a:extLst xmlns:a="http://schemas.openxmlformats.org/drawingml/2006/main">
              <a:ext uri="{FF2B5EF4-FFF2-40B4-BE49-F238E27FC236}">
                <a16:creationId xmlns:a16="http://schemas.microsoft.com/office/drawing/2014/main" id="{B089EC55-42DC-47AA-9B40-ACB41A9EB522}"/>
              </a:ext>
            </a:extLst>
          </p:cNvPr>
          <p:cNvSpPr>
            <a:spLocks xmlns:a="http://schemas.openxmlformats.org/drawingml/2006/main" noGrp="1"/>
          </p:cNvSpPr>
          <p:nvPr/>
        </p:nvSpPr>
        <p:spPr>
          <a:xfrm xmlns:a="http://schemas.openxmlformats.org/drawingml/2006/main">
            <a:off x="6543675" y="2781300"/>
            <a:ext cx="5038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4824"/>
                </a:solidFill>
                <a:latin typeface="Arial"/>
                <a:ea typeface="Arial"/>
                <a:cs typeface="Arial"/>
              </a:defRPr>
            </a:defPPr>
            <a:lvl1pPr algn="l">
              <a:defRPr sz="2550" b="1">
                <a:solidFill>
                  <a:srgbClr val="BD4824"/>
                </a:solidFill>
                <a:latin typeface="Arial"/>
                <a:ea typeface="Arial"/>
                <a:cs typeface="Arial"/>
              </a:defRPr>
            </a:lvl1pPr>
            <a:lvl2pPr algn="l">
              <a:defRPr sz="2550" b="1">
                <a:solidFill>
                  <a:srgbClr val="BD4824"/>
                </a:solidFill>
                <a:latin typeface="Arial"/>
                <a:ea typeface="Arial"/>
                <a:cs typeface="Arial"/>
              </a:defRPr>
            </a:lvl2pPr>
            <a:lvl3pPr algn="l">
              <a:defRPr sz="2550" b="1">
                <a:solidFill>
                  <a:srgbClr val="BD4824"/>
                </a:solidFill>
                <a:latin typeface="Arial"/>
                <a:ea typeface="Arial"/>
                <a:cs typeface="Arial"/>
              </a:defRPr>
            </a:lvl3pPr>
            <a:lvl4pPr algn="l">
              <a:defRPr sz="2550" b="1">
                <a:solidFill>
                  <a:srgbClr val="BD4824"/>
                </a:solidFill>
                <a:latin typeface="Arial"/>
                <a:ea typeface="Arial"/>
                <a:cs typeface="Arial"/>
              </a:defRPr>
            </a:lvl4pPr>
            <a:lvl5pPr algn="l">
              <a:defRPr sz="2550" b="1">
                <a:solidFill>
                  <a:srgbClr val="BD4824"/>
                </a:solidFill>
                <a:latin typeface="Arial"/>
                <a:ea typeface="Arial"/>
                <a:cs typeface="Arial"/>
              </a:defRPr>
            </a:lvl5pPr>
            <a:lvl6pPr algn="l">
              <a:defRPr sz="2550" b="1">
                <a:solidFill>
                  <a:srgbClr val="BD4824"/>
                </a:solidFill>
                <a:latin typeface="Arial"/>
                <a:ea typeface="Arial"/>
                <a:cs typeface="Arial"/>
              </a:defRPr>
            </a:lvl6pPr>
            <a:lvl7pPr algn="l">
              <a:defRPr sz="2550" b="1">
                <a:solidFill>
                  <a:srgbClr val="BD4824"/>
                </a:solidFill>
                <a:latin typeface="Arial"/>
                <a:ea typeface="Arial"/>
                <a:cs typeface="Arial"/>
              </a:defRPr>
            </a:lvl7pPr>
            <a:lvl8pPr algn="l">
              <a:defRPr sz="2550" b="1">
                <a:solidFill>
                  <a:srgbClr val="BD4824"/>
                </a:solidFill>
                <a:latin typeface="Arial"/>
                <a:ea typeface="Arial"/>
                <a:cs typeface="Arial"/>
              </a:defRPr>
            </a:lvl8pPr>
            <a:lvl9pPr algn="l">
              <a:defRPr sz="2550" b="1">
                <a:solidFill>
                  <a:srgbClr val="BD4824"/>
                </a:solidFill>
                <a:latin typeface="Arial"/>
                <a:ea typeface="Arial"/>
                <a:cs typeface="Arial"/>
              </a:defRPr>
            </a:lvl9pPr>
          </a:lstStyle>
          <a:p xmlns:a="http://schemas.openxmlformats.org/drawingml/2006/main">
            <a:pPr algn="l">
              <a:defRPr sz="2550" b="1">
                <a:solidFill>
                  <a:srgbClr val="BD4824"/>
                </a:solidFill>
                <a:latin typeface="Arial"/>
                <a:ea typeface="Arial"/>
                <a:cs typeface="Arial"/>
              </a:defRPr>
            </a:pPr>
            <a:r>
              <a:rPr sz="2550" b="1">
                <a:solidFill>
                  <a:srgbClr val="BD4824"/>
                </a:solidFill>
                <a:latin typeface="Arial"/>
                <a:ea typeface="Arial"/>
                <a:cs typeface="Arial"/>
              </a:rPr>
              <a:t>Coordination costs</a:t>
            </a:r>
          </a:p>
        </p:txBody>
      </p:sp>
      <p:sp>
        <p:nvSpPr>
          <p:cNvPr id="8" name="More latency and model calls&#10;Handoff failures and shared biases&#10;M">
            <a:extLst xmlns:a="http://schemas.openxmlformats.org/drawingml/2006/main">
              <a:ext uri="{FF2B5EF4-FFF2-40B4-BE49-F238E27FC236}">
                <a16:creationId xmlns:a16="http://schemas.microsoft.com/office/drawing/2014/main" id="{20101ED3-B59A-46FB-B9B7-37A1057B969D}"/>
              </a:ext>
            </a:extLst>
          </p:cNvPr>
          <p:cNvSpPr>
            <a:spLocks xmlns:a="http://schemas.openxmlformats.org/drawingml/2006/main" noGrp="1"/>
          </p:cNvSpPr>
          <p:nvPr/>
        </p:nvSpPr>
        <p:spPr>
          <a:xfrm xmlns:a="http://schemas.openxmlformats.org/drawingml/2006/main">
            <a:off x="6543675" y="3438525"/>
            <a:ext cx="50387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latency and model calls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Handoff failures and shared biases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traces to evaluate</a:t>
            </a:r>
          </a:p>
        </p:txBody>
      </p:sp>
      <p:sp>
        <p:nvSpPr>
          <p:cNvPr id="9" name="Keep one agent when a focused prompt and tool set already meet th">
            <a:extLst xmlns:a="http://schemas.openxmlformats.org/drawingml/2006/main">
              <a:ext uri="{FF2B5EF4-FFF2-40B4-BE49-F238E27FC236}">
                <a16:creationId xmlns:a16="http://schemas.microsoft.com/office/drawing/2014/main" id="{320A91C2-A44A-4D8F-BC6C-9B9FDBA18CD2}"/>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Keep one agent when a focused prompt and tool set already meet the acceptance criteria.</a:t>
            </a:r>
          </a:p>
        </p:txBody>
      </p:sp>
    </p:spTree>
    <p:extLst>
      <p:ext uri="{BB962C8B-B14F-4D97-AF65-F5344CB8AC3E}">
        <p14:creationId xmlns:p14="http://schemas.microsoft.com/office/powerpoint/2010/main" val="1682123958"/>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MULTI-AGENT DESIGN">
            <a:extLst xmlns:a="http://schemas.openxmlformats.org/drawingml/2006/main">
              <a:ext uri="{FF2B5EF4-FFF2-40B4-BE49-F238E27FC236}">
                <a16:creationId xmlns:a16="http://schemas.microsoft.com/office/drawing/2014/main" id="{06202B3F-05E6-4EE3-A15B-47499F2ED5EC}"/>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MULTI-AGENT DESIGN</a:t>
            </a:r>
          </a:p>
        </p:txBody>
      </p:sp>
      <p:sp>
        <p:nvSpPr>
          <p:cNvPr id="2" name="04">
            <a:extLst xmlns:a="http://schemas.openxmlformats.org/drawingml/2006/main">
              <a:ext uri="{FF2B5EF4-FFF2-40B4-BE49-F238E27FC236}">
                <a16:creationId xmlns:a16="http://schemas.microsoft.com/office/drawing/2014/main" id="{8CFFB213-8981-4232-9BDD-CE75A1F9C55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04</a:t>
            </a:r>
          </a:p>
        </p:txBody>
      </p:sp>
      <p:sp>
        <p:nvSpPr>
          <p:cNvPr id="3" name="Contracts make collaboration inspectable">
            <a:extLst xmlns:a="http://schemas.openxmlformats.org/drawingml/2006/main">
              <a:ext uri="{FF2B5EF4-FFF2-40B4-BE49-F238E27FC236}">
                <a16:creationId xmlns:a16="http://schemas.microsoft.com/office/drawing/2014/main" id="{68CE5B0E-CB5A-40F5-98A8-9DC710879D2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Contracts make collaboration inspectable</a:t>
            </a:r>
          </a:p>
        </p:txBody>
      </p:sp>
      <p:sp>
        <p:nvSpPr>
          <p:cNvPr id="4" name="Separate interpretation from enforcement. A reviewer remains a fa">
            <a:extLst xmlns:a="http://schemas.openxmlformats.org/drawingml/2006/main">
              <a:ext uri="{FF2B5EF4-FFF2-40B4-BE49-F238E27FC236}">
                <a16:creationId xmlns:a16="http://schemas.microsoft.com/office/drawing/2014/main" id="{671501F4-00CD-4293-BE1B-C2DB04583F4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Separate interpretation from enforcement. A reviewer remains a fallible model.</a:t>
            </a:r>
          </a:p>
        </p:txBody>
      </p:sp>
      <p:sp>
        <p:nvSpPr>
          <p:cNvPr id="5" name="Specialist role">
            <a:extLst xmlns:a="http://schemas.openxmlformats.org/drawingml/2006/main">
              <a:ext uri="{FF2B5EF4-FFF2-40B4-BE49-F238E27FC236}">
                <a16:creationId xmlns:a16="http://schemas.microsoft.com/office/drawing/2014/main" id="{71BB64E9-A4D0-4C04-B5CF-2D3326C1DC74}"/>
              </a:ext>
            </a:extLst>
          </p:cNvPr>
          <p:cNvSpPr>
            <a:spLocks xmlns:a="http://schemas.openxmlformats.org/drawingml/2006/main" noGrp="1"/>
          </p:cNvSpPr>
          <p:nvPr/>
        </p:nvSpPr>
        <p:spPr>
          <a:xfrm xmlns:a="http://schemas.openxmlformats.org/drawingml/2006/main">
            <a:off x="60960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Specialist role</a:t>
            </a:r>
          </a:p>
        </p:txBody>
      </p:sp>
      <p:sp>
        <p:nvSpPr>
          <p:cNvPr id="6" name="Typed output">
            <a:extLst xmlns:a="http://schemas.openxmlformats.org/drawingml/2006/main">
              <a:ext uri="{FF2B5EF4-FFF2-40B4-BE49-F238E27FC236}">
                <a16:creationId xmlns:a16="http://schemas.microsoft.com/office/drawing/2014/main" id="{BB8AF5BC-C39E-4468-B816-235F1769BA5C}"/>
              </a:ext>
            </a:extLst>
          </p:cNvPr>
          <p:cNvSpPr>
            <a:spLocks xmlns:a="http://schemas.openxmlformats.org/drawingml/2006/main" noGrp="1"/>
          </p:cNvSpPr>
          <p:nvPr/>
        </p:nvSpPr>
        <p:spPr>
          <a:xfrm xmlns:a="http://schemas.openxmlformats.org/drawingml/2006/main">
            <a:off x="4810125"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output</a:t>
            </a:r>
          </a:p>
        </p:txBody>
      </p:sp>
      <p:sp>
        <p:nvSpPr>
          <p:cNvPr id="7" name="Consumer / workflow">
            <a:extLst xmlns:a="http://schemas.openxmlformats.org/drawingml/2006/main">
              <a:ext uri="{FF2B5EF4-FFF2-40B4-BE49-F238E27FC236}">
                <a16:creationId xmlns:a16="http://schemas.microsoft.com/office/drawing/2014/main" id="{9715C201-55D2-4DC9-BDD5-C875976DCE74}"/>
              </a:ext>
            </a:extLst>
          </p:cNvPr>
          <p:cNvSpPr>
            <a:spLocks xmlns:a="http://schemas.openxmlformats.org/drawingml/2006/main" noGrp="1"/>
          </p:cNvSpPr>
          <p:nvPr/>
        </p:nvSpPr>
        <p:spPr>
          <a:xfrm xmlns:a="http://schemas.openxmlformats.org/drawingml/2006/main">
            <a:off x="901065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Consumer / workflow</a:t>
            </a:r>
          </a:p>
        </p:txBody>
      </p:sp>
      <p:cxnSp>
        <p:nvCxnSpPr>
          <p:cNvPr id="8" name="">
            <a:extLst xmlns:a="http://schemas.openxmlformats.org/drawingml/2006/main">
              <a:ext uri="{FF2B5EF4-FFF2-40B4-BE49-F238E27FC236}">
                <a16:creationId xmlns:a16="http://schemas.microsoft.com/office/drawing/2014/main" id="{9AED42FA-369D-46AB-AC38-DDB6458845BD}"/>
              </a:ext>
            </a:extLst>
          </p:cNvPr>
          <p:cNvCxnSpPr/>
          <p:nvPr/>
        </p:nvCxnSpPr>
        <p:spPr>
          <a:xfrm xmlns:a="http://schemas.openxmlformats.org/drawingml/2006/main" flipH="0" flipV="0">
            <a:off x="3181350" y="3371850"/>
            <a:ext cx="16287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9985A8BC-F612-4CDD-B58B-D0EEBAE4B7D1}"/>
              </a:ext>
            </a:extLst>
          </p:cNvPr>
          <p:cNvCxnSpPr/>
          <p:nvPr/>
        </p:nvCxnSpPr>
        <p:spPr>
          <a:xfrm xmlns:a="http://schemas.openxmlformats.org/drawingml/2006/main" flipH="0" flipV="0">
            <a:off x="7381875" y="3371850"/>
            <a:ext cx="16287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Input + allowed tools">
            <a:extLst xmlns:a="http://schemas.openxmlformats.org/drawingml/2006/main">
              <a:ext uri="{FF2B5EF4-FFF2-40B4-BE49-F238E27FC236}">
                <a16:creationId xmlns:a16="http://schemas.microsoft.com/office/drawing/2014/main" id="{9D8BA59B-8664-48DE-814F-24AA363DE7DC}"/>
              </a:ext>
            </a:extLst>
          </p:cNvPr>
          <p:cNvSpPr>
            <a:spLocks xmlns:a="http://schemas.openxmlformats.org/drawingml/2006/main" noGrp="1"/>
          </p:cNvSpPr>
          <p:nvPr/>
        </p:nvSpPr>
        <p:spPr>
          <a:xfrm xmlns:a="http://schemas.openxmlformats.org/drawingml/2006/main">
            <a:off x="609600" y="40767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Arial"/>
                <a:ea typeface="Arial"/>
                <a:cs typeface="Arial"/>
              </a:defRPr>
            </a:defPPr>
            <a:lvl1pPr algn="l">
              <a:defRPr sz="2025" b="1">
                <a:solidFill>
                  <a:srgbClr val="6D5CE7"/>
                </a:solidFill>
                <a:latin typeface="Arial"/>
                <a:ea typeface="Arial"/>
                <a:cs typeface="Arial"/>
              </a:defRPr>
            </a:lvl1pPr>
            <a:lvl2pPr algn="l">
              <a:defRPr sz="2025" b="1">
                <a:solidFill>
                  <a:srgbClr val="6D5CE7"/>
                </a:solidFill>
                <a:latin typeface="Arial"/>
                <a:ea typeface="Arial"/>
                <a:cs typeface="Arial"/>
              </a:defRPr>
            </a:lvl2pPr>
            <a:lvl3pPr algn="l">
              <a:defRPr sz="2025" b="1">
                <a:solidFill>
                  <a:srgbClr val="6D5CE7"/>
                </a:solidFill>
                <a:latin typeface="Arial"/>
                <a:ea typeface="Arial"/>
                <a:cs typeface="Arial"/>
              </a:defRPr>
            </a:lvl3pPr>
            <a:lvl4pPr algn="l">
              <a:defRPr sz="2025" b="1">
                <a:solidFill>
                  <a:srgbClr val="6D5CE7"/>
                </a:solidFill>
                <a:latin typeface="Arial"/>
                <a:ea typeface="Arial"/>
                <a:cs typeface="Arial"/>
              </a:defRPr>
            </a:lvl4pPr>
            <a:lvl5pPr algn="l">
              <a:defRPr sz="2025" b="1">
                <a:solidFill>
                  <a:srgbClr val="6D5CE7"/>
                </a:solidFill>
                <a:latin typeface="Arial"/>
                <a:ea typeface="Arial"/>
                <a:cs typeface="Arial"/>
              </a:defRPr>
            </a:lvl5pPr>
            <a:lvl6pPr algn="l">
              <a:defRPr sz="2025" b="1">
                <a:solidFill>
                  <a:srgbClr val="6D5CE7"/>
                </a:solidFill>
                <a:latin typeface="Arial"/>
                <a:ea typeface="Arial"/>
                <a:cs typeface="Arial"/>
              </a:defRPr>
            </a:lvl6pPr>
            <a:lvl7pPr algn="l">
              <a:defRPr sz="2025" b="1">
                <a:solidFill>
                  <a:srgbClr val="6D5CE7"/>
                </a:solidFill>
                <a:latin typeface="Arial"/>
                <a:ea typeface="Arial"/>
                <a:cs typeface="Arial"/>
              </a:defRPr>
            </a:lvl7pPr>
            <a:lvl8pPr algn="l">
              <a:defRPr sz="2025" b="1">
                <a:solidFill>
                  <a:srgbClr val="6D5CE7"/>
                </a:solidFill>
                <a:latin typeface="Arial"/>
                <a:ea typeface="Arial"/>
                <a:cs typeface="Arial"/>
              </a:defRPr>
            </a:lvl8pPr>
            <a:lvl9pPr algn="l">
              <a:defRPr sz="2025" b="1">
                <a:solidFill>
                  <a:srgbClr val="6D5CE7"/>
                </a:solidFill>
                <a:latin typeface="Arial"/>
                <a:ea typeface="Arial"/>
                <a:cs typeface="Arial"/>
              </a:defRPr>
            </a:lvl9pPr>
          </a:lstStyle>
          <a:p xmlns:a="http://schemas.openxmlformats.org/drawingml/2006/main">
            <a:pPr algn="l">
              <a:defRPr sz="2025" b="1">
                <a:solidFill>
                  <a:srgbClr val="6D5CE7"/>
                </a:solidFill>
                <a:latin typeface="Arial"/>
                <a:ea typeface="Arial"/>
                <a:cs typeface="Arial"/>
              </a:defRPr>
            </a:pPr>
            <a:r>
              <a:rPr sz="2025" b="1">
                <a:solidFill>
                  <a:srgbClr val="6D5CE7"/>
                </a:solidFill>
                <a:latin typeface="Arial"/>
                <a:ea typeface="Arial"/>
                <a:cs typeface="Arial"/>
              </a:rPr>
              <a:t>Input + allowed tools</a:t>
            </a:r>
          </a:p>
        </p:txBody>
      </p:sp>
      <p:sp>
        <p:nvSpPr>
          <p:cNvPr id="11" name="Bound the responsibility&#10;and the stopping condition.">
            <a:extLst xmlns:a="http://schemas.openxmlformats.org/drawingml/2006/main">
              <a:ext uri="{FF2B5EF4-FFF2-40B4-BE49-F238E27FC236}">
                <a16:creationId xmlns:a16="http://schemas.microsoft.com/office/drawing/2014/main" id="{106A7F7F-C6F9-441B-BB47-D5572BE9877A}"/>
              </a:ext>
            </a:extLst>
          </p:cNvPr>
          <p:cNvSpPr>
            <a:spLocks xmlns:a="http://schemas.openxmlformats.org/drawingml/2006/main" noGrp="1"/>
          </p:cNvSpPr>
          <p:nvPr/>
        </p:nvSpPr>
        <p:spPr>
          <a:xfrm xmlns:a="http://schemas.openxmlformats.org/drawingml/2006/main">
            <a:off x="609600" y="45815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Bound the responsibility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the stopping condition.</a:t>
            </a:r>
          </a:p>
        </p:txBody>
      </p:sp>
      <p:sp>
        <p:nvSpPr>
          <p:cNvPr id="12" name="Schema + provenance">
            <a:extLst xmlns:a="http://schemas.openxmlformats.org/drawingml/2006/main">
              <a:ext uri="{FF2B5EF4-FFF2-40B4-BE49-F238E27FC236}">
                <a16:creationId xmlns:a16="http://schemas.microsoft.com/office/drawing/2014/main" id="{6D98D182-2F7E-444B-BE0F-06888A421D1B}"/>
              </a:ext>
            </a:extLst>
          </p:cNvPr>
          <p:cNvSpPr>
            <a:spLocks xmlns:a="http://schemas.openxmlformats.org/drawingml/2006/main" noGrp="1"/>
          </p:cNvSpPr>
          <p:nvPr/>
        </p:nvSpPr>
        <p:spPr>
          <a:xfrm xmlns:a="http://schemas.openxmlformats.org/drawingml/2006/main">
            <a:off x="4810125" y="40767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Arial"/>
                <a:ea typeface="Arial"/>
                <a:cs typeface="Arial"/>
              </a:defRPr>
            </a:defPPr>
            <a:lvl1pPr algn="l">
              <a:defRPr sz="2025" b="1">
                <a:solidFill>
                  <a:srgbClr val="BD4824"/>
                </a:solidFill>
                <a:latin typeface="Arial"/>
                <a:ea typeface="Arial"/>
                <a:cs typeface="Arial"/>
              </a:defRPr>
            </a:lvl1pPr>
            <a:lvl2pPr algn="l">
              <a:defRPr sz="2025" b="1">
                <a:solidFill>
                  <a:srgbClr val="BD4824"/>
                </a:solidFill>
                <a:latin typeface="Arial"/>
                <a:ea typeface="Arial"/>
                <a:cs typeface="Arial"/>
              </a:defRPr>
            </a:lvl2pPr>
            <a:lvl3pPr algn="l">
              <a:defRPr sz="2025" b="1">
                <a:solidFill>
                  <a:srgbClr val="BD4824"/>
                </a:solidFill>
                <a:latin typeface="Arial"/>
                <a:ea typeface="Arial"/>
                <a:cs typeface="Arial"/>
              </a:defRPr>
            </a:lvl3pPr>
            <a:lvl4pPr algn="l">
              <a:defRPr sz="2025" b="1">
                <a:solidFill>
                  <a:srgbClr val="BD4824"/>
                </a:solidFill>
                <a:latin typeface="Arial"/>
                <a:ea typeface="Arial"/>
                <a:cs typeface="Arial"/>
              </a:defRPr>
            </a:lvl4pPr>
            <a:lvl5pPr algn="l">
              <a:defRPr sz="2025" b="1">
                <a:solidFill>
                  <a:srgbClr val="BD4824"/>
                </a:solidFill>
                <a:latin typeface="Arial"/>
                <a:ea typeface="Arial"/>
                <a:cs typeface="Arial"/>
              </a:defRPr>
            </a:lvl5pPr>
            <a:lvl6pPr algn="l">
              <a:defRPr sz="2025" b="1">
                <a:solidFill>
                  <a:srgbClr val="BD4824"/>
                </a:solidFill>
                <a:latin typeface="Arial"/>
                <a:ea typeface="Arial"/>
                <a:cs typeface="Arial"/>
              </a:defRPr>
            </a:lvl6pPr>
            <a:lvl7pPr algn="l">
              <a:defRPr sz="2025" b="1">
                <a:solidFill>
                  <a:srgbClr val="BD4824"/>
                </a:solidFill>
                <a:latin typeface="Arial"/>
                <a:ea typeface="Arial"/>
                <a:cs typeface="Arial"/>
              </a:defRPr>
            </a:lvl7pPr>
            <a:lvl8pPr algn="l">
              <a:defRPr sz="2025" b="1">
                <a:solidFill>
                  <a:srgbClr val="BD4824"/>
                </a:solidFill>
                <a:latin typeface="Arial"/>
                <a:ea typeface="Arial"/>
                <a:cs typeface="Arial"/>
              </a:defRPr>
            </a:lvl8pPr>
            <a:lvl9pPr algn="l">
              <a:defRPr sz="2025" b="1">
                <a:solidFill>
                  <a:srgbClr val="BD4824"/>
                </a:solidFill>
                <a:latin typeface="Arial"/>
                <a:ea typeface="Arial"/>
                <a:cs typeface="Arial"/>
              </a:defRPr>
            </a:lvl9pPr>
          </a:lstStyle>
          <a:p xmlns:a="http://schemas.openxmlformats.org/drawingml/2006/main">
            <a:pPr algn="l">
              <a:defRPr sz="2025" b="1">
                <a:solidFill>
                  <a:srgbClr val="BD4824"/>
                </a:solidFill>
                <a:latin typeface="Arial"/>
                <a:ea typeface="Arial"/>
                <a:cs typeface="Arial"/>
              </a:defRPr>
            </a:pPr>
            <a:r>
              <a:rPr sz="2025" b="1">
                <a:solidFill>
                  <a:srgbClr val="BD4824"/>
                </a:solidFill>
                <a:latin typeface="Arial"/>
                <a:ea typeface="Arial"/>
                <a:cs typeface="Arial"/>
              </a:rPr>
              <a:t>Schema + provenance</a:t>
            </a:r>
          </a:p>
        </p:txBody>
      </p:sp>
      <p:sp>
        <p:nvSpPr>
          <p:cNvPr id="13" name="Expose what the role found&#10;and what remains unknown.">
            <a:extLst xmlns:a="http://schemas.openxmlformats.org/drawingml/2006/main">
              <a:ext uri="{FF2B5EF4-FFF2-40B4-BE49-F238E27FC236}">
                <a16:creationId xmlns:a16="http://schemas.microsoft.com/office/drawing/2014/main" id="{DDE81209-A490-4CC1-8F97-B839013734E3}"/>
              </a:ext>
            </a:extLst>
          </p:cNvPr>
          <p:cNvSpPr>
            <a:spLocks xmlns:a="http://schemas.openxmlformats.org/drawingml/2006/main" noGrp="1"/>
          </p:cNvSpPr>
          <p:nvPr/>
        </p:nvSpPr>
        <p:spPr>
          <a:xfrm xmlns:a="http://schemas.openxmlformats.org/drawingml/2006/main">
            <a:off x="4810125" y="45815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Expose what the role found</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what remains unknown.</a:t>
            </a:r>
          </a:p>
        </p:txBody>
      </p:sp>
      <p:sp>
        <p:nvSpPr>
          <p:cNvPr id="14" name="Checks + permissions">
            <a:extLst xmlns:a="http://schemas.openxmlformats.org/drawingml/2006/main">
              <a:ext uri="{FF2B5EF4-FFF2-40B4-BE49-F238E27FC236}">
                <a16:creationId xmlns:a16="http://schemas.microsoft.com/office/drawing/2014/main" id="{CB853855-6855-425D-8B68-39F12D80E4EE}"/>
              </a:ext>
            </a:extLst>
          </p:cNvPr>
          <p:cNvSpPr>
            <a:spLocks xmlns:a="http://schemas.openxmlformats.org/drawingml/2006/main" noGrp="1"/>
          </p:cNvSpPr>
          <p:nvPr/>
        </p:nvSpPr>
        <p:spPr>
          <a:xfrm xmlns:a="http://schemas.openxmlformats.org/drawingml/2006/main">
            <a:off x="8420100" y="4076700"/>
            <a:ext cx="3162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Arial"/>
                <a:ea typeface="Arial"/>
                <a:cs typeface="Arial"/>
              </a:defRPr>
            </a:defPPr>
            <a:lvl1pPr algn="l">
              <a:defRPr sz="2025" b="1">
                <a:solidFill>
                  <a:srgbClr val="087F8B"/>
                </a:solidFill>
                <a:latin typeface="Arial"/>
                <a:ea typeface="Arial"/>
                <a:cs typeface="Arial"/>
              </a:defRPr>
            </a:lvl1pPr>
            <a:lvl2pPr algn="l">
              <a:defRPr sz="2025" b="1">
                <a:solidFill>
                  <a:srgbClr val="087F8B"/>
                </a:solidFill>
                <a:latin typeface="Arial"/>
                <a:ea typeface="Arial"/>
                <a:cs typeface="Arial"/>
              </a:defRPr>
            </a:lvl2pPr>
            <a:lvl3pPr algn="l">
              <a:defRPr sz="2025" b="1">
                <a:solidFill>
                  <a:srgbClr val="087F8B"/>
                </a:solidFill>
                <a:latin typeface="Arial"/>
                <a:ea typeface="Arial"/>
                <a:cs typeface="Arial"/>
              </a:defRPr>
            </a:lvl3pPr>
            <a:lvl4pPr algn="l">
              <a:defRPr sz="2025" b="1">
                <a:solidFill>
                  <a:srgbClr val="087F8B"/>
                </a:solidFill>
                <a:latin typeface="Arial"/>
                <a:ea typeface="Arial"/>
                <a:cs typeface="Arial"/>
              </a:defRPr>
            </a:lvl4pPr>
            <a:lvl5pPr algn="l">
              <a:defRPr sz="2025" b="1">
                <a:solidFill>
                  <a:srgbClr val="087F8B"/>
                </a:solidFill>
                <a:latin typeface="Arial"/>
                <a:ea typeface="Arial"/>
                <a:cs typeface="Arial"/>
              </a:defRPr>
            </a:lvl5pPr>
            <a:lvl6pPr algn="l">
              <a:defRPr sz="2025" b="1">
                <a:solidFill>
                  <a:srgbClr val="087F8B"/>
                </a:solidFill>
                <a:latin typeface="Arial"/>
                <a:ea typeface="Arial"/>
                <a:cs typeface="Arial"/>
              </a:defRPr>
            </a:lvl6pPr>
            <a:lvl7pPr algn="l">
              <a:defRPr sz="2025" b="1">
                <a:solidFill>
                  <a:srgbClr val="087F8B"/>
                </a:solidFill>
                <a:latin typeface="Arial"/>
                <a:ea typeface="Arial"/>
                <a:cs typeface="Arial"/>
              </a:defRPr>
            </a:lvl7pPr>
            <a:lvl8pPr algn="l">
              <a:defRPr sz="2025" b="1">
                <a:solidFill>
                  <a:srgbClr val="087F8B"/>
                </a:solidFill>
                <a:latin typeface="Arial"/>
                <a:ea typeface="Arial"/>
                <a:cs typeface="Arial"/>
              </a:defRPr>
            </a:lvl8pPr>
            <a:lvl9pPr algn="l">
              <a:defRPr sz="2025" b="1">
                <a:solidFill>
                  <a:srgbClr val="087F8B"/>
                </a:solidFill>
                <a:latin typeface="Arial"/>
                <a:ea typeface="Arial"/>
                <a:cs typeface="Arial"/>
              </a:defRPr>
            </a:lvl9pPr>
          </a:lstStyle>
          <a:p xmlns:a="http://schemas.openxmlformats.org/drawingml/2006/main">
            <a:pPr algn="l">
              <a:defRPr sz="2025" b="1">
                <a:solidFill>
                  <a:srgbClr val="087F8B"/>
                </a:solidFill>
                <a:latin typeface="Arial"/>
                <a:ea typeface="Arial"/>
                <a:cs typeface="Arial"/>
              </a:defRPr>
            </a:pPr>
            <a:r>
              <a:rPr sz="2025" b="1">
                <a:solidFill>
                  <a:srgbClr val="087F8B"/>
                </a:solidFill>
                <a:latin typeface="Arial"/>
                <a:ea typeface="Arial"/>
                <a:cs typeface="Arial"/>
              </a:rPr>
              <a:t>Checks + permissions</a:t>
            </a:r>
          </a:p>
        </p:txBody>
      </p:sp>
      <p:sp>
        <p:nvSpPr>
          <p:cNvPr id="15" name="Code enforces policy.&#10;Tools enforce authority.">
            <a:extLst xmlns:a="http://schemas.openxmlformats.org/drawingml/2006/main">
              <a:ext uri="{FF2B5EF4-FFF2-40B4-BE49-F238E27FC236}">
                <a16:creationId xmlns:a16="http://schemas.microsoft.com/office/drawing/2014/main" id="{956C545D-BF25-424C-AEDF-5B7B83422B6B}"/>
              </a:ext>
            </a:extLst>
          </p:cNvPr>
          <p:cNvSpPr>
            <a:spLocks xmlns:a="http://schemas.openxmlformats.org/drawingml/2006/main" noGrp="1"/>
          </p:cNvSpPr>
          <p:nvPr/>
        </p:nvSpPr>
        <p:spPr>
          <a:xfrm xmlns:a="http://schemas.openxmlformats.org/drawingml/2006/main">
            <a:off x="8420100" y="4581525"/>
            <a:ext cx="3162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Code enforces policy.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Tools enforce authority.</a:t>
            </a:r>
          </a:p>
        </p:txBody>
      </p:sp>
    </p:spTree>
    <p:extLst>
      <p:ext uri="{BB962C8B-B14F-4D97-AF65-F5344CB8AC3E}">
        <p14:creationId xmlns:p14="http://schemas.microsoft.com/office/powerpoint/2010/main" val="1072509634"/>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CREWAI RUNNING EXAMPLE">
            <a:extLst xmlns:a="http://schemas.openxmlformats.org/drawingml/2006/main">
              <a:ext uri="{FF2B5EF4-FFF2-40B4-BE49-F238E27FC236}">
                <a16:creationId xmlns:a16="http://schemas.microsoft.com/office/drawing/2014/main" id="{210E860B-A282-45A3-AE05-F4698DBC7DBE}"/>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RUNNING EXAMPLE</a:t>
            </a:r>
          </a:p>
        </p:txBody>
      </p:sp>
      <p:sp>
        <p:nvSpPr>
          <p:cNvPr id="2" name="05">
            <a:extLst xmlns:a="http://schemas.openxmlformats.org/drawingml/2006/main">
              <a:ext uri="{FF2B5EF4-FFF2-40B4-BE49-F238E27FC236}">
                <a16:creationId xmlns:a16="http://schemas.microsoft.com/office/drawing/2014/main" id="{67D1DB2C-534E-418E-B42C-897F9D7513B1}"/>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05</a:t>
            </a:r>
          </a:p>
        </p:txBody>
      </p:sp>
      <p:sp>
        <p:nvSpPr>
          <p:cNvPr id="3" name="CrewAI: three roles, one request">
            <a:extLst xmlns:a="http://schemas.openxmlformats.org/drawingml/2006/main">
              <a:ext uri="{FF2B5EF4-FFF2-40B4-BE49-F238E27FC236}">
                <a16:creationId xmlns:a16="http://schemas.microsoft.com/office/drawing/2014/main" id="{81DCBD1F-39A8-4496-944F-D3CE287C0485}"/>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three roles, one request</a:t>
            </a:r>
          </a:p>
        </p:txBody>
      </p:sp>
      <p:sp>
        <p:nvSpPr>
          <p:cNvPr id="4" name="“Find black running shoes under ₹1,000. Ask me before ordering.”">
            <a:extLst xmlns:a="http://schemas.openxmlformats.org/drawingml/2006/main">
              <a:ext uri="{FF2B5EF4-FFF2-40B4-BE49-F238E27FC236}">
                <a16:creationId xmlns:a16="http://schemas.microsoft.com/office/drawing/2014/main" id="{B05D733B-2521-46F9-86BB-F5C51E66D84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“Find black running shoes under ₹1,000. Ask me before ordering.”</a:t>
            </a:r>
          </a:p>
        </p:txBody>
      </p:sp>
      <p:sp>
        <p:nvSpPr>
          <p:cNvPr id="5" name="Request Analyst">
            <a:extLst xmlns:a="http://schemas.openxmlformats.org/drawingml/2006/main">
              <a:ext uri="{FF2B5EF4-FFF2-40B4-BE49-F238E27FC236}">
                <a16:creationId xmlns:a16="http://schemas.microsoft.com/office/drawing/2014/main" id="{C1670532-F5E3-42E3-A794-317CDE1AB0F0}"/>
              </a:ext>
            </a:extLst>
          </p:cNvPr>
          <p:cNvSpPr>
            <a:spLocks xmlns:a="http://schemas.openxmlformats.org/drawingml/2006/main" noGrp="1"/>
          </p:cNvSpPr>
          <p:nvPr/>
        </p:nvSpPr>
        <p:spPr>
          <a:xfrm xmlns:a="http://schemas.openxmlformats.org/drawingml/2006/main">
            <a:off x="6096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Request Analyst</a:t>
            </a:r>
          </a:p>
        </p:txBody>
      </p:sp>
      <p:sp>
        <p:nvSpPr>
          <p:cNvPr id="6" name="Offer Evaluator">
            <a:extLst xmlns:a="http://schemas.openxmlformats.org/drawingml/2006/main">
              <a:ext uri="{FF2B5EF4-FFF2-40B4-BE49-F238E27FC236}">
                <a16:creationId xmlns:a16="http://schemas.microsoft.com/office/drawing/2014/main" id="{12410F87-611C-480D-B901-8C9B97DD1118}"/>
              </a:ext>
            </a:extLst>
          </p:cNvPr>
          <p:cNvSpPr>
            <a:spLocks xmlns:a="http://schemas.openxmlformats.org/drawingml/2006/main" noGrp="1"/>
          </p:cNvSpPr>
          <p:nvPr/>
        </p:nvSpPr>
        <p:spPr>
          <a:xfrm xmlns:a="http://schemas.openxmlformats.org/drawingml/2006/main">
            <a:off x="45720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Offer Evaluator</a:t>
            </a:r>
          </a:p>
        </p:txBody>
      </p:sp>
      <p:sp>
        <p:nvSpPr>
          <p:cNvPr id="7" name="Policy Reviewer">
            <a:extLst xmlns:a="http://schemas.openxmlformats.org/drawingml/2006/main">
              <a:ext uri="{FF2B5EF4-FFF2-40B4-BE49-F238E27FC236}">
                <a16:creationId xmlns:a16="http://schemas.microsoft.com/office/drawing/2014/main" id="{668D9F2A-DF41-4319-8B71-9A5811F3F494}"/>
              </a:ext>
            </a:extLst>
          </p:cNvPr>
          <p:cNvSpPr>
            <a:spLocks xmlns:a="http://schemas.openxmlformats.org/drawingml/2006/main" noGrp="1"/>
          </p:cNvSpPr>
          <p:nvPr/>
        </p:nvSpPr>
        <p:spPr>
          <a:xfrm xmlns:a="http://schemas.openxmlformats.org/drawingml/2006/main">
            <a:off x="85344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Policy Reviewer</a:t>
            </a:r>
          </a:p>
        </p:txBody>
      </p:sp>
      <p:cxnSp>
        <p:nvCxnSpPr>
          <p:cNvPr id="8" name="">
            <a:extLst xmlns:a="http://schemas.openxmlformats.org/drawingml/2006/main">
              <a:ext uri="{FF2B5EF4-FFF2-40B4-BE49-F238E27FC236}">
                <a16:creationId xmlns:a16="http://schemas.microsoft.com/office/drawing/2014/main" id="{A3FD39BF-BAE7-4241-B88C-7B1B25997575}"/>
              </a:ext>
            </a:extLst>
          </p:cNvPr>
          <p:cNvCxnSpPr/>
          <p:nvPr/>
        </p:nvCxnSpPr>
        <p:spPr>
          <a:xfrm xmlns:a="http://schemas.openxmlformats.org/drawingml/2006/main" flipH="0" flipV="0">
            <a:off x="3657600" y="3486150"/>
            <a:ext cx="9144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D0DF15C3-213C-49D1-8C56-0FF6319DF399}"/>
              </a:ext>
            </a:extLst>
          </p:cNvPr>
          <p:cNvCxnSpPr/>
          <p:nvPr/>
        </p:nvCxnSpPr>
        <p:spPr>
          <a:xfrm xmlns:a="http://schemas.openxmlformats.org/drawingml/2006/main" flipH="0" flipV="0">
            <a:off x="7620000" y="3486150"/>
            <a:ext cx="914400"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ShoppingRequest">
            <a:extLst xmlns:a="http://schemas.openxmlformats.org/drawingml/2006/main">
              <a:ext uri="{FF2B5EF4-FFF2-40B4-BE49-F238E27FC236}">
                <a16:creationId xmlns:a16="http://schemas.microsoft.com/office/drawing/2014/main" id="{D5985E74-B3CC-45AD-9836-B28B3013B55B}"/>
              </a:ext>
            </a:extLst>
          </p:cNvPr>
          <p:cNvSpPr>
            <a:spLocks xmlns:a="http://schemas.openxmlformats.org/drawingml/2006/main" noGrp="1"/>
          </p:cNvSpPr>
          <p:nvPr/>
        </p:nvSpPr>
        <p:spPr>
          <a:xfrm xmlns:a="http://schemas.openxmlformats.org/drawingml/2006/main">
            <a:off x="609600" y="42005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Courier New"/>
                <a:ea typeface="Courier New"/>
                <a:cs typeface="Courier New"/>
              </a:defRPr>
            </a:defPPr>
            <a:lvl1pPr algn="l">
              <a:defRPr sz="2025" b="1">
                <a:solidFill>
                  <a:srgbClr val="6D5CE7"/>
                </a:solidFill>
                <a:latin typeface="Courier New"/>
                <a:ea typeface="Courier New"/>
                <a:cs typeface="Courier New"/>
              </a:defRPr>
            </a:lvl1pPr>
            <a:lvl2pPr algn="l">
              <a:defRPr sz="2025" b="1">
                <a:solidFill>
                  <a:srgbClr val="6D5CE7"/>
                </a:solidFill>
                <a:latin typeface="Courier New"/>
                <a:ea typeface="Courier New"/>
                <a:cs typeface="Courier New"/>
              </a:defRPr>
            </a:lvl2pPr>
            <a:lvl3pPr algn="l">
              <a:defRPr sz="2025" b="1">
                <a:solidFill>
                  <a:srgbClr val="6D5CE7"/>
                </a:solidFill>
                <a:latin typeface="Courier New"/>
                <a:ea typeface="Courier New"/>
                <a:cs typeface="Courier New"/>
              </a:defRPr>
            </a:lvl3pPr>
            <a:lvl4pPr algn="l">
              <a:defRPr sz="2025" b="1">
                <a:solidFill>
                  <a:srgbClr val="6D5CE7"/>
                </a:solidFill>
                <a:latin typeface="Courier New"/>
                <a:ea typeface="Courier New"/>
                <a:cs typeface="Courier New"/>
              </a:defRPr>
            </a:lvl4pPr>
            <a:lvl5pPr algn="l">
              <a:defRPr sz="2025" b="1">
                <a:solidFill>
                  <a:srgbClr val="6D5CE7"/>
                </a:solidFill>
                <a:latin typeface="Courier New"/>
                <a:ea typeface="Courier New"/>
                <a:cs typeface="Courier New"/>
              </a:defRPr>
            </a:lvl5pPr>
            <a:lvl6pPr algn="l">
              <a:defRPr sz="2025" b="1">
                <a:solidFill>
                  <a:srgbClr val="6D5CE7"/>
                </a:solidFill>
                <a:latin typeface="Courier New"/>
                <a:ea typeface="Courier New"/>
                <a:cs typeface="Courier New"/>
              </a:defRPr>
            </a:lvl6pPr>
            <a:lvl7pPr algn="l">
              <a:defRPr sz="2025" b="1">
                <a:solidFill>
                  <a:srgbClr val="6D5CE7"/>
                </a:solidFill>
                <a:latin typeface="Courier New"/>
                <a:ea typeface="Courier New"/>
                <a:cs typeface="Courier New"/>
              </a:defRPr>
            </a:lvl7pPr>
            <a:lvl8pPr algn="l">
              <a:defRPr sz="2025" b="1">
                <a:solidFill>
                  <a:srgbClr val="6D5CE7"/>
                </a:solidFill>
                <a:latin typeface="Courier New"/>
                <a:ea typeface="Courier New"/>
                <a:cs typeface="Courier New"/>
              </a:defRPr>
            </a:lvl8pPr>
            <a:lvl9pPr algn="l">
              <a:defRPr sz="2025" b="1">
                <a:solidFill>
                  <a:srgbClr val="6D5CE7"/>
                </a:solidFill>
                <a:latin typeface="Courier New"/>
                <a:ea typeface="Courier New"/>
                <a:cs typeface="Courier New"/>
              </a:defRPr>
            </a:lvl9pPr>
          </a:lstStyle>
          <a:p xmlns:a="http://schemas.openxmlformats.org/drawingml/2006/main">
            <a:pPr algn="l">
              <a:defRPr sz="2025" b="1">
                <a:solidFill>
                  <a:srgbClr val="6D5CE7"/>
                </a:solidFill>
                <a:latin typeface="Courier New"/>
                <a:ea typeface="Courier New"/>
                <a:cs typeface="Courier New"/>
              </a:defRPr>
            </a:pPr>
            <a:r>
              <a:rPr sz="2025" b="1">
                <a:solidFill>
                  <a:srgbClr val="6D5CE7"/>
                </a:solidFill>
                <a:latin typeface="Courier New"/>
                <a:ea typeface="Courier New"/>
                <a:cs typeface="Courier New"/>
              </a:rPr>
              <a:t>ShoppingRequest</a:t>
            </a:r>
          </a:p>
        </p:txBody>
      </p:sp>
      <p:sp>
        <p:nvSpPr>
          <p:cNvPr id="11" name="Budget = ₹1,000&#10;Category + colour">
            <a:extLst xmlns:a="http://schemas.openxmlformats.org/drawingml/2006/main">
              <a:ext uri="{FF2B5EF4-FFF2-40B4-BE49-F238E27FC236}">
                <a16:creationId xmlns:a16="http://schemas.microsoft.com/office/drawing/2014/main" id="{D95D6610-B032-4135-B2A3-55B75CF97C61}"/>
              </a:ext>
            </a:extLst>
          </p:cNvPr>
          <p:cNvSpPr>
            <a:spLocks xmlns:a="http://schemas.openxmlformats.org/drawingml/2006/main" noGrp="1"/>
          </p:cNvSpPr>
          <p:nvPr/>
        </p:nvSpPr>
        <p:spPr>
          <a:xfrm xmlns:a="http://schemas.openxmlformats.org/drawingml/2006/main">
            <a:off x="6096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Budget = ₹1,000</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Category + colour</a:t>
            </a:r>
          </a:p>
        </p:txBody>
      </p:sp>
      <p:sp>
        <p:nvSpPr>
          <p:cNvPr id="12" name="EvaluationReport">
            <a:extLst xmlns:a="http://schemas.openxmlformats.org/drawingml/2006/main">
              <a:ext uri="{FF2B5EF4-FFF2-40B4-BE49-F238E27FC236}">
                <a16:creationId xmlns:a16="http://schemas.microsoft.com/office/drawing/2014/main" id="{2C881288-4AEE-4586-A29D-9996C1B1766D}"/>
              </a:ext>
            </a:extLst>
          </p:cNvPr>
          <p:cNvSpPr>
            <a:spLocks xmlns:a="http://schemas.openxmlformats.org/drawingml/2006/main" noGrp="1"/>
          </p:cNvSpPr>
          <p:nvPr/>
        </p:nvSpPr>
        <p:spPr>
          <a:xfrm xmlns:a="http://schemas.openxmlformats.org/drawingml/2006/main">
            <a:off x="4572000" y="42005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Courier New"/>
                <a:ea typeface="Courier New"/>
                <a:cs typeface="Courier New"/>
              </a:defRPr>
            </a:defPPr>
            <a:lvl1pPr algn="l">
              <a:defRPr sz="2025" b="1">
                <a:solidFill>
                  <a:srgbClr val="BD4824"/>
                </a:solidFill>
                <a:latin typeface="Courier New"/>
                <a:ea typeface="Courier New"/>
                <a:cs typeface="Courier New"/>
              </a:defRPr>
            </a:lvl1pPr>
            <a:lvl2pPr algn="l">
              <a:defRPr sz="2025" b="1">
                <a:solidFill>
                  <a:srgbClr val="BD4824"/>
                </a:solidFill>
                <a:latin typeface="Courier New"/>
                <a:ea typeface="Courier New"/>
                <a:cs typeface="Courier New"/>
              </a:defRPr>
            </a:lvl2pPr>
            <a:lvl3pPr algn="l">
              <a:defRPr sz="2025" b="1">
                <a:solidFill>
                  <a:srgbClr val="BD4824"/>
                </a:solidFill>
                <a:latin typeface="Courier New"/>
                <a:ea typeface="Courier New"/>
                <a:cs typeface="Courier New"/>
              </a:defRPr>
            </a:lvl3pPr>
            <a:lvl4pPr algn="l">
              <a:defRPr sz="2025" b="1">
                <a:solidFill>
                  <a:srgbClr val="BD4824"/>
                </a:solidFill>
                <a:latin typeface="Courier New"/>
                <a:ea typeface="Courier New"/>
                <a:cs typeface="Courier New"/>
              </a:defRPr>
            </a:lvl4pPr>
            <a:lvl5pPr algn="l">
              <a:defRPr sz="2025" b="1">
                <a:solidFill>
                  <a:srgbClr val="BD4824"/>
                </a:solidFill>
                <a:latin typeface="Courier New"/>
                <a:ea typeface="Courier New"/>
                <a:cs typeface="Courier New"/>
              </a:defRPr>
            </a:lvl5pPr>
            <a:lvl6pPr algn="l">
              <a:defRPr sz="2025" b="1">
                <a:solidFill>
                  <a:srgbClr val="BD4824"/>
                </a:solidFill>
                <a:latin typeface="Courier New"/>
                <a:ea typeface="Courier New"/>
                <a:cs typeface="Courier New"/>
              </a:defRPr>
            </a:lvl6pPr>
            <a:lvl7pPr algn="l">
              <a:defRPr sz="2025" b="1">
                <a:solidFill>
                  <a:srgbClr val="BD4824"/>
                </a:solidFill>
                <a:latin typeface="Courier New"/>
                <a:ea typeface="Courier New"/>
                <a:cs typeface="Courier New"/>
              </a:defRPr>
            </a:lvl7pPr>
            <a:lvl8pPr algn="l">
              <a:defRPr sz="2025" b="1">
                <a:solidFill>
                  <a:srgbClr val="BD4824"/>
                </a:solidFill>
                <a:latin typeface="Courier New"/>
                <a:ea typeface="Courier New"/>
                <a:cs typeface="Courier New"/>
              </a:defRPr>
            </a:lvl8pPr>
            <a:lvl9pPr algn="l">
              <a:defRPr sz="2025" b="1">
                <a:solidFill>
                  <a:srgbClr val="BD4824"/>
                </a:solidFill>
                <a:latin typeface="Courier New"/>
                <a:ea typeface="Courier New"/>
                <a:cs typeface="Courier New"/>
              </a:defRPr>
            </a:lvl9pPr>
          </a:lstStyle>
          <a:p xmlns:a="http://schemas.openxmlformats.org/drawingml/2006/main">
            <a:pPr algn="l">
              <a:defRPr sz="2025" b="1">
                <a:solidFill>
                  <a:srgbClr val="BD4824"/>
                </a:solidFill>
                <a:latin typeface="Courier New"/>
                <a:ea typeface="Courier New"/>
                <a:cs typeface="Courier New"/>
              </a:defRPr>
            </a:pPr>
            <a:r>
              <a:rPr sz="2025" b="1">
                <a:solidFill>
                  <a:srgbClr val="BD4824"/>
                </a:solidFill>
                <a:latin typeface="Courier New"/>
                <a:ea typeface="Courier New"/>
                <a:cs typeface="Courier New"/>
              </a:rPr>
              <a:t>EvaluationReport</a:t>
            </a:r>
          </a:p>
        </p:txBody>
      </p:sp>
      <p:sp>
        <p:nvSpPr>
          <p:cNvPr id="13" name="Eligibility checks&#10;Evidence + unknowns">
            <a:extLst xmlns:a="http://schemas.openxmlformats.org/drawingml/2006/main">
              <a:ext uri="{FF2B5EF4-FFF2-40B4-BE49-F238E27FC236}">
                <a16:creationId xmlns:a16="http://schemas.microsoft.com/office/drawing/2014/main" id="{9D9D130A-ED2F-412F-8FFA-9268309B0FD0}"/>
              </a:ext>
            </a:extLst>
          </p:cNvPr>
          <p:cNvSpPr>
            <a:spLocks xmlns:a="http://schemas.openxmlformats.org/drawingml/2006/main" noGrp="1"/>
          </p:cNvSpPr>
          <p:nvPr/>
        </p:nvSpPr>
        <p:spPr>
          <a:xfrm xmlns:a="http://schemas.openxmlformats.org/drawingml/2006/main">
            <a:off x="45720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Eligibility checks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Evidence + unknowns</a:t>
            </a:r>
          </a:p>
        </p:txBody>
      </p:sp>
      <p:sp>
        <p:nvSpPr>
          <p:cNvPr id="14" name="Recommendation">
            <a:extLst xmlns:a="http://schemas.openxmlformats.org/drawingml/2006/main">
              <a:ext uri="{FF2B5EF4-FFF2-40B4-BE49-F238E27FC236}">
                <a16:creationId xmlns:a16="http://schemas.microsoft.com/office/drawing/2014/main" id="{0DE4A776-8E48-42A0-A20F-D5C2F0400D52}"/>
              </a:ext>
            </a:extLst>
          </p:cNvPr>
          <p:cNvSpPr>
            <a:spLocks xmlns:a="http://schemas.openxmlformats.org/drawingml/2006/main" noGrp="1"/>
          </p:cNvSpPr>
          <p:nvPr/>
        </p:nvSpPr>
        <p:spPr>
          <a:xfrm xmlns:a="http://schemas.openxmlformats.org/drawingml/2006/main">
            <a:off x="8534400" y="420052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Courier New"/>
                <a:ea typeface="Courier New"/>
                <a:cs typeface="Courier New"/>
              </a:defRPr>
            </a:defPPr>
            <a:lvl1pPr algn="l">
              <a:defRPr sz="2025" b="1">
                <a:solidFill>
                  <a:srgbClr val="087F8B"/>
                </a:solidFill>
                <a:latin typeface="Courier New"/>
                <a:ea typeface="Courier New"/>
                <a:cs typeface="Courier New"/>
              </a:defRPr>
            </a:lvl1pPr>
            <a:lvl2pPr algn="l">
              <a:defRPr sz="2025" b="1">
                <a:solidFill>
                  <a:srgbClr val="087F8B"/>
                </a:solidFill>
                <a:latin typeface="Courier New"/>
                <a:ea typeface="Courier New"/>
                <a:cs typeface="Courier New"/>
              </a:defRPr>
            </a:lvl2pPr>
            <a:lvl3pPr algn="l">
              <a:defRPr sz="2025" b="1">
                <a:solidFill>
                  <a:srgbClr val="087F8B"/>
                </a:solidFill>
                <a:latin typeface="Courier New"/>
                <a:ea typeface="Courier New"/>
                <a:cs typeface="Courier New"/>
              </a:defRPr>
            </a:lvl3pPr>
            <a:lvl4pPr algn="l">
              <a:defRPr sz="2025" b="1">
                <a:solidFill>
                  <a:srgbClr val="087F8B"/>
                </a:solidFill>
                <a:latin typeface="Courier New"/>
                <a:ea typeface="Courier New"/>
                <a:cs typeface="Courier New"/>
              </a:defRPr>
            </a:lvl4pPr>
            <a:lvl5pPr algn="l">
              <a:defRPr sz="2025" b="1">
                <a:solidFill>
                  <a:srgbClr val="087F8B"/>
                </a:solidFill>
                <a:latin typeface="Courier New"/>
                <a:ea typeface="Courier New"/>
                <a:cs typeface="Courier New"/>
              </a:defRPr>
            </a:lvl5pPr>
            <a:lvl6pPr algn="l">
              <a:defRPr sz="2025" b="1">
                <a:solidFill>
                  <a:srgbClr val="087F8B"/>
                </a:solidFill>
                <a:latin typeface="Courier New"/>
                <a:ea typeface="Courier New"/>
                <a:cs typeface="Courier New"/>
              </a:defRPr>
            </a:lvl6pPr>
            <a:lvl7pPr algn="l">
              <a:defRPr sz="2025" b="1">
                <a:solidFill>
                  <a:srgbClr val="087F8B"/>
                </a:solidFill>
                <a:latin typeface="Courier New"/>
                <a:ea typeface="Courier New"/>
                <a:cs typeface="Courier New"/>
              </a:defRPr>
            </a:lvl7pPr>
            <a:lvl8pPr algn="l">
              <a:defRPr sz="2025" b="1">
                <a:solidFill>
                  <a:srgbClr val="087F8B"/>
                </a:solidFill>
                <a:latin typeface="Courier New"/>
                <a:ea typeface="Courier New"/>
                <a:cs typeface="Courier New"/>
              </a:defRPr>
            </a:lvl8pPr>
            <a:lvl9pPr algn="l">
              <a:defRPr sz="2025" b="1">
                <a:solidFill>
                  <a:srgbClr val="087F8B"/>
                </a:solidFill>
                <a:latin typeface="Courier New"/>
                <a:ea typeface="Courier New"/>
                <a:cs typeface="Courier New"/>
              </a:defRPr>
            </a:lvl9pPr>
          </a:lstStyle>
          <a:p xmlns:a="http://schemas.openxmlformats.org/drawingml/2006/main">
            <a:pPr algn="l">
              <a:defRPr sz="2025" b="1">
                <a:solidFill>
                  <a:srgbClr val="087F8B"/>
                </a:solidFill>
                <a:latin typeface="Courier New"/>
                <a:ea typeface="Courier New"/>
                <a:cs typeface="Courier New"/>
              </a:defRPr>
            </a:pPr>
            <a:r>
              <a:rPr sz="2025" b="1">
                <a:solidFill>
                  <a:srgbClr val="087F8B"/>
                </a:solidFill>
                <a:latin typeface="Courier New"/>
                <a:ea typeface="Courier New"/>
                <a:cs typeface="Courier New"/>
              </a:rPr>
              <a:t>Recommendation</a:t>
            </a:r>
          </a:p>
        </p:txBody>
      </p:sp>
      <p:sp>
        <p:nvSpPr>
          <p:cNvPr id="15" name="Rank eligible offers&#10;No order authority">
            <a:extLst xmlns:a="http://schemas.openxmlformats.org/drawingml/2006/main">
              <a:ext uri="{FF2B5EF4-FFF2-40B4-BE49-F238E27FC236}">
                <a16:creationId xmlns:a16="http://schemas.microsoft.com/office/drawing/2014/main" id="{332875CC-DC07-4620-82E7-68D2EC991664}"/>
              </a:ext>
            </a:extLst>
          </p:cNvPr>
          <p:cNvSpPr>
            <a:spLocks xmlns:a="http://schemas.openxmlformats.org/drawingml/2006/main" noGrp="1"/>
          </p:cNvSpPr>
          <p:nvPr/>
        </p:nvSpPr>
        <p:spPr>
          <a:xfrm xmlns:a="http://schemas.openxmlformats.org/drawingml/2006/main">
            <a:off x="85344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Rank eligible offers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No order authority</a:t>
            </a:r>
          </a:p>
        </p:txBody>
      </p:sp>
      <p:sp>
        <p:nvSpPr>
          <p:cNvPr id="16" name="The application owns budget checks and tool permissions. The agen">
            <a:extLst xmlns:a="http://schemas.openxmlformats.org/drawingml/2006/main">
              <a:ext uri="{FF2B5EF4-FFF2-40B4-BE49-F238E27FC236}">
                <a16:creationId xmlns:a16="http://schemas.microsoft.com/office/drawing/2014/main" id="{24077709-78A2-46DB-B3D9-2DA9D90B51F6}"/>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The application owns budget checks and tool permissions. The agents expose the reasoning.</a:t>
            </a:r>
          </a:p>
        </p:txBody>
      </p:sp>
    </p:spTree>
    <p:extLst>
      <p:ext uri="{BB962C8B-B14F-4D97-AF65-F5344CB8AC3E}">
        <p14:creationId xmlns:p14="http://schemas.microsoft.com/office/powerpoint/2010/main" val="1047448267"/>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CREWAI IMPLEMENTATION">
            <a:extLst xmlns:a="http://schemas.openxmlformats.org/drawingml/2006/main">
              <a:ext uri="{FF2B5EF4-FFF2-40B4-BE49-F238E27FC236}">
                <a16:creationId xmlns:a16="http://schemas.microsoft.com/office/drawing/2014/main" id="{E63F76F9-15E3-40C9-824E-AD57570AFACD}"/>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IMPLEMENTATION</a:t>
            </a:r>
          </a:p>
        </p:txBody>
      </p:sp>
      <p:sp>
        <p:nvSpPr>
          <p:cNvPr id="2" name="06">
            <a:extLst xmlns:a="http://schemas.openxmlformats.org/drawingml/2006/main">
              <a:ext uri="{FF2B5EF4-FFF2-40B4-BE49-F238E27FC236}">
                <a16:creationId xmlns:a16="http://schemas.microsoft.com/office/drawing/2014/main" id="{B2E097C6-0865-4390-8B56-7F085FE68D3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06</a:t>
            </a:r>
          </a:p>
        </p:txBody>
      </p:sp>
      <p:sp>
        <p:nvSpPr>
          <p:cNvPr id="3" name="CrewAI wiring that matters">
            <a:extLst xmlns:a="http://schemas.openxmlformats.org/drawingml/2006/main">
              <a:ext uri="{FF2B5EF4-FFF2-40B4-BE49-F238E27FC236}">
                <a16:creationId xmlns:a16="http://schemas.microsoft.com/office/drawing/2014/main" id="{109E28DC-C390-4FC8-8262-F2EADD1FC30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wiring that matters</a:t>
            </a:r>
          </a:p>
        </p:txBody>
      </p:sp>
      <p:sp>
        <p:nvSpPr>
          <p:cNvPr id="4" name="A sequential crew connects typed tasks through explicit context.">
            <a:extLst xmlns:a="http://schemas.openxmlformats.org/drawingml/2006/main">
              <a:ext uri="{FF2B5EF4-FFF2-40B4-BE49-F238E27FC236}">
                <a16:creationId xmlns:a16="http://schemas.microsoft.com/office/drawing/2014/main" id="{F05A1179-A2EC-43CE-BA9D-702494380EA9}"/>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sequential crew connects typed tasks through explicit context.</a:t>
            </a:r>
          </a:p>
        </p:txBody>
      </p:sp>
      <p:sp>
        <p:nvSpPr>
          <p:cNvPr id="5" name="">
            <a:extLst xmlns:a="http://schemas.openxmlformats.org/drawingml/2006/main">
              <a:ext uri="{FF2B5EF4-FFF2-40B4-BE49-F238E27FC236}">
                <a16:creationId xmlns:a16="http://schemas.microsoft.com/office/drawing/2014/main" id="{77F12642-111A-47FD-AF2C-2B30238678C1}"/>
              </a:ext>
            </a:extLst>
          </p:cNvPr>
          <p:cNvSpPr>
            <a:spLocks xmlns:a="http://schemas.openxmlformats.org/drawingml/2006/main" noGrp="1"/>
          </p:cNvSpPr>
          <p:nvPr/>
        </p:nvSpPr>
        <p:spPr>
          <a:xfrm xmlns:a="http://schemas.openxmlformats.org/drawingml/2006/main">
            <a:off x="609600" y="2705100"/>
            <a:ext cx="7905750" cy="3000375"/>
          </a:xfrm>
          <a:prstGeom xmlns:a="http://schemas.openxmlformats.org/drawingml/2006/main" prst="rect">
            <a:avLst/>
          </a:prstGeom>
          <a:solidFill xmlns:a="http://schemas.openxmlformats.org/drawingml/2006/main">
            <a:srgbClr val="19191C"/>
          </a:solidFill>
          <a:ln xmlns:a="http://schemas.openxmlformats.org/drawingml/2006/main" w="0">
            <a:noFill/>
          </a:ln>
        </p:spPr>
      </p:sp>
      <p:sp>
        <p:nvSpPr>
          <p:cNvPr id="6" name="parsed = Task(agent=analyst,&#10;    output_pydantic=ShoppingRequest)">
            <a:extLst xmlns:a="http://schemas.openxmlformats.org/drawingml/2006/main">
              <a:ext uri="{FF2B5EF4-FFF2-40B4-BE49-F238E27FC236}">
                <a16:creationId xmlns:a16="http://schemas.microsoft.com/office/drawing/2014/main" id="{4E20A128-9A96-4F4D-98DE-EF4DB6DD0840}"/>
              </a:ext>
            </a:extLst>
          </p:cNvPr>
          <p:cNvSpPr>
            <a:spLocks xmlns:a="http://schemas.openxmlformats.org/drawingml/2006/main" noGrp="1"/>
          </p:cNvSpPr>
          <p:nvPr/>
        </p:nvSpPr>
        <p:spPr>
          <a:xfrm xmlns:a="http://schemas.openxmlformats.org/drawingml/2006/main">
            <a:off x="838200" y="2924175"/>
            <a:ext cx="74485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Courier New"/>
                <a:ea typeface="Courier New"/>
                <a:cs typeface="Courier New"/>
              </a:defRPr>
            </a:defPPr>
            <a:lvl1pPr algn="l">
              <a:defRPr sz="1800" b="0">
                <a:solidFill>
                  <a:srgbClr val="FFFFFF"/>
                </a:solidFill>
                <a:latin typeface="Courier New"/>
                <a:ea typeface="Courier New"/>
                <a:cs typeface="Courier New"/>
              </a:defRPr>
            </a:lvl1pPr>
            <a:lvl2pPr algn="l">
              <a:defRPr sz="1800" b="0">
                <a:solidFill>
                  <a:srgbClr val="FFFFFF"/>
                </a:solidFill>
                <a:latin typeface="Courier New"/>
                <a:ea typeface="Courier New"/>
                <a:cs typeface="Courier New"/>
              </a:defRPr>
            </a:lvl2pPr>
            <a:lvl3pPr algn="l">
              <a:defRPr sz="1800" b="0">
                <a:solidFill>
                  <a:srgbClr val="FFFFFF"/>
                </a:solidFill>
                <a:latin typeface="Courier New"/>
                <a:ea typeface="Courier New"/>
                <a:cs typeface="Courier New"/>
              </a:defRPr>
            </a:lvl3pPr>
            <a:lvl4pPr algn="l">
              <a:defRPr sz="1800" b="0">
                <a:solidFill>
                  <a:srgbClr val="FFFFFF"/>
                </a:solidFill>
                <a:latin typeface="Courier New"/>
                <a:ea typeface="Courier New"/>
                <a:cs typeface="Courier New"/>
              </a:defRPr>
            </a:lvl4pPr>
            <a:lvl5pPr algn="l">
              <a:defRPr sz="1800" b="0">
                <a:solidFill>
                  <a:srgbClr val="FFFFFF"/>
                </a:solidFill>
                <a:latin typeface="Courier New"/>
                <a:ea typeface="Courier New"/>
                <a:cs typeface="Courier New"/>
              </a:defRPr>
            </a:lvl5pPr>
            <a:lvl6pPr algn="l">
              <a:defRPr sz="1800" b="0">
                <a:solidFill>
                  <a:srgbClr val="FFFFFF"/>
                </a:solidFill>
                <a:latin typeface="Courier New"/>
                <a:ea typeface="Courier New"/>
                <a:cs typeface="Courier New"/>
              </a:defRPr>
            </a:lvl6pPr>
            <a:lvl7pPr algn="l">
              <a:defRPr sz="1800" b="0">
                <a:solidFill>
                  <a:srgbClr val="FFFFFF"/>
                </a:solidFill>
                <a:latin typeface="Courier New"/>
                <a:ea typeface="Courier New"/>
                <a:cs typeface="Courier New"/>
              </a:defRPr>
            </a:lvl7pPr>
            <a:lvl8pPr algn="l">
              <a:defRPr sz="1800" b="0">
                <a:solidFill>
                  <a:srgbClr val="FFFFFF"/>
                </a:solidFill>
                <a:latin typeface="Courier New"/>
                <a:ea typeface="Courier New"/>
                <a:cs typeface="Courier New"/>
              </a:defRPr>
            </a:lvl8pPr>
            <a:lvl9pPr algn="l">
              <a:defRPr sz="1800" b="0">
                <a:solidFill>
                  <a:srgbClr val="FFFFFF"/>
                </a:solidFill>
                <a:latin typeface="Courier New"/>
                <a:ea typeface="Courier New"/>
                <a:cs typeface="Courier New"/>
              </a:defRPr>
            </a:lvl9pPr>
          </a:lstStyle>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parsed = Task(agent=analyst,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output_pydantic=ShoppingRequest)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checked = Task(agent=evaluator,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output_pydantic=EvaluationReport)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reviewed = Task(agent=reviewer,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 checked],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output_pydantic=Recommendation)</a:t>
            </a:r>
          </a:p>
        </p:txBody>
      </p:sp>
      <p:sp>
        <p:nvSpPr>
          <p:cNvPr id="7" name="Agent">
            <a:extLst xmlns:a="http://schemas.openxmlformats.org/drawingml/2006/main">
              <a:ext uri="{FF2B5EF4-FFF2-40B4-BE49-F238E27FC236}">
                <a16:creationId xmlns:a16="http://schemas.microsoft.com/office/drawing/2014/main" id="{7A599210-CAF9-4010-8998-313989054029}"/>
              </a:ext>
            </a:extLst>
          </p:cNvPr>
          <p:cNvSpPr>
            <a:spLocks xmlns:a="http://schemas.openxmlformats.org/drawingml/2006/main" noGrp="1"/>
          </p:cNvSpPr>
          <p:nvPr/>
        </p:nvSpPr>
        <p:spPr>
          <a:xfrm xmlns:a="http://schemas.openxmlformats.org/drawingml/2006/main">
            <a:off x="8991600" y="270510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Agent</a:t>
            </a:r>
          </a:p>
        </p:txBody>
      </p:sp>
      <p:sp>
        <p:nvSpPr>
          <p:cNvPr id="8" name="Role + scoped tools">
            <a:extLst xmlns:a="http://schemas.openxmlformats.org/drawingml/2006/main">
              <a:ext uri="{FF2B5EF4-FFF2-40B4-BE49-F238E27FC236}">
                <a16:creationId xmlns:a16="http://schemas.microsoft.com/office/drawing/2014/main" id="{1B5B5B25-C651-4E87-9C73-F4437EE4FB77}"/>
              </a:ext>
            </a:extLst>
          </p:cNvPr>
          <p:cNvSpPr>
            <a:spLocks xmlns:a="http://schemas.openxmlformats.org/drawingml/2006/main" noGrp="1"/>
          </p:cNvSpPr>
          <p:nvPr/>
        </p:nvSpPr>
        <p:spPr>
          <a:xfrm xmlns:a="http://schemas.openxmlformats.org/drawingml/2006/main">
            <a:off x="8991600" y="312420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Role + scoped tools</a:t>
            </a:r>
          </a:p>
        </p:txBody>
      </p:sp>
      <p:sp>
        <p:nvSpPr>
          <p:cNvPr id="9" name="Task">
            <a:extLst xmlns:a="http://schemas.openxmlformats.org/drawingml/2006/main">
              <a:ext uri="{FF2B5EF4-FFF2-40B4-BE49-F238E27FC236}">
                <a16:creationId xmlns:a16="http://schemas.microsoft.com/office/drawing/2014/main" id="{0516A9E4-419F-401D-B53D-18C6D1B00BF6}"/>
              </a:ext>
            </a:extLst>
          </p:cNvPr>
          <p:cNvSpPr>
            <a:spLocks xmlns:a="http://schemas.openxmlformats.org/drawingml/2006/main" noGrp="1"/>
          </p:cNvSpPr>
          <p:nvPr/>
        </p:nvSpPr>
        <p:spPr>
          <a:xfrm xmlns:a="http://schemas.openxmlformats.org/drawingml/2006/main">
            <a:off x="8991600" y="394335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Task</a:t>
            </a:r>
          </a:p>
        </p:txBody>
      </p:sp>
      <p:sp>
        <p:nvSpPr>
          <p:cNvPr id="10" name="Context + output type">
            <a:extLst xmlns:a="http://schemas.openxmlformats.org/drawingml/2006/main">
              <a:ext uri="{FF2B5EF4-FFF2-40B4-BE49-F238E27FC236}">
                <a16:creationId xmlns:a16="http://schemas.microsoft.com/office/drawing/2014/main" id="{C24D8A47-27BD-4E7A-95A2-46B0F7F03F4A}"/>
              </a:ext>
            </a:extLst>
          </p:cNvPr>
          <p:cNvSpPr>
            <a:spLocks xmlns:a="http://schemas.openxmlformats.org/drawingml/2006/main" noGrp="1"/>
          </p:cNvSpPr>
          <p:nvPr/>
        </p:nvSpPr>
        <p:spPr>
          <a:xfrm xmlns:a="http://schemas.openxmlformats.org/drawingml/2006/main">
            <a:off x="8991600" y="436245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Context + output type</a:t>
            </a:r>
          </a:p>
        </p:txBody>
      </p:sp>
      <p:sp>
        <p:nvSpPr>
          <p:cNvPr id="11" name="Crew">
            <a:extLst xmlns:a="http://schemas.openxmlformats.org/drawingml/2006/main">
              <a:ext uri="{FF2B5EF4-FFF2-40B4-BE49-F238E27FC236}">
                <a16:creationId xmlns:a16="http://schemas.microsoft.com/office/drawing/2014/main" id="{B7D590FD-C537-4B81-ADF3-F495A7125620}"/>
              </a:ext>
            </a:extLst>
          </p:cNvPr>
          <p:cNvSpPr>
            <a:spLocks xmlns:a="http://schemas.openxmlformats.org/drawingml/2006/main" noGrp="1"/>
          </p:cNvSpPr>
          <p:nvPr/>
        </p:nvSpPr>
        <p:spPr>
          <a:xfrm xmlns:a="http://schemas.openxmlformats.org/drawingml/2006/main">
            <a:off x="8991600" y="50863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Crew</a:t>
            </a:r>
          </a:p>
        </p:txBody>
      </p:sp>
      <p:sp>
        <p:nvSpPr>
          <p:cNvPr id="12" name="Sequential process">
            <a:extLst xmlns:a="http://schemas.openxmlformats.org/drawingml/2006/main">
              <a:ext uri="{FF2B5EF4-FFF2-40B4-BE49-F238E27FC236}">
                <a16:creationId xmlns:a16="http://schemas.microsoft.com/office/drawing/2014/main" id="{BDE0D139-EDF3-4395-B451-C7A1D9313620}"/>
              </a:ext>
            </a:extLst>
          </p:cNvPr>
          <p:cNvSpPr>
            <a:spLocks xmlns:a="http://schemas.openxmlformats.org/drawingml/2006/main" noGrp="1"/>
          </p:cNvSpPr>
          <p:nvPr/>
        </p:nvSpPr>
        <p:spPr>
          <a:xfrm xmlns:a="http://schemas.openxmlformats.org/drawingml/2006/main">
            <a:off x="8991600" y="5467350"/>
            <a:ext cx="259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Sequential process</a:t>
            </a:r>
          </a:p>
        </p:txBody>
      </p:sp>
      <p:sp>
        <p:nvSpPr>
          <p:cNvPr id="13" name="Task wiring excerpt. Descriptions and lab setup omitted. CodexCLI">
            <a:extLst xmlns:a="http://schemas.openxmlformats.org/drawingml/2006/main">
              <a:ext uri="{FF2B5EF4-FFF2-40B4-BE49-F238E27FC236}">
                <a16:creationId xmlns:a16="http://schemas.microsoft.com/office/drawing/2014/main" id="{5186F70F-D030-4B57-A905-B35A1276F86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Task wiring excerpt. Descriptions and lab setup omitted. CodexCLILLM is a custom adapter.</a:t>
            </a:r>
          </a:p>
        </p:txBody>
      </p:sp>
    </p:spTree>
    <p:extLst>
      <p:ext uri="{BB962C8B-B14F-4D97-AF65-F5344CB8AC3E}">
        <p14:creationId xmlns:p14="http://schemas.microsoft.com/office/powerpoint/2010/main" val="1836342745"/>
      </p:ext>
    </p:extLst>
  </p:cSld>
</p:sld>
</file>

<file path=ppt/slides/slide7.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5" name="DEMO 1">
            <a:extLst xmlns:a="http://schemas.openxmlformats.org/drawingml/2006/main">
              <a:ext uri="{FF2B5EF4-FFF2-40B4-BE49-F238E27FC236}">
                <a16:creationId xmlns:a16="http://schemas.microsoft.com/office/drawing/2014/main" id="{30B0B41F-1A91-4254-A421-E781017E0BB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1</a:t>
            </a:r>
          </a:p>
        </p:txBody>
      </p:sp>
      <p:sp>
        <p:nvSpPr>
          <p:cNvPr id="2" name="07">
            <a:extLst xmlns:a="http://schemas.openxmlformats.org/drawingml/2006/main">
              <a:ext uri="{FF2B5EF4-FFF2-40B4-BE49-F238E27FC236}">
                <a16:creationId xmlns:a16="http://schemas.microsoft.com/office/drawing/2014/main" id="{8AD8C8CB-E095-4039-A258-DA85744F7A5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07</a:t>
            </a:r>
          </a:p>
        </p:txBody>
      </p:sp>
      <p:sp>
        <p:nvSpPr>
          <p:cNvPr id="3" name="CrewAI demo: inspect each handoff">
            <a:extLst xmlns:a="http://schemas.openxmlformats.org/drawingml/2006/main">
              <a:ext uri="{FF2B5EF4-FFF2-40B4-BE49-F238E27FC236}">
                <a16:creationId xmlns:a16="http://schemas.microsoft.com/office/drawing/2014/main" id="{7C9BB0FD-323F-4151-9E74-8896251DBCB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CrewAI demo: inspect each handoff</a:t>
            </a:r>
          </a:p>
        </p:txBody>
      </p:sp>
      <p:sp>
        <p:nvSpPr>
          <p:cNvPr id="4" name="Run the same ₹1,000 request. Compare typed fields with the suppli">
            <a:extLst xmlns:a="http://schemas.openxmlformats.org/drawingml/2006/main">
              <a:ext uri="{FF2B5EF4-FFF2-40B4-BE49-F238E27FC236}">
                <a16:creationId xmlns:a16="http://schemas.microsoft.com/office/drawing/2014/main" id="{6D2CA501-7E4E-4901-8946-E3F4DD6789F9}"/>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Run the same ₹1,000 request. Compare typed fields with the supplied offer evidence.</a:t>
            </a:r>
          </a:p>
        </p:txBody>
      </p:sp>
      <p:sp>
        <p:nvSpPr>
          <p:cNvPr id="5" name="01  Parsed request">
            <a:extLst xmlns:a="http://schemas.openxmlformats.org/drawingml/2006/main">
              <a:ext uri="{FF2B5EF4-FFF2-40B4-BE49-F238E27FC236}">
                <a16:creationId xmlns:a16="http://schemas.microsoft.com/office/drawing/2014/main" id="{7DA061CB-CD9B-4846-AAEC-A9C0E255A457}"/>
              </a:ext>
            </a:extLst>
          </p:cNvPr>
          <p:cNvSpPr>
            <a:spLocks xmlns:a="http://schemas.openxmlformats.org/drawingml/2006/main" noGrp="1"/>
          </p:cNvSpPr>
          <p:nvPr/>
        </p:nvSpPr>
        <p:spPr>
          <a:xfrm xmlns:a="http://schemas.openxmlformats.org/drawingml/2006/main">
            <a:off x="609600" y="2762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2A7FF"/>
                </a:solidFill>
                <a:latin typeface="Arial"/>
                <a:ea typeface="Arial"/>
                <a:cs typeface="Arial"/>
              </a:defRPr>
            </a:defPPr>
            <a:lvl1pPr algn="l">
              <a:defRPr sz="2175" b="1">
                <a:solidFill>
                  <a:srgbClr val="B2A7FF"/>
                </a:solidFill>
                <a:latin typeface="Arial"/>
                <a:ea typeface="Arial"/>
                <a:cs typeface="Arial"/>
              </a:defRPr>
            </a:lvl1pPr>
            <a:lvl2pPr algn="l">
              <a:defRPr sz="2175" b="1">
                <a:solidFill>
                  <a:srgbClr val="B2A7FF"/>
                </a:solidFill>
                <a:latin typeface="Arial"/>
                <a:ea typeface="Arial"/>
                <a:cs typeface="Arial"/>
              </a:defRPr>
            </a:lvl2pPr>
            <a:lvl3pPr algn="l">
              <a:defRPr sz="2175" b="1">
                <a:solidFill>
                  <a:srgbClr val="B2A7FF"/>
                </a:solidFill>
                <a:latin typeface="Arial"/>
                <a:ea typeface="Arial"/>
                <a:cs typeface="Arial"/>
              </a:defRPr>
            </a:lvl3pPr>
            <a:lvl4pPr algn="l">
              <a:defRPr sz="2175" b="1">
                <a:solidFill>
                  <a:srgbClr val="B2A7FF"/>
                </a:solidFill>
                <a:latin typeface="Arial"/>
                <a:ea typeface="Arial"/>
                <a:cs typeface="Arial"/>
              </a:defRPr>
            </a:lvl4pPr>
            <a:lvl5pPr algn="l">
              <a:defRPr sz="2175" b="1">
                <a:solidFill>
                  <a:srgbClr val="B2A7FF"/>
                </a:solidFill>
                <a:latin typeface="Arial"/>
                <a:ea typeface="Arial"/>
                <a:cs typeface="Arial"/>
              </a:defRPr>
            </a:lvl5pPr>
            <a:lvl6pPr algn="l">
              <a:defRPr sz="2175" b="1">
                <a:solidFill>
                  <a:srgbClr val="B2A7FF"/>
                </a:solidFill>
                <a:latin typeface="Arial"/>
                <a:ea typeface="Arial"/>
                <a:cs typeface="Arial"/>
              </a:defRPr>
            </a:lvl6pPr>
            <a:lvl7pPr algn="l">
              <a:defRPr sz="2175" b="1">
                <a:solidFill>
                  <a:srgbClr val="B2A7FF"/>
                </a:solidFill>
                <a:latin typeface="Arial"/>
                <a:ea typeface="Arial"/>
                <a:cs typeface="Arial"/>
              </a:defRPr>
            </a:lvl7pPr>
            <a:lvl8pPr algn="l">
              <a:defRPr sz="2175" b="1">
                <a:solidFill>
                  <a:srgbClr val="B2A7FF"/>
                </a:solidFill>
                <a:latin typeface="Arial"/>
                <a:ea typeface="Arial"/>
                <a:cs typeface="Arial"/>
              </a:defRPr>
            </a:lvl8pPr>
            <a:lvl9pPr algn="l">
              <a:defRPr sz="2175" b="1">
                <a:solidFill>
                  <a:srgbClr val="B2A7FF"/>
                </a:solidFill>
                <a:latin typeface="Arial"/>
                <a:ea typeface="Arial"/>
                <a:cs typeface="Arial"/>
              </a:defRPr>
            </a:lvl9pPr>
          </a:lstStyle>
          <a:p xmlns:a="http://schemas.openxmlformats.org/drawingml/2006/main">
            <a:pPr algn="l">
              <a:defRPr sz="2175" b="1">
                <a:solidFill>
                  <a:srgbClr val="B2A7FF"/>
                </a:solidFill>
                <a:latin typeface="Arial"/>
                <a:ea typeface="Arial"/>
                <a:cs typeface="Arial"/>
              </a:defRPr>
            </a:pPr>
            <a:r>
              <a:rPr sz="2175" b="1">
                <a:solidFill>
                  <a:srgbClr val="B2A7FF"/>
                </a:solidFill>
                <a:latin typeface="Arial"/>
                <a:ea typeface="Arial"/>
                <a:cs typeface="Arial"/>
              </a:rPr>
              <a:t>01  Parsed request</a:t>
            </a:r>
          </a:p>
        </p:txBody>
      </p:sp>
      <p:sp>
        <p:nvSpPr>
          <p:cNvPr id="6" name="budget_inr = 1000&#10;category = running shoes, colour = black">
            <a:extLst xmlns:a="http://schemas.openxmlformats.org/drawingml/2006/main">
              <a:ext uri="{FF2B5EF4-FFF2-40B4-BE49-F238E27FC236}">
                <a16:creationId xmlns:a16="http://schemas.microsoft.com/office/drawing/2014/main" id="{3CB40C34-8BD6-4455-9413-F0A5EA92CE8F}"/>
              </a:ext>
            </a:extLst>
          </p:cNvPr>
          <p:cNvSpPr>
            <a:spLocks xmlns:a="http://schemas.openxmlformats.org/drawingml/2006/main" noGrp="1"/>
          </p:cNvSpPr>
          <p:nvPr/>
        </p:nvSpPr>
        <p:spPr>
          <a:xfrm xmlns:a="http://schemas.openxmlformats.org/drawingml/2006/main">
            <a:off x="4095750" y="2762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budget_inr = 1000</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category = running shoes, colour = black</a:t>
            </a:r>
          </a:p>
        </p:txBody>
      </p:sp>
      <p:sp>
        <p:nvSpPr>
          <p:cNvPr id="7" name="">
            <a:extLst xmlns:a="http://schemas.openxmlformats.org/drawingml/2006/main">
              <a:ext uri="{FF2B5EF4-FFF2-40B4-BE49-F238E27FC236}">
                <a16:creationId xmlns:a16="http://schemas.microsoft.com/office/drawing/2014/main" id="{3A7F619F-DAE0-4105-B703-C550FF695518}"/>
              </a:ext>
            </a:extLst>
          </p:cNvPr>
          <p:cNvSpPr>
            <a:spLocks xmlns:a="http://schemas.openxmlformats.org/drawingml/2006/main" noGrp="1"/>
          </p:cNvSpPr>
          <p:nvPr/>
        </p:nvSpPr>
        <p:spPr>
          <a:xfrm xmlns:a="http://schemas.openxmlformats.org/drawingml/2006/main">
            <a:off x="609600" y="3724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8" name="02  Evaluation">
            <a:extLst xmlns:a="http://schemas.openxmlformats.org/drawingml/2006/main">
              <a:ext uri="{FF2B5EF4-FFF2-40B4-BE49-F238E27FC236}">
                <a16:creationId xmlns:a16="http://schemas.microsoft.com/office/drawing/2014/main" id="{B7051389-F106-4220-A42A-29A2B87249EF}"/>
              </a:ext>
            </a:extLst>
          </p:cNvPr>
          <p:cNvSpPr>
            <a:spLocks xmlns:a="http://schemas.openxmlformats.org/drawingml/2006/main" noGrp="1"/>
          </p:cNvSpPr>
          <p:nvPr/>
        </p:nvSpPr>
        <p:spPr>
          <a:xfrm xmlns:a="http://schemas.openxmlformats.org/drawingml/2006/main">
            <a:off x="609600" y="3905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AB8E"/>
                </a:solidFill>
                <a:latin typeface="Arial"/>
                <a:ea typeface="Arial"/>
                <a:cs typeface="Arial"/>
              </a:defRPr>
            </a:defPPr>
            <a:lvl1pPr algn="l">
              <a:defRPr sz="2175" b="1">
                <a:solidFill>
                  <a:srgbClr val="FFAB8E"/>
                </a:solidFill>
                <a:latin typeface="Arial"/>
                <a:ea typeface="Arial"/>
                <a:cs typeface="Arial"/>
              </a:defRPr>
            </a:lvl1pPr>
            <a:lvl2pPr algn="l">
              <a:defRPr sz="2175" b="1">
                <a:solidFill>
                  <a:srgbClr val="FFAB8E"/>
                </a:solidFill>
                <a:latin typeface="Arial"/>
                <a:ea typeface="Arial"/>
                <a:cs typeface="Arial"/>
              </a:defRPr>
            </a:lvl2pPr>
            <a:lvl3pPr algn="l">
              <a:defRPr sz="2175" b="1">
                <a:solidFill>
                  <a:srgbClr val="FFAB8E"/>
                </a:solidFill>
                <a:latin typeface="Arial"/>
                <a:ea typeface="Arial"/>
                <a:cs typeface="Arial"/>
              </a:defRPr>
            </a:lvl3pPr>
            <a:lvl4pPr algn="l">
              <a:defRPr sz="2175" b="1">
                <a:solidFill>
                  <a:srgbClr val="FFAB8E"/>
                </a:solidFill>
                <a:latin typeface="Arial"/>
                <a:ea typeface="Arial"/>
                <a:cs typeface="Arial"/>
              </a:defRPr>
            </a:lvl4pPr>
            <a:lvl5pPr algn="l">
              <a:defRPr sz="2175" b="1">
                <a:solidFill>
                  <a:srgbClr val="FFAB8E"/>
                </a:solidFill>
                <a:latin typeface="Arial"/>
                <a:ea typeface="Arial"/>
                <a:cs typeface="Arial"/>
              </a:defRPr>
            </a:lvl5pPr>
            <a:lvl6pPr algn="l">
              <a:defRPr sz="2175" b="1">
                <a:solidFill>
                  <a:srgbClr val="FFAB8E"/>
                </a:solidFill>
                <a:latin typeface="Arial"/>
                <a:ea typeface="Arial"/>
                <a:cs typeface="Arial"/>
              </a:defRPr>
            </a:lvl6pPr>
            <a:lvl7pPr algn="l">
              <a:defRPr sz="2175" b="1">
                <a:solidFill>
                  <a:srgbClr val="FFAB8E"/>
                </a:solidFill>
                <a:latin typeface="Arial"/>
                <a:ea typeface="Arial"/>
                <a:cs typeface="Arial"/>
              </a:defRPr>
            </a:lvl7pPr>
            <a:lvl8pPr algn="l">
              <a:defRPr sz="2175" b="1">
                <a:solidFill>
                  <a:srgbClr val="FFAB8E"/>
                </a:solidFill>
                <a:latin typeface="Arial"/>
                <a:ea typeface="Arial"/>
                <a:cs typeface="Arial"/>
              </a:defRPr>
            </a:lvl8pPr>
            <a:lvl9pPr algn="l">
              <a:defRPr sz="2175" b="1">
                <a:solidFill>
                  <a:srgbClr val="FFAB8E"/>
                </a:solidFill>
                <a:latin typeface="Arial"/>
                <a:ea typeface="Arial"/>
                <a:cs typeface="Arial"/>
              </a:defRPr>
            </a:lvl9pPr>
          </a:lstStyle>
          <a:p xmlns:a="http://schemas.openxmlformats.org/drawingml/2006/main">
            <a:pPr algn="l">
              <a:defRPr sz="2175" b="1">
                <a:solidFill>
                  <a:srgbClr val="FFAB8E"/>
                </a:solidFill>
                <a:latin typeface="Arial"/>
                <a:ea typeface="Arial"/>
                <a:cs typeface="Arial"/>
              </a:defRPr>
            </a:pPr>
            <a:r>
              <a:rPr sz="2175" b="1">
                <a:solidFill>
                  <a:srgbClr val="FFAB8E"/>
                </a:solidFill>
                <a:latin typeface="Arial"/>
                <a:ea typeface="Arial"/>
                <a:cs typeface="Arial"/>
              </a:rPr>
              <a:t>02  Evaluation</a:t>
            </a:r>
          </a:p>
        </p:txBody>
      </p:sp>
      <p:sp>
        <p:nvSpPr>
          <p:cNvPr id="9" name="Per-offer checks, source evidence, explicit unknowns">
            <a:extLst xmlns:a="http://schemas.openxmlformats.org/drawingml/2006/main">
              <a:ext uri="{FF2B5EF4-FFF2-40B4-BE49-F238E27FC236}">
                <a16:creationId xmlns:a16="http://schemas.microsoft.com/office/drawing/2014/main" id="{A64E90D4-8B72-41AC-91AC-F9B0913EF71B}"/>
              </a:ext>
            </a:extLst>
          </p:cNvPr>
          <p:cNvSpPr>
            <a:spLocks xmlns:a="http://schemas.openxmlformats.org/drawingml/2006/main" noGrp="1"/>
          </p:cNvSpPr>
          <p:nvPr/>
        </p:nvSpPr>
        <p:spPr>
          <a:xfrm xmlns:a="http://schemas.openxmlformats.org/drawingml/2006/main">
            <a:off x="4095750" y="3905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Per-offer checks, source evidence, explicit unknowns</a:t>
            </a:r>
          </a:p>
        </p:txBody>
      </p:sp>
      <p:sp>
        <p:nvSpPr>
          <p:cNvPr id="10" name="">
            <a:extLst xmlns:a="http://schemas.openxmlformats.org/drawingml/2006/main">
              <a:ext uri="{FF2B5EF4-FFF2-40B4-BE49-F238E27FC236}">
                <a16:creationId xmlns:a16="http://schemas.microsoft.com/office/drawing/2014/main" id="{03C12DAF-3781-4498-9A1C-BD4545204C29}"/>
              </a:ext>
            </a:extLst>
          </p:cNvPr>
          <p:cNvSpPr>
            <a:spLocks xmlns:a="http://schemas.openxmlformats.org/drawingml/2006/main" noGrp="1"/>
          </p:cNvSpPr>
          <p:nvPr/>
        </p:nvSpPr>
        <p:spPr>
          <a:xfrm xmlns:a="http://schemas.openxmlformats.org/drawingml/2006/main">
            <a:off x="609600" y="4867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1" name="03  Recommendation">
            <a:extLst xmlns:a="http://schemas.openxmlformats.org/drawingml/2006/main">
              <a:ext uri="{FF2B5EF4-FFF2-40B4-BE49-F238E27FC236}">
                <a16:creationId xmlns:a16="http://schemas.microsoft.com/office/drawing/2014/main" id="{87B069E9-F5E2-4F84-B3F2-DBE1775075A5}"/>
              </a:ext>
            </a:extLst>
          </p:cNvPr>
          <p:cNvSpPr>
            <a:spLocks xmlns:a="http://schemas.openxmlformats.org/drawingml/2006/main" noGrp="1"/>
          </p:cNvSpPr>
          <p:nvPr/>
        </p:nvSpPr>
        <p:spPr>
          <a:xfrm xmlns:a="http://schemas.openxmlformats.org/drawingml/2006/main">
            <a:off x="609600" y="5048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D4DD"/>
                </a:solidFill>
                <a:latin typeface="Arial"/>
                <a:ea typeface="Arial"/>
                <a:cs typeface="Arial"/>
              </a:defRPr>
            </a:defPPr>
            <a:lvl1pPr algn="l">
              <a:defRPr sz="2175" b="1">
                <a:solidFill>
                  <a:srgbClr val="62D4DD"/>
                </a:solidFill>
                <a:latin typeface="Arial"/>
                <a:ea typeface="Arial"/>
                <a:cs typeface="Arial"/>
              </a:defRPr>
            </a:lvl1pPr>
            <a:lvl2pPr algn="l">
              <a:defRPr sz="2175" b="1">
                <a:solidFill>
                  <a:srgbClr val="62D4DD"/>
                </a:solidFill>
                <a:latin typeface="Arial"/>
                <a:ea typeface="Arial"/>
                <a:cs typeface="Arial"/>
              </a:defRPr>
            </a:lvl2pPr>
            <a:lvl3pPr algn="l">
              <a:defRPr sz="2175" b="1">
                <a:solidFill>
                  <a:srgbClr val="62D4DD"/>
                </a:solidFill>
                <a:latin typeface="Arial"/>
                <a:ea typeface="Arial"/>
                <a:cs typeface="Arial"/>
              </a:defRPr>
            </a:lvl3pPr>
            <a:lvl4pPr algn="l">
              <a:defRPr sz="2175" b="1">
                <a:solidFill>
                  <a:srgbClr val="62D4DD"/>
                </a:solidFill>
                <a:latin typeface="Arial"/>
                <a:ea typeface="Arial"/>
                <a:cs typeface="Arial"/>
              </a:defRPr>
            </a:lvl4pPr>
            <a:lvl5pPr algn="l">
              <a:defRPr sz="2175" b="1">
                <a:solidFill>
                  <a:srgbClr val="62D4DD"/>
                </a:solidFill>
                <a:latin typeface="Arial"/>
                <a:ea typeface="Arial"/>
                <a:cs typeface="Arial"/>
              </a:defRPr>
            </a:lvl5pPr>
            <a:lvl6pPr algn="l">
              <a:defRPr sz="2175" b="1">
                <a:solidFill>
                  <a:srgbClr val="62D4DD"/>
                </a:solidFill>
                <a:latin typeface="Arial"/>
                <a:ea typeface="Arial"/>
                <a:cs typeface="Arial"/>
              </a:defRPr>
            </a:lvl6pPr>
            <a:lvl7pPr algn="l">
              <a:defRPr sz="2175" b="1">
                <a:solidFill>
                  <a:srgbClr val="62D4DD"/>
                </a:solidFill>
                <a:latin typeface="Arial"/>
                <a:ea typeface="Arial"/>
                <a:cs typeface="Arial"/>
              </a:defRPr>
            </a:lvl7pPr>
            <a:lvl8pPr algn="l">
              <a:defRPr sz="2175" b="1">
                <a:solidFill>
                  <a:srgbClr val="62D4DD"/>
                </a:solidFill>
                <a:latin typeface="Arial"/>
                <a:ea typeface="Arial"/>
                <a:cs typeface="Arial"/>
              </a:defRPr>
            </a:lvl8pPr>
            <a:lvl9pPr algn="l">
              <a:defRPr sz="2175" b="1">
                <a:solidFill>
                  <a:srgbClr val="62D4DD"/>
                </a:solidFill>
                <a:latin typeface="Arial"/>
                <a:ea typeface="Arial"/>
                <a:cs typeface="Arial"/>
              </a:defRPr>
            </a:lvl9pPr>
          </a:lstStyle>
          <a:p xmlns:a="http://schemas.openxmlformats.org/drawingml/2006/main">
            <a:pPr algn="l">
              <a:defRPr sz="2175" b="1">
                <a:solidFill>
                  <a:srgbClr val="62D4DD"/>
                </a:solidFill>
                <a:latin typeface="Arial"/>
                <a:ea typeface="Arial"/>
                <a:cs typeface="Arial"/>
              </a:defRPr>
            </a:pPr>
            <a:r>
              <a:rPr sz="2175" b="1">
                <a:solidFill>
                  <a:srgbClr val="62D4DD"/>
                </a:solidFill>
                <a:latin typeface="Arial"/>
                <a:ea typeface="Arial"/>
                <a:cs typeface="Arial"/>
              </a:rPr>
              <a:t>03  Recommendation</a:t>
            </a:r>
          </a:p>
        </p:txBody>
      </p:sp>
      <p:sp>
        <p:nvSpPr>
          <p:cNvPr id="12" name="Selected offer or NO_MATCH&#10;authority = RECOMMENDATION_ONLY">
            <a:extLst xmlns:a="http://schemas.openxmlformats.org/drawingml/2006/main">
              <a:ext uri="{FF2B5EF4-FFF2-40B4-BE49-F238E27FC236}">
                <a16:creationId xmlns:a16="http://schemas.microsoft.com/office/drawing/2014/main" id="{15BBE281-F76F-43A3-9507-0313EEDBD4BD}"/>
              </a:ext>
            </a:extLst>
          </p:cNvPr>
          <p:cNvSpPr>
            <a:spLocks xmlns:a="http://schemas.openxmlformats.org/drawingml/2006/main" noGrp="1"/>
          </p:cNvSpPr>
          <p:nvPr/>
        </p:nvSpPr>
        <p:spPr>
          <a:xfrm xmlns:a="http://schemas.openxmlformats.org/drawingml/2006/main">
            <a:off x="4095750" y="5048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Selected offer or NO_MATCH</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authority = RECOMMENDATION_ONLY</a:t>
            </a:r>
          </a:p>
        </p:txBody>
      </p:sp>
      <p:sp>
        <p:nvSpPr>
          <p:cNvPr id="13" name="">
            <a:extLst xmlns:a="http://schemas.openxmlformats.org/drawingml/2006/main">
              <a:ext uri="{FF2B5EF4-FFF2-40B4-BE49-F238E27FC236}">
                <a16:creationId xmlns:a16="http://schemas.microsoft.com/office/drawing/2014/main" id="{6DFF117D-315F-4CEB-B08A-C02906556701}"/>
              </a:ext>
            </a:extLst>
          </p:cNvPr>
          <p:cNvSpPr>
            <a:spLocks xmlns:a="http://schemas.openxmlformats.org/drawingml/2006/main" noGrp="1"/>
          </p:cNvSpPr>
          <p:nvPr/>
        </p:nvSpPr>
        <p:spPr>
          <a:xfrm xmlns:a="http://schemas.openxmlformats.org/drawingml/2006/main">
            <a:off x="609600" y="6010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4" name="Illustrative handoff contract. NO_MATCH is valid when no supplied">
            <a:extLst xmlns:a="http://schemas.openxmlformats.org/drawingml/2006/main">
              <a:ext uri="{FF2B5EF4-FFF2-40B4-BE49-F238E27FC236}">
                <a16:creationId xmlns:a16="http://schemas.microsoft.com/office/drawing/2014/main" id="{DFAB6034-8471-4D28-83D6-6224FEF13D6C}"/>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Illustrative handoff contract. NO_MATCH is valid when no supplied offer satisfies the request.</a:t>
            </a:r>
          </a:p>
        </p:txBody>
      </p:sp>
    </p:spTree>
    <p:extLst>
      <p:ext uri="{BB962C8B-B14F-4D97-AF65-F5344CB8AC3E}">
        <p14:creationId xmlns:p14="http://schemas.microsoft.com/office/powerpoint/2010/main" val="2102036571"/>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WHY WORKFLOWS">
            <a:extLst xmlns:a="http://schemas.openxmlformats.org/drawingml/2006/main">
              <a:ext uri="{FF2B5EF4-FFF2-40B4-BE49-F238E27FC236}">
                <a16:creationId xmlns:a16="http://schemas.microsoft.com/office/drawing/2014/main" id="{FF2BC477-C26D-4123-901A-031FD854AC2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WORKFLOWS</a:t>
            </a:r>
          </a:p>
        </p:txBody>
      </p:sp>
      <p:sp>
        <p:nvSpPr>
          <p:cNvPr id="2" name="08">
            <a:extLst xmlns:a="http://schemas.openxmlformats.org/drawingml/2006/main">
              <a:ext uri="{FF2B5EF4-FFF2-40B4-BE49-F238E27FC236}">
                <a16:creationId xmlns:a16="http://schemas.microsoft.com/office/drawing/2014/main" id="{D89302DF-C77F-412F-801A-3E845C04B3E1}"/>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08</a:t>
            </a:r>
          </a:p>
        </p:txBody>
      </p:sp>
      <p:sp>
        <p:nvSpPr>
          <p:cNvPr id="3" name="Reasoning needs durable execution">
            <a:extLst xmlns:a="http://schemas.openxmlformats.org/drawingml/2006/main">
              <a:ext uri="{FF2B5EF4-FFF2-40B4-BE49-F238E27FC236}">
                <a16:creationId xmlns:a16="http://schemas.microsoft.com/office/drawing/2014/main" id="{1933771D-1DA4-4325-8F57-38F054D10409}"/>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Reasoning needs durable execution</a:t>
            </a:r>
          </a:p>
        </p:txBody>
      </p:sp>
      <p:sp>
        <p:nvSpPr>
          <p:cNvPr id="4" name="A recommendation returns now. A human decision may arrive much la">
            <a:extLst xmlns:a="http://schemas.openxmlformats.org/drawingml/2006/main">
              <a:ext uri="{FF2B5EF4-FFF2-40B4-BE49-F238E27FC236}">
                <a16:creationId xmlns:a16="http://schemas.microsoft.com/office/drawing/2014/main" id="{44F2DA2F-F564-47DE-95E0-56973CC6F0F6}"/>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recommendation returns now. A human decision may arrive much later.</a:t>
            </a:r>
          </a:p>
        </p:txBody>
      </p:sp>
      <p:sp>
        <p:nvSpPr>
          <p:cNvPr id="5" name="Persist">
            <a:extLst xmlns:a="http://schemas.openxmlformats.org/drawingml/2006/main">
              <a:ext uri="{FF2B5EF4-FFF2-40B4-BE49-F238E27FC236}">
                <a16:creationId xmlns:a16="http://schemas.microsoft.com/office/drawing/2014/main" id="{47404365-38EE-4609-8903-9F03D76344A5}"/>
              </a:ext>
            </a:extLst>
          </p:cNvPr>
          <p:cNvSpPr>
            <a:spLocks xmlns:a="http://schemas.openxmlformats.org/drawingml/2006/main" noGrp="1"/>
          </p:cNvSpPr>
          <p:nvPr/>
        </p:nvSpPr>
        <p:spPr>
          <a:xfrm xmlns:a="http://schemas.openxmlformats.org/drawingml/2006/main">
            <a:off x="609600" y="2752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Persist</a:t>
            </a:r>
          </a:p>
        </p:txBody>
      </p:sp>
      <p:sp>
        <p:nvSpPr>
          <p:cNvPr id="6" name="Store the request, evidence, decisions, and run identity.">
            <a:extLst xmlns:a="http://schemas.openxmlformats.org/drawingml/2006/main">
              <a:ext uri="{FF2B5EF4-FFF2-40B4-BE49-F238E27FC236}">
                <a16:creationId xmlns:a16="http://schemas.microsoft.com/office/drawing/2014/main" id="{2E81FEAF-84B9-454E-9C97-2CC143270166}"/>
              </a:ext>
            </a:extLst>
          </p:cNvPr>
          <p:cNvSpPr>
            <a:spLocks xmlns:a="http://schemas.openxmlformats.org/drawingml/2006/main" noGrp="1"/>
          </p:cNvSpPr>
          <p:nvPr/>
        </p:nvSpPr>
        <p:spPr>
          <a:xfrm xmlns:a="http://schemas.openxmlformats.org/drawingml/2006/main">
            <a:off x="4095750" y="2752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Store the request, evidence, decisions, and run identity.</a:t>
            </a:r>
          </a:p>
        </p:txBody>
      </p:sp>
      <p:sp>
        <p:nvSpPr>
          <p:cNvPr id="7" name="">
            <a:extLst xmlns:a="http://schemas.openxmlformats.org/drawingml/2006/main">
              <a:ext uri="{FF2B5EF4-FFF2-40B4-BE49-F238E27FC236}">
                <a16:creationId xmlns:a16="http://schemas.microsoft.com/office/drawing/2014/main" id="{E8AC6D67-F060-4DBB-A7C3-C0E174F0A83D}"/>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8" name="Wait and resume">
            <a:extLst xmlns:a="http://schemas.openxmlformats.org/drawingml/2006/main">
              <a:ext uri="{FF2B5EF4-FFF2-40B4-BE49-F238E27FC236}">
                <a16:creationId xmlns:a16="http://schemas.microsoft.com/office/drawing/2014/main" id="{F1795E54-3E52-4533-88E5-DEC6F28E96C4}"/>
              </a:ext>
            </a:extLst>
          </p:cNvPr>
          <p:cNvSpPr>
            <a:spLocks xmlns:a="http://schemas.openxmlformats.org/drawingml/2006/main" noGrp="1"/>
          </p:cNvSpPr>
          <p:nvPr/>
        </p:nvSpPr>
        <p:spPr>
          <a:xfrm xmlns:a="http://schemas.openxmlformats.org/drawingml/2006/main">
            <a:off x="609600" y="3895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Wait and resume</a:t>
            </a:r>
          </a:p>
        </p:txBody>
      </p:sp>
      <p:sp>
        <p:nvSpPr>
          <p:cNvPr id="9" name="Preserve the exact proposal shown to the human.">
            <a:extLst xmlns:a="http://schemas.openxmlformats.org/drawingml/2006/main">
              <a:ext uri="{FF2B5EF4-FFF2-40B4-BE49-F238E27FC236}">
                <a16:creationId xmlns:a16="http://schemas.microsoft.com/office/drawing/2014/main" id="{61FC11C6-AC55-470F-8B84-C869B646CF45}"/>
              </a:ext>
            </a:extLst>
          </p:cNvPr>
          <p:cNvSpPr>
            <a:spLocks xmlns:a="http://schemas.openxmlformats.org/drawingml/2006/main" noGrp="1"/>
          </p:cNvSpPr>
          <p:nvPr/>
        </p:nvSpPr>
        <p:spPr>
          <a:xfrm xmlns:a="http://schemas.openxmlformats.org/drawingml/2006/main">
            <a:off x="4095750" y="3895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Preserve the exact proposal shown to the human.</a:t>
            </a:r>
          </a:p>
        </p:txBody>
      </p:sp>
      <p:sp>
        <p:nvSpPr>
          <p:cNvPr id="10" name="">
            <a:extLst xmlns:a="http://schemas.openxmlformats.org/drawingml/2006/main">
              <a:ext uri="{FF2B5EF4-FFF2-40B4-BE49-F238E27FC236}">
                <a16:creationId xmlns:a16="http://schemas.microsoft.com/office/drawing/2014/main" id="{63ED8BBE-3549-4B92-8A0E-0CE455040F4E}"/>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1" name="Control side effects">
            <a:extLst xmlns:a="http://schemas.openxmlformats.org/drawingml/2006/main">
              <a:ext uri="{FF2B5EF4-FFF2-40B4-BE49-F238E27FC236}">
                <a16:creationId xmlns:a16="http://schemas.microsoft.com/office/drawing/2014/main" id="{ECD029E9-10D7-4BCE-B598-BCA43B0D4933}"/>
              </a:ext>
            </a:extLst>
          </p:cNvPr>
          <p:cNvSpPr>
            <a:spLocks xmlns:a="http://schemas.openxmlformats.org/drawingml/2006/main" noGrp="1"/>
          </p:cNvSpPr>
          <p:nvPr/>
        </p:nvSpPr>
        <p:spPr>
          <a:xfrm xmlns:a="http://schemas.openxmlformats.org/drawingml/2006/main">
            <a:off x="609600" y="5038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77814"/>
                </a:solidFill>
                <a:latin typeface="Arial"/>
                <a:ea typeface="Arial"/>
                <a:cs typeface="Arial"/>
              </a:defRPr>
            </a:defPPr>
            <a:lvl1pPr algn="l">
              <a:defRPr sz="2175" b="1">
                <a:solidFill>
                  <a:srgbClr val="477814"/>
                </a:solidFill>
                <a:latin typeface="Arial"/>
                <a:ea typeface="Arial"/>
                <a:cs typeface="Arial"/>
              </a:defRPr>
            </a:lvl1pPr>
            <a:lvl2pPr algn="l">
              <a:defRPr sz="2175" b="1">
                <a:solidFill>
                  <a:srgbClr val="477814"/>
                </a:solidFill>
                <a:latin typeface="Arial"/>
                <a:ea typeface="Arial"/>
                <a:cs typeface="Arial"/>
              </a:defRPr>
            </a:lvl2pPr>
            <a:lvl3pPr algn="l">
              <a:defRPr sz="2175" b="1">
                <a:solidFill>
                  <a:srgbClr val="477814"/>
                </a:solidFill>
                <a:latin typeface="Arial"/>
                <a:ea typeface="Arial"/>
                <a:cs typeface="Arial"/>
              </a:defRPr>
            </a:lvl3pPr>
            <a:lvl4pPr algn="l">
              <a:defRPr sz="2175" b="1">
                <a:solidFill>
                  <a:srgbClr val="477814"/>
                </a:solidFill>
                <a:latin typeface="Arial"/>
                <a:ea typeface="Arial"/>
                <a:cs typeface="Arial"/>
              </a:defRPr>
            </a:lvl4pPr>
            <a:lvl5pPr algn="l">
              <a:defRPr sz="2175" b="1">
                <a:solidFill>
                  <a:srgbClr val="477814"/>
                </a:solidFill>
                <a:latin typeface="Arial"/>
                <a:ea typeface="Arial"/>
                <a:cs typeface="Arial"/>
              </a:defRPr>
            </a:lvl5pPr>
            <a:lvl6pPr algn="l">
              <a:defRPr sz="2175" b="1">
                <a:solidFill>
                  <a:srgbClr val="477814"/>
                </a:solidFill>
                <a:latin typeface="Arial"/>
                <a:ea typeface="Arial"/>
                <a:cs typeface="Arial"/>
              </a:defRPr>
            </a:lvl6pPr>
            <a:lvl7pPr algn="l">
              <a:defRPr sz="2175" b="1">
                <a:solidFill>
                  <a:srgbClr val="477814"/>
                </a:solidFill>
                <a:latin typeface="Arial"/>
                <a:ea typeface="Arial"/>
                <a:cs typeface="Arial"/>
              </a:defRPr>
            </a:lvl7pPr>
            <a:lvl8pPr algn="l">
              <a:defRPr sz="2175" b="1">
                <a:solidFill>
                  <a:srgbClr val="477814"/>
                </a:solidFill>
                <a:latin typeface="Arial"/>
                <a:ea typeface="Arial"/>
                <a:cs typeface="Arial"/>
              </a:defRPr>
            </a:lvl8pPr>
            <a:lvl9pPr algn="l">
              <a:defRPr sz="2175" b="1">
                <a:solidFill>
                  <a:srgbClr val="477814"/>
                </a:solidFill>
                <a:latin typeface="Arial"/>
                <a:ea typeface="Arial"/>
                <a:cs typeface="Arial"/>
              </a:defRPr>
            </a:lvl9pPr>
          </a:lstStyle>
          <a:p xmlns:a="http://schemas.openxmlformats.org/drawingml/2006/main">
            <a:pPr algn="l">
              <a:defRPr sz="2175" b="1">
                <a:solidFill>
                  <a:srgbClr val="477814"/>
                </a:solidFill>
                <a:latin typeface="Arial"/>
                <a:ea typeface="Arial"/>
                <a:cs typeface="Arial"/>
              </a:defRPr>
            </a:pPr>
            <a:r>
              <a:rPr sz="2175" b="1">
                <a:solidFill>
                  <a:srgbClr val="477814"/>
                </a:solidFill>
                <a:latin typeface="Arial"/>
                <a:ea typeface="Arial"/>
                <a:cs typeface="Arial"/>
              </a:rPr>
              <a:t>Control side effects</a:t>
            </a:r>
          </a:p>
        </p:txBody>
      </p:sp>
      <p:sp>
        <p:nvSpPr>
          <p:cNvPr id="12" name="Handle rejection, expiry, errors, and retry limits.">
            <a:extLst xmlns:a="http://schemas.openxmlformats.org/drawingml/2006/main">
              <a:ext uri="{FF2B5EF4-FFF2-40B4-BE49-F238E27FC236}">
                <a16:creationId xmlns:a16="http://schemas.microsoft.com/office/drawing/2014/main" id="{9BD6A3DA-2E26-40E7-9952-FBF619F6878A}"/>
              </a:ext>
            </a:extLst>
          </p:cNvPr>
          <p:cNvSpPr>
            <a:spLocks xmlns:a="http://schemas.openxmlformats.org/drawingml/2006/main" noGrp="1"/>
          </p:cNvSpPr>
          <p:nvPr/>
        </p:nvSpPr>
        <p:spPr>
          <a:xfrm xmlns:a="http://schemas.openxmlformats.org/drawingml/2006/main">
            <a:off x="4095750" y="5038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Handle rejection, expiry, errors, and retry limits.</a:t>
            </a:r>
          </a:p>
        </p:txBody>
      </p:sp>
      <p:sp>
        <p:nvSpPr>
          <p:cNvPr id="13" name="">
            <a:extLst xmlns:a="http://schemas.openxmlformats.org/drawingml/2006/main">
              <a:ext uri="{FF2B5EF4-FFF2-40B4-BE49-F238E27FC236}">
                <a16:creationId xmlns:a16="http://schemas.microsoft.com/office/drawing/2014/main" id="{DD788A8D-B896-4FFC-95E6-EF4836730276}"/>
              </a:ext>
            </a:extLst>
          </p:cNvPr>
          <p:cNvSpPr>
            <a:spLocks xmlns:a="http://schemas.openxmlformats.org/drawingml/2006/main" noGrp="1"/>
          </p:cNvSpPr>
          <p:nvPr/>
        </p:nvSpPr>
        <p:spPr>
          <a:xfrm xmlns:a="http://schemas.openxmlformats.org/drawingml/2006/main">
            <a:off x="609600" y="6000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Tree>
    <p:extLst>
      <p:ext uri="{BB962C8B-B14F-4D97-AF65-F5344CB8AC3E}">
        <p14:creationId xmlns:p14="http://schemas.microsoft.com/office/powerpoint/2010/main" val="452394517"/>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9" name="SYSTEM ARCHITECTURE">
            <a:extLst xmlns:a="http://schemas.openxmlformats.org/drawingml/2006/main">
              <a:ext uri="{FF2B5EF4-FFF2-40B4-BE49-F238E27FC236}">
                <a16:creationId xmlns:a16="http://schemas.microsoft.com/office/drawing/2014/main" id="{BABD54D1-2558-4435-9EAB-1DA06A478AB8}"/>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SYSTEM ARCHITECTURE</a:t>
            </a:r>
          </a:p>
        </p:txBody>
      </p:sp>
      <p:sp>
        <p:nvSpPr>
          <p:cNvPr id="2" name="09">
            <a:extLst xmlns:a="http://schemas.openxmlformats.org/drawingml/2006/main">
              <a:ext uri="{FF2B5EF4-FFF2-40B4-BE49-F238E27FC236}">
                <a16:creationId xmlns:a16="http://schemas.microsoft.com/office/drawing/2014/main" id="{3F4DA12A-1E61-4314-AF45-3552272A29A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09</a:t>
            </a:r>
          </a:p>
        </p:txBody>
      </p:sp>
      <p:sp>
        <p:nvSpPr>
          <p:cNvPr id="3" name="Two demos, one proposal boundary">
            <a:extLst xmlns:a="http://schemas.openxmlformats.org/drawingml/2006/main">
              <a:ext uri="{FF2B5EF4-FFF2-40B4-BE49-F238E27FC236}">
                <a16:creationId xmlns:a16="http://schemas.microsoft.com/office/drawing/2014/main" id="{FDF6E5A7-0BEA-4F18-8C74-578BB8B21AA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Two demos, one proposal boundary</a:t>
            </a:r>
          </a:p>
        </p:txBody>
      </p:sp>
      <p:sp>
        <p:nvSpPr>
          <p:cNvPr id="4" name="Demo 1 teaches role decomposition. Demo 2 teaches live evidence a">
            <a:extLst xmlns:a="http://schemas.openxmlformats.org/drawingml/2006/main">
              <a:ext uri="{FF2B5EF4-FFF2-40B4-BE49-F238E27FC236}">
                <a16:creationId xmlns:a16="http://schemas.microsoft.com/office/drawing/2014/main" id="{5313A04F-AD62-4226-BA7A-9625CC1E88F6}"/>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Demo 1 teaches role decomposition. Demo 2 teaches live evidence and workflow control.</a:t>
            </a:r>
          </a:p>
        </p:txBody>
      </p:sp>
      <p:sp>
        <p:nvSpPr>
          <p:cNvPr id="5" name="Demo 1&#10;CrewAI roles">
            <a:extLst xmlns:a="http://schemas.openxmlformats.org/drawingml/2006/main">
              <a:ext uri="{FF2B5EF4-FFF2-40B4-BE49-F238E27FC236}">
                <a16:creationId xmlns:a16="http://schemas.microsoft.com/office/drawing/2014/main" id="{B6BE351E-B751-4257-9F07-CEAD623A161F}"/>
              </a:ext>
            </a:extLst>
          </p:cNvPr>
          <p:cNvSpPr>
            <a:spLocks xmlns:a="http://schemas.openxmlformats.org/drawingml/2006/main" noGrp="1"/>
          </p:cNvSpPr>
          <p:nvPr/>
        </p:nvSpPr>
        <p:spPr>
          <a:xfrm xmlns:a="http://schemas.openxmlformats.org/drawingml/2006/main">
            <a:off x="609600" y="2857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1</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CrewAI roles</a:t>
            </a:r>
          </a:p>
        </p:txBody>
      </p:sp>
      <p:sp>
        <p:nvSpPr>
          <p:cNvPr id="6" name="Typed proposal">
            <a:extLst xmlns:a="http://schemas.openxmlformats.org/drawingml/2006/main">
              <a:ext uri="{FF2B5EF4-FFF2-40B4-BE49-F238E27FC236}">
                <a16:creationId xmlns:a16="http://schemas.microsoft.com/office/drawing/2014/main" id="{3EFEC612-5C19-429F-BF13-7BE304C39A56}"/>
              </a:ext>
            </a:extLst>
          </p:cNvPr>
          <p:cNvSpPr>
            <a:spLocks xmlns:a="http://schemas.openxmlformats.org/drawingml/2006/main" noGrp="1"/>
          </p:cNvSpPr>
          <p:nvPr/>
        </p:nvSpPr>
        <p:spPr>
          <a:xfrm xmlns:a="http://schemas.openxmlformats.org/drawingml/2006/main">
            <a:off x="4810125" y="3448050"/>
            <a:ext cx="25717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proposal</a:t>
            </a:r>
          </a:p>
        </p:txBody>
      </p:sp>
      <p:sp>
        <p:nvSpPr>
          <p:cNvPr id="7" name="n8n workflow">
            <a:extLst xmlns:a="http://schemas.openxmlformats.org/drawingml/2006/main">
              <a:ext uri="{FF2B5EF4-FFF2-40B4-BE49-F238E27FC236}">
                <a16:creationId xmlns:a16="http://schemas.microsoft.com/office/drawing/2014/main" id="{02390797-B08F-42E5-962B-DFFBABA2C5ED}"/>
              </a:ext>
            </a:extLst>
          </p:cNvPr>
          <p:cNvSpPr>
            <a:spLocks xmlns:a="http://schemas.openxmlformats.org/drawingml/2006/main" noGrp="1"/>
          </p:cNvSpPr>
          <p:nvPr/>
        </p:nvSpPr>
        <p:spPr>
          <a:xfrm xmlns:a="http://schemas.openxmlformats.org/drawingml/2006/main">
            <a:off x="8439150" y="34480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n8n workflow</a:t>
            </a:r>
          </a:p>
        </p:txBody>
      </p:sp>
      <p:cxnSp>
        <p:nvCxnSpPr>
          <p:cNvPr id="8" name="">
            <a:extLst xmlns:a="http://schemas.openxmlformats.org/drawingml/2006/main">
              <a:ext uri="{FF2B5EF4-FFF2-40B4-BE49-F238E27FC236}">
                <a16:creationId xmlns:a16="http://schemas.microsoft.com/office/drawing/2014/main" id="{868754E8-B86B-4633-86E3-9DA5241D3112}"/>
              </a:ext>
            </a:extLst>
          </p:cNvPr>
          <p:cNvCxnSpPr/>
          <p:nvPr/>
        </p:nvCxnSpPr>
        <p:spPr>
          <a:xfrm xmlns:a="http://schemas.openxmlformats.org/drawingml/2006/main" flipH="0" flipV="0">
            <a:off x="3752850" y="3357563"/>
            <a:ext cx="528638"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9" name="">
            <a:extLst xmlns:a="http://schemas.openxmlformats.org/drawingml/2006/main">
              <a:ext uri="{FF2B5EF4-FFF2-40B4-BE49-F238E27FC236}">
                <a16:creationId xmlns:a16="http://schemas.microsoft.com/office/drawing/2014/main" id="{26BE0379-2006-4F9D-965A-C2A26AA73D23}"/>
              </a:ext>
            </a:extLst>
          </p:cNvPr>
          <p:cNvCxnSpPr/>
          <p:nvPr/>
        </p:nvCxnSpPr>
        <p:spPr>
          <a:xfrm xmlns:a="http://schemas.openxmlformats.org/drawingml/2006/main" flipH="0" flipV="0">
            <a:off x="4281488" y="3357563"/>
            <a:ext cx="0" cy="59055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0" name="">
            <a:extLst xmlns:a="http://schemas.openxmlformats.org/drawingml/2006/main">
              <a:ext uri="{FF2B5EF4-FFF2-40B4-BE49-F238E27FC236}">
                <a16:creationId xmlns:a16="http://schemas.microsoft.com/office/drawing/2014/main" id="{88ECF8E3-F173-4BC2-9D7C-9222F4BCAE09}"/>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79FB6B78-60BC-46EC-B8EA-B11CBBDF6E86}"/>
              </a:ext>
            </a:extLst>
          </p:cNvPr>
          <p:cNvCxnSpPr/>
          <p:nvPr/>
        </p:nvCxnSpPr>
        <p:spPr>
          <a:xfrm xmlns:a="http://schemas.openxmlformats.org/drawingml/2006/main" flipH="0" flipV="0">
            <a:off x="7381875" y="3948113"/>
            <a:ext cx="10572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2" name="Demo 2&#10;Browser + Codex">
            <a:extLst xmlns:a="http://schemas.openxmlformats.org/drawingml/2006/main">
              <a:ext uri="{FF2B5EF4-FFF2-40B4-BE49-F238E27FC236}">
                <a16:creationId xmlns:a16="http://schemas.microsoft.com/office/drawing/2014/main" id="{5743FC09-7FB4-45F9-830D-6B7CBC247A7B}"/>
              </a:ext>
            </a:extLst>
          </p:cNvPr>
          <p:cNvSpPr>
            <a:spLocks xmlns:a="http://schemas.openxmlformats.org/drawingml/2006/main" noGrp="1"/>
          </p:cNvSpPr>
          <p:nvPr/>
        </p:nvSpPr>
        <p:spPr>
          <a:xfrm xmlns:a="http://schemas.openxmlformats.org/drawingml/2006/main">
            <a:off x="609600" y="45148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2</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Browser + Codex</a:t>
            </a:r>
          </a:p>
        </p:txBody>
      </p:sp>
      <p:cxnSp>
        <p:nvCxnSpPr>
          <p:cNvPr id="13" name="">
            <a:extLst xmlns:a="http://schemas.openxmlformats.org/drawingml/2006/main">
              <a:ext uri="{FF2B5EF4-FFF2-40B4-BE49-F238E27FC236}">
                <a16:creationId xmlns:a16="http://schemas.microsoft.com/office/drawing/2014/main" id="{A2BEF2D5-A9BC-4047-ADC1-34159092744A}"/>
              </a:ext>
            </a:extLst>
          </p:cNvPr>
          <p:cNvCxnSpPr/>
          <p:nvPr/>
        </p:nvCxnSpPr>
        <p:spPr>
          <a:xfrm xmlns:a="http://schemas.openxmlformats.org/drawingml/2006/main" flipH="0" flipV="0">
            <a:off x="3752850" y="5014913"/>
            <a:ext cx="528638"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4" name="">
            <a:extLst xmlns:a="http://schemas.openxmlformats.org/drawingml/2006/main">
              <a:ext uri="{FF2B5EF4-FFF2-40B4-BE49-F238E27FC236}">
                <a16:creationId xmlns:a16="http://schemas.microsoft.com/office/drawing/2014/main" id="{39D2A32D-AD76-45F3-B60E-287F8CC9580A}"/>
              </a:ext>
            </a:extLst>
          </p:cNvPr>
          <p:cNvCxnSpPr/>
          <p:nvPr/>
        </p:nvCxnSpPr>
        <p:spPr>
          <a:xfrm xmlns:a="http://schemas.openxmlformats.org/drawingml/2006/main" flipH="0" flipV="1">
            <a:off x="4281488" y="3948113"/>
            <a:ext cx="0" cy="106680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5" name="">
            <a:extLst xmlns:a="http://schemas.openxmlformats.org/drawingml/2006/main">
              <a:ext uri="{FF2B5EF4-FFF2-40B4-BE49-F238E27FC236}">
                <a16:creationId xmlns:a16="http://schemas.microsoft.com/office/drawing/2014/main" id="{B70BD869-9AE8-4F62-8B78-C3A76AFAC9DA}"/>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6" name="Proposal fields">
            <a:extLst xmlns:a="http://schemas.openxmlformats.org/drawingml/2006/main">
              <a:ext uri="{FF2B5EF4-FFF2-40B4-BE49-F238E27FC236}">
                <a16:creationId xmlns:a16="http://schemas.microsoft.com/office/drawing/2014/main" id="{457049B4-D273-4EA6-8D6B-546E41BB3F9F}"/>
              </a:ext>
            </a:extLst>
          </p:cNvPr>
          <p:cNvSpPr>
            <a:spLocks xmlns:a="http://schemas.openxmlformats.org/drawingml/2006/main" noGrp="1"/>
          </p:cNvSpPr>
          <p:nvPr/>
        </p:nvSpPr>
        <p:spPr>
          <a:xfrm xmlns:a="http://schemas.openxmlformats.org/drawingml/2006/main">
            <a:off x="4810125" y="48387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Proposal fields</a:t>
            </a:r>
          </a:p>
        </p:txBody>
      </p:sp>
      <p:sp>
        <p:nvSpPr>
          <p:cNvPr id="17" name="Request, candidate, source, observation time,&#10;validation outcome,">
            <a:extLst xmlns:a="http://schemas.openxmlformats.org/drawingml/2006/main">
              <a:ext uri="{FF2B5EF4-FFF2-40B4-BE49-F238E27FC236}">
                <a16:creationId xmlns:a16="http://schemas.microsoft.com/office/drawing/2014/main" id="{7F27ACEE-A930-4EAB-B7E1-E3C92A40B223}"/>
              </a:ext>
            </a:extLst>
          </p:cNvPr>
          <p:cNvSpPr>
            <a:spLocks xmlns:a="http://schemas.openxmlformats.org/drawingml/2006/main" noGrp="1"/>
          </p:cNvSpPr>
          <p:nvPr/>
        </p:nvSpPr>
        <p:spPr>
          <a:xfrm xmlns:a="http://schemas.openxmlformats.org/drawingml/2006/main">
            <a:off x="4810125" y="5286375"/>
            <a:ext cx="647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Request, candidate, source, observation time,</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validation outcome, and unverified fields</a:t>
            </a:r>
          </a:p>
        </p:txBody>
      </p:sp>
      <p:sp>
        <p:nvSpPr>
          <p:cNvPr id="18" name="Conceptual interface. The recorded live graph uses the browser + ">
            <a:extLst xmlns:a="http://schemas.openxmlformats.org/drawingml/2006/main">
              <a:ext uri="{FF2B5EF4-FFF2-40B4-BE49-F238E27FC236}">
                <a16:creationId xmlns:a16="http://schemas.microsoft.com/office/drawing/2014/main" id="{E2F91984-5196-4CBE-B86A-B29DED0C243A}"/>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Conceptual interface. The recorded live graph uses the browser + Codex lane.</a:t>
            </a:r>
          </a:p>
        </p:txBody>
      </p:sp>
    </p:spTree>
    <p:extLst>
      <p:ext uri="{BB962C8B-B14F-4D97-AF65-F5344CB8AC3E}">
        <p14:creationId xmlns:p14="http://schemas.microsoft.com/office/powerpoint/2010/main" val="1607371632"/>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1" name="WORKFLOW BASICS">
            <a:extLst xmlns:a="http://schemas.openxmlformats.org/drawingml/2006/main">
              <a:ext uri="{FF2B5EF4-FFF2-40B4-BE49-F238E27FC236}">
                <a16:creationId xmlns:a16="http://schemas.microsoft.com/office/drawing/2014/main" id="{585778E9-86A3-42AC-A17C-6001148293B7}"/>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WORKFLOW BASICS</a:t>
            </a:r>
          </a:p>
        </p:txBody>
      </p:sp>
      <p:sp>
        <p:nvSpPr>
          <p:cNvPr id="2" name="10">
            <a:extLst xmlns:a="http://schemas.openxmlformats.org/drawingml/2006/main">
              <a:ext uri="{FF2B5EF4-FFF2-40B4-BE49-F238E27FC236}">
                <a16:creationId xmlns:a16="http://schemas.microsoft.com/office/drawing/2014/main" id="{A7F723FE-63C6-4275-844F-DD8872D4DF99}"/>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10</a:t>
            </a:r>
          </a:p>
        </p:txBody>
      </p:sp>
      <p:sp>
        <p:nvSpPr>
          <p:cNvPr id="3" name="n8n: work, wait, and route">
            <a:extLst xmlns:a="http://schemas.openxmlformats.org/drawingml/2006/main">
              <a:ext uri="{FF2B5EF4-FFF2-40B4-BE49-F238E27FC236}">
                <a16:creationId xmlns:a16="http://schemas.microsoft.com/office/drawing/2014/main" id="{44B8F35F-803B-4D24-B979-5D5265A0204E}"/>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n8n: work, wait, and route</a:t>
            </a:r>
          </a:p>
        </p:txBody>
      </p:sp>
      <p:sp>
        <p:nvSpPr>
          <p:cNvPr id="4" name="Nodes perform work. Connections route data. Execution state makes">
            <a:extLst xmlns:a="http://schemas.openxmlformats.org/drawingml/2006/main">
              <a:ext uri="{FF2B5EF4-FFF2-40B4-BE49-F238E27FC236}">
                <a16:creationId xmlns:a16="http://schemas.microsoft.com/office/drawing/2014/main" id="{85281659-E8F9-4701-BAB5-ED7AA8F9349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Nodes perform work. Connections route data. Execution state makes the pause inspectable.</a:t>
            </a:r>
          </a:p>
        </p:txBody>
      </p:sp>
      <p:sp>
        <p:nvSpPr>
          <p:cNvPr id="5" name="Form Trigger">
            <a:extLst xmlns:a="http://schemas.openxmlformats.org/drawingml/2006/main">
              <a:ext uri="{FF2B5EF4-FFF2-40B4-BE49-F238E27FC236}">
                <a16:creationId xmlns:a16="http://schemas.microsoft.com/office/drawing/2014/main" id="{E208078C-F7E1-45F1-8B7D-C8A8091D3C09}"/>
              </a:ext>
            </a:extLst>
          </p:cNvPr>
          <p:cNvSpPr>
            <a:spLocks xmlns:a="http://schemas.openxmlformats.org/drawingml/2006/main" noGrp="1"/>
          </p:cNvSpPr>
          <p:nvPr/>
        </p:nvSpPr>
        <p:spPr>
          <a:xfrm xmlns:a="http://schemas.openxmlformats.org/drawingml/2006/main">
            <a:off x="60960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Form Trigger</a:t>
            </a:r>
          </a:p>
        </p:txBody>
      </p:sp>
      <p:sp>
        <p:nvSpPr>
          <p:cNvPr id="6" name="Edit Fields">
            <a:extLst xmlns:a="http://schemas.openxmlformats.org/drawingml/2006/main">
              <a:ext uri="{FF2B5EF4-FFF2-40B4-BE49-F238E27FC236}">
                <a16:creationId xmlns:a16="http://schemas.microsoft.com/office/drawing/2014/main" id="{1A4AE9F2-208A-4C2B-BAC9-4B07B963B715}"/>
              </a:ext>
            </a:extLst>
          </p:cNvPr>
          <p:cNvSpPr>
            <a:spLocks xmlns:a="http://schemas.openxmlformats.org/drawingml/2006/main" noGrp="1"/>
          </p:cNvSpPr>
          <p:nvPr/>
        </p:nvSpPr>
        <p:spPr>
          <a:xfrm xmlns:a="http://schemas.openxmlformats.org/drawingml/2006/main">
            <a:off x="3476625"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Edit Fields</a:t>
            </a:r>
          </a:p>
        </p:txBody>
      </p:sp>
      <p:sp>
        <p:nvSpPr>
          <p:cNvPr id="7" name="Decision Form">
            <a:extLst xmlns:a="http://schemas.openxmlformats.org/drawingml/2006/main">
              <a:ext uri="{FF2B5EF4-FFF2-40B4-BE49-F238E27FC236}">
                <a16:creationId xmlns:a16="http://schemas.microsoft.com/office/drawing/2014/main" id="{1ACEC74A-AACD-44F0-A1A0-08FADCF8B48C}"/>
              </a:ext>
            </a:extLst>
          </p:cNvPr>
          <p:cNvSpPr>
            <a:spLocks xmlns:a="http://schemas.openxmlformats.org/drawingml/2006/main" noGrp="1"/>
          </p:cNvSpPr>
          <p:nvPr/>
        </p:nvSpPr>
        <p:spPr>
          <a:xfrm xmlns:a="http://schemas.openxmlformats.org/drawingml/2006/main">
            <a:off x="634365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Decision Form</a:t>
            </a:r>
          </a:p>
        </p:txBody>
      </p:sp>
      <p:sp>
        <p:nvSpPr>
          <p:cNvPr id="8" name="Switch">
            <a:extLst xmlns:a="http://schemas.openxmlformats.org/drawingml/2006/main">
              <a:ext uri="{FF2B5EF4-FFF2-40B4-BE49-F238E27FC236}">
                <a16:creationId xmlns:a16="http://schemas.microsoft.com/office/drawing/2014/main" id="{70CE52EE-AE2E-4F3D-A29E-A09E60B40DA7}"/>
              </a:ext>
            </a:extLst>
          </p:cNvPr>
          <p:cNvSpPr>
            <a:spLocks xmlns:a="http://schemas.openxmlformats.org/drawingml/2006/main" noGrp="1"/>
          </p:cNvSpPr>
          <p:nvPr/>
        </p:nvSpPr>
        <p:spPr>
          <a:xfrm xmlns:a="http://schemas.openxmlformats.org/drawingml/2006/main">
            <a:off x="9210675" y="2952750"/>
            <a:ext cx="23717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Switch</a:t>
            </a:r>
          </a:p>
        </p:txBody>
      </p:sp>
      <p:cxnSp>
        <p:nvCxnSpPr>
          <p:cNvPr id="9" name="">
            <a:extLst xmlns:a="http://schemas.openxmlformats.org/drawingml/2006/main">
              <a:ext uri="{FF2B5EF4-FFF2-40B4-BE49-F238E27FC236}">
                <a16:creationId xmlns:a16="http://schemas.microsoft.com/office/drawing/2014/main" id="{464E75AD-A01D-49DF-9D9F-E2A314E0795E}"/>
              </a:ext>
            </a:extLst>
          </p:cNvPr>
          <p:cNvCxnSpPr/>
          <p:nvPr/>
        </p:nvCxnSpPr>
        <p:spPr>
          <a:xfrm xmlns:a="http://schemas.openxmlformats.org/drawingml/2006/main" flipH="0" flipV="0">
            <a:off x="284797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0" name="">
            <a:extLst xmlns:a="http://schemas.openxmlformats.org/drawingml/2006/main">
              <a:ext uri="{FF2B5EF4-FFF2-40B4-BE49-F238E27FC236}">
                <a16:creationId xmlns:a16="http://schemas.microsoft.com/office/drawing/2014/main" id="{C09F9B20-874C-4D43-90AB-C4E2934759C2}"/>
              </a:ext>
            </a:extLst>
          </p:cNvPr>
          <p:cNvCxnSpPr/>
          <p:nvPr/>
        </p:nvCxnSpPr>
        <p:spPr>
          <a:xfrm xmlns:a="http://schemas.openxmlformats.org/drawingml/2006/main" flipH="0" flipV="0">
            <a:off x="5715000"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1DFBC6C5-5566-4BAC-B8AB-71DBA528D679}"/>
              </a:ext>
            </a:extLst>
          </p:cNvPr>
          <p:cNvCxnSpPr/>
          <p:nvPr/>
        </p:nvCxnSpPr>
        <p:spPr>
          <a:xfrm xmlns:a="http://schemas.openxmlformats.org/drawingml/2006/main" flipH="0" flipV="0">
            <a:off x="8582025" y="3371850"/>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2" name="Approved">
            <a:extLst xmlns:a="http://schemas.openxmlformats.org/drawingml/2006/main">
              <a:ext uri="{FF2B5EF4-FFF2-40B4-BE49-F238E27FC236}">
                <a16:creationId xmlns:a16="http://schemas.microsoft.com/office/drawing/2014/main" id="{8A377EAD-04B5-4227-BA7C-D794C6944A60}"/>
              </a:ext>
            </a:extLst>
          </p:cNvPr>
          <p:cNvSpPr>
            <a:spLocks xmlns:a="http://schemas.openxmlformats.org/drawingml/2006/main" noGrp="1"/>
          </p:cNvSpPr>
          <p:nvPr/>
        </p:nvSpPr>
        <p:spPr>
          <a:xfrm xmlns:a="http://schemas.openxmlformats.org/drawingml/2006/main">
            <a:off x="6343650" y="4762500"/>
            <a:ext cx="223837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Approved</a:t>
            </a:r>
          </a:p>
        </p:txBody>
      </p:sp>
      <p:sp>
        <p:nvSpPr>
          <p:cNvPr id="13" name="Cancelled">
            <a:extLst xmlns:a="http://schemas.openxmlformats.org/drawingml/2006/main">
              <a:ext uri="{FF2B5EF4-FFF2-40B4-BE49-F238E27FC236}">
                <a16:creationId xmlns:a16="http://schemas.microsoft.com/office/drawing/2014/main" id="{8E72269E-E55C-43BF-9474-89EA5A671102}"/>
              </a:ext>
            </a:extLst>
          </p:cNvPr>
          <p:cNvSpPr>
            <a:spLocks xmlns:a="http://schemas.openxmlformats.org/drawingml/2006/main" noGrp="1"/>
          </p:cNvSpPr>
          <p:nvPr/>
        </p:nvSpPr>
        <p:spPr>
          <a:xfrm xmlns:a="http://schemas.openxmlformats.org/drawingml/2006/main">
            <a:off x="9210675" y="4762500"/>
            <a:ext cx="23717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Cancelled</a:t>
            </a:r>
          </a:p>
        </p:txBody>
      </p:sp>
      <p:cxnSp>
        <p:nvCxnSpPr>
          <p:cNvPr id="14" name="">
            <a:extLst xmlns:a="http://schemas.openxmlformats.org/drawingml/2006/main">
              <a:ext uri="{FF2B5EF4-FFF2-40B4-BE49-F238E27FC236}">
                <a16:creationId xmlns:a16="http://schemas.microsoft.com/office/drawing/2014/main" id="{6990303F-FDA8-413E-B7B7-618A10A20DC6}"/>
              </a:ext>
            </a:extLst>
          </p:cNvPr>
          <p:cNvCxnSpPr/>
          <p:nvPr/>
        </p:nvCxnSpPr>
        <p:spPr>
          <a:xfrm xmlns:a="http://schemas.openxmlformats.org/drawingml/2006/main" flipH="0" flipV="0">
            <a:off x="10396538" y="3790950"/>
            <a:ext cx="0" cy="485775"/>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5" name="">
            <a:extLst xmlns:a="http://schemas.openxmlformats.org/drawingml/2006/main">
              <a:ext uri="{FF2B5EF4-FFF2-40B4-BE49-F238E27FC236}">
                <a16:creationId xmlns:a16="http://schemas.microsoft.com/office/drawing/2014/main" id="{724D450E-CACD-4846-BC19-CACD10405AA7}"/>
              </a:ext>
            </a:extLst>
          </p:cNvPr>
          <p:cNvCxnSpPr/>
          <p:nvPr/>
        </p:nvCxnSpPr>
        <p:spPr>
          <a:xfrm xmlns:a="http://schemas.openxmlformats.org/drawingml/2006/main" flipH="1" flipV="0">
            <a:off x="7462838" y="4276725"/>
            <a:ext cx="2933700" cy="0"/>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6" name="">
            <a:extLst xmlns:a="http://schemas.openxmlformats.org/drawingml/2006/main">
              <a:ext uri="{FF2B5EF4-FFF2-40B4-BE49-F238E27FC236}">
                <a16:creationId xmlns:a16="http://schemas.microsoft.com/office/drawing/2014/main" id="{906ED261-1374-4815-B578-9AAAD28639FA}"/>
              </a:ext>
            </a:extLst>
          </p:cNvPr>
          <p:cNvCxnSpPr/>
          <p:nvPr/>
        </p:nvCxnSpPr>
        <p:spPr>
          <a:xfrm xmlns:a="http://schemas.openxmlformats.org/drawingml/2006/main" flipH="0" flipV="0">
            <a:off x="7462838" y="4276725"/>
            <a:ext cx="0" cy="485775"/>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17" name="">
            <a:extLst xmlns:a="http://schemas.openxmlformats.org/drawingml/2006/main">
              <a:ext uri="{FF2B5EF4-FFF2-40B4-BE49-F238E27FC236}">
                <a16:creationId xmlns:a16="http://schemas.microsoft.com/office/drawing/2014/main" id="{AC9CB322-423A-4603-86E6-AA5FDF008306}"/>
              </a:ext>
            </a:extLst>
          </p:cNvPr>
          <p:cNvCxnSpPr/>
          <p:nvPr/>
        </p:nvCxnSpPr>
        <p:spPr>
          <a:xfrm xmlns:a="http://schemas.openxmlformats.org/drawingml/2006/main" flipH="0" flipV="0">
            <a:off x="10396538" y="3790950"/>
            <a:ext cx="0" cy="97155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8" name="APPROVE">
            <a:extLst xmlns:a="http://schemas.openxmlformats.org/drawingml/2006/main">
              <a:ext uri="{FF2B5EF4-FFF2-40B4-BE49-F238E27FC236}">
                <a16:creationId xmlns:a16="http://schemas.microsoft.com/office/drawing/2014/main" id="{84C37A81-9A21-4812-AB16-148CE1569AAE}"/>
              </a:ext>
            </a:extLst>
          </p:cNvPr>
          <p:cNvSpPr>
            <a:spLocks xmlns:a="http://schemas.openxmlformats.org/drawingml/2006/main" noGrp="1"/>
          </p:cNvSpPr>
          <p:nvPr/>
        </p:nvSpPr>
        <p:spPr>
          <a:xfrm xmlns:a="http://schemas.openxmlformats.org/drawingml/2006/main">
            <a:off x="6686550"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477814"/>
                </a:solidFill>
                <a:latin typeface="Arial"/>
                <a:ea typeface="Arial"/>
                <a:cs typeface="Arial"/>
              </a:defRPr>
            </a:defPPr>
            <a:lvl1pPr algn="l">
              <a:defRPr sz="1350" b="1">
                <a:solidFill>
                  <a:srgbClr val="477814"/>
                </a:solidFill>
                <a:latin typeface="Arial"/>
                <a:ea typeface="Arial"/>
                <a:cs typeface="Arial"/>
              </a:defRPr>
            </a:lvl1pPr>
            <a:lvl2pPr algn="l">
              <a:defRPr sz="1350" b="1">
                <a:solidFill>
                  <a:srgbClr val="477814"/>
                </a:solidFill>
                <a:latin typeface="Arial"/>
                <a:ea typeface="Arial"/>
                <a:cs typeface="Arial"/>
              </a:defRPr>
            </a:lvl2pPr>
            <a:lvl3pPr algn="l">
              <a:defRPr sz="1350" b="1">
                <a:solidFill>
                  <a:srgbClr val="477814"/>
                </a:solidFill>
                <a:latin typeface="Arial"/>
                <a:ea typeface="Arial"/>
                <a:cs typeface="Arial"/>
              </a:defRPr>
            </a:lvl3pPr>
            <a:lvl4pPr algn="l">
              <a:defRPr sz="1350" b="1">
                <a:solidFill>
                  <a:srgbClr val="477814"/>
                </a:solidFill>
                <a:latin typeface="Arial"/>
                <a:ea typeface="Arial"/>
                <a:cs typeface="Arial"/>
              </a:defRPr>
            </a:lvl4pPr>
            <a:lvl5pPr algn="l">
              <a:defRPr sz="1350" b="1">
                <a:solidFill>
                  <a:srgbClr val="477814"/>
                </a:solidFill>
                <a:latin typeface="Arial"/>
                <a:ea typeface="Arial"/>
                <a:cs typeface="Arial"/>
              </a:defRPr>
            </a:lvl5pPr>
            <a:lvl6pPr algn="l">
              <a:defRPr sz="1350" b="1">
                <a:solidFill>
                  <a:srgbClr val="477814"/>
                </a:solidFill>
                <a:latin typeface="Arial"/>
                <a:ea typeface="Arial"/>
                <a:cs typeface="Arial"/>
              </a:defRPr>
            </a:lvl6pPr>
            <a:lvl7pPr algn="l">
              <a:defRPr sz="1350" b="1">
                <a:solidFill>
                  <a:srgbClr val="477814"/>
                </a:solidFill>
                <a:latin typeface="Arial"/>
                <a:ea typeface="Arial"/>
                <a:cs typeface="Arial"/>
              </a:defRPr>
            </a:lvl7pPr>
            <a:lvl8pPr algn="l">
              <a:defRPr sz="1350" b="1">
                <a:solidFill>
                  <a:srgbClr val="477814"/>
                </a:solidFill>
                <a:latin typeface="Arial"/>
                <a:ea typeface="Arial"/>
                <a:cs typeface="Arial"/>
              </a:defRPr>
            </a:lvl8pPr>
            <a:lvl9pPr algn="l">
              <a:defRPr sz="1350" b="1">
                <a:solidFill>
                  <a:srgbClr val="477814"/>
                </a:solidFill>
                <a:latin typeface="Arial"/>
                <a:ea typeface="Arial"/>
                <a:cs typeface="Arial"/>
              </a:defRPr>
            </a:lvl9pPr>
          </a:lstStyle>
          <a:p xmlns:a="http://schemas.openxmlformats.org/drawingml/2006/main">
            <a:pPr algn="l">
              <a:defRPr sz="1350" b="1">
                <a:solidFill>
                  <a:srgbClr val="477814"/>
                </a:solidFill>
                <a:latin typeface="Arial"/>
                <a:ea typeface="Arial"/>
                <a:cs typeface="Arial"/>
              </a:defRPr>
            </a:pPr>
            <a:r>
              <a:rPr sz="1350" b="1">
                <a:solidFill>
                  <a:srgbClr val="477814"/>
                </a:solidFill>
                <a:latin typeface="Arial"/>
                <a:ea typeface="Arial"/>
                <a:cs typeface="Arial"/>
              </a:rPr>
              <a:t>APPROVE</a:t>
            </a:r>
          </a:p>
        </p:txBody>
      </p:sp>
      <p:sp>
        <p:nvSpPr>
          <p:cNvPr id="19" name="CANCEL">
            <a:extLst xmlns:a="http://schemas.openxmlformats.org/drawingml/2006/main">
              <a:ext uri="{FF2B5EF4-FFF2-40B4-BE49-F238E27FC236}">
                <a16:creationId xmlns:a16="http://schemas.microsoft.com/office/drawing/2014/main" id="{B54E61CD-F8FB-4EFC-BCB5-003056739A1B}"/>
              </a:ext>
            </a:extLst>
          </p:cNvPr>
          <p:cNvSpPr>
            <a:spLocks xmlns:a="http://schemas.openxmlformats.org/drawingml/2006/main" noGrp="1"/>
          </p:cNvSpPr>
          <p:nvPr/>
        </p:nvSpPr>
        <p:spPr>
          <a:xfrm xmlns:a="http://schemas.openxmlformats.org/drawingml/2006/main">
            <a:off x="9686925"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A3333"/>
                </a:solidFill>
                <a:latin typeface="Arial"/>
                <a:ea typeface="Arial"/>
                <a:cs typeface="Arial"/>
              </a:defRPr>
            </a:defPPr>
            <a:lvl1pPr algn="l">
              <a:defRPr sz="1350" b="1">
                <a:solidFill>
                  <a:srgbClr val="BA3333"/>
                </a:solidFill>
                <a:latin typeface="Arial"/>
                <a:ea typeface="Arial"/>
                <a:cs typeface="Arial"/>
              </a:defRPr>
            </a:lvl1pPr>
            <a:lvl2pPr algn="l">
              <a:defRPr sz="1350" b="1">
                <a:solidFill>
                  <a:srgbClr val="BA3333"/>
                </a:solidFill>
                <a:latin typeface="Arial"/>
                <a:ea typeface="Arial"/>
                <a:cs typeface="Arial"/>
              </a:defRPr>
            </a:lvl2pPr>
            <a:lvl3pPr algn="l">
              <a:defRPr sz="1350" b="1">
                <a:solidFill>
                  <a:srgbClr val="BA3333"/>
                </a:solidFill>
                <a:latin typeface="Arial"/>
                <a:ea typeface="Arial"/>
                <a:cs typeface="Arial"/>
              </a:defRPr>
            </a:lvl3pPr>
            <a:lvl4pPr algn="l">
              <a:defRPr sz="1350" b="1">
                <a:solidFill>
                  <a:srgbClr val="BA3333"/>
                </a:solidFill>
                <a:latin typeface="Arial"/>
                <a:ea typeface="Arial"/>
                <a:cs typeface="Arial"/>
              </a:defRPr>
            </a:lvl4pPr>
            <a:lvl5pPr algn="l">
              <a:defRPr sz="1350" b="1">
                <a:solidFill>
                  <a:srgbClr val="BA3333"/>
                </a:solidFill>
                <a:latin typeface="Arial"/>
                <a:ea typeface="Arial"/>
                <a:cs typeface="Arial"/>
              </a:defRPr>
            </a:lvl5pPr>
            <a:lvl6pPr algn="l">
              <a:defRPr sz="1350" b="1">
                <a:solidFill>
                  <a:srgbClr val="BA3333"/>
                </a:solidFill>
                <a:latin typeface="Arial"/>
                <a:ea typeface="Arial"/>
                <a:cs typeface="Arial"/>
              </a:defRPr>
            </a:lvl6pPr>
            <a:lvl7pPr algn="l">
              <a:defRPr sz="1350" b="1">
                <a:solidFill>
                  <a:srgbClr val="BA3333"/>
                </a:solidFill>
                <a:latin typeface="Arial"/>
                <a:ea typeface="Arial"/>
                <a:cs typeface="Arial"/>
              </a:defRPr>
            </a:lvl7pPr>
            <a:lvl8pPr algn="l">
              <a:defRPr sz="1350" b="1">
                <a:solidFill>
                  <a:srgbClr val="BA3333"/>
                </a:solidFill>
                <a:latin typeface="Arial"/>
                <a:ea typeface="Arial"/>
                <a:cs typeface="Arial"/>
              </a:defRPr>
            </a:lvl8pPr>
            <a:lvl9pPr algn="l">
              <a:defRPr sz="1350" b="1">
                <a:solidFill>
                  <a:srgbClr val="BA3333"/>
                </a:solidFill>
                <a:latin typeface="Arial"/>
                <a:ea typeface="Arial"/>
                <a:cs typeface="Arial"/>
              </a:defRPr>
            </a:lvl9pPr>
          </a:lstStyle>
          <a:p xmlns:a="http://schemas.openxmlformats.org/drawingml/2006/main">
            <a:pPr algn="l">
              <a:defRPr sz="1350" b="1">
                <a:solidFill>
                  <a:srgbClr val="BA3333"/>
                </a:solidFill>
                <a:latin typeface="Arial"/>
                <a:ea typeface="Arial"/>
                <a:cs typeface="Arial"/>
              </a:defRPr>
            </a:pPr>
            <a:r>
              <a:rPr sz="1350" b="1">
                <a:solidFill>
                  <a:srgbClr val="BA3333"/>
                </a:solidFill>
                <a:latin typeface="Arial"/>
                <a:ea typeface="Arial"/>
                <a:cs typeface="Arial"/>
              </a:rPr>
              <a:t>CANCEL</a:t>
            </a:r>
          </a:p>
        </p:txBody>
      </p:sp>
      <p:sp>
        <p:nvSpPr>
          <p:cNvPr id="20" name="Six nodes including terminal outputs. Forms, branches, and execut">
            <a:extLst xmlns:a="http://schemas.openxmlformats.org/drawingml/2006/main">
              <a:ext uri="{FF2B5EF4-FFF2-40B4-BE49-F238E27FC236}">
                <a16:creationId xmlns:a16="http://schemas.microsoft.com/office/drawing/2014/main" id="{AE4BB3DE-A115-48FE-9819-8EDA8F996EE1}"/>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Six nodes including terminal outputs. Forms, branches, and execution data are visible.</a:t>
            </a:r>
          </a:p>
        </p:txBody>
      </p:sp>
    </p:spTree>
    <p:extLst>
      <p:ext uri="{BB962C8B-B14F-4D97-AF65-F5344CB8AC3E}">
        <p14:creationId xmlns:p14="http://schemas.microsoft.com/office/powerpoint/2010/main" val="1745211481"/>
      </p:ext>
    </p:extLst>
  </p:cSld>
</p:sld>
</file>

<file path=ppt/slides/slide11.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30" name="DEMO 2 ARCHITECTURE">
            <a:extLst xmlns:a="http://schemas.openxmlformats.org/drawingml/2006/main">
              <a:ext uri="{FF2B5EF4-FFF2-40B4-BE49-F238E27FC236}">
                <a16:creationId xmlns:a16="http://schemas.microsoft.com/office/drawing/2014/main" id="{2DEAC837-6F47-42AD-BC06-91C39E883675}"/>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2 ARCHITECTURE</a:t>
            </a:r>
          </a:p>
        </p:txBody>
      </p:sp>
      <p:sp>
        <p:nvSpPr>
          <p:cNvPr id="2" name="11">
            <a:extLst xmlns:a="http://schemas.openxmlformats.org/drawingml/2006/main">
              <a:ext uri="{FF2B5EF4-FFF2-40B4-BE49-F238E27FC236}">
                <a16:creationId xmlns:a16="http://schemas.microsoft.com/office/drawing/2014/main" id="{AAB5E2B3-0D72-44E6-B9D0-6A1108306639}"/>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11</a:t>
            </a:r>
          </a:p>
        </p:txBody>
      </p:sp>
      <p:sp>
        <p:nvSpPr>
          <p:cNvPr id="3" name="The recorded n8n workflow">
            <a:extLst xmlns:a="http://schemas.openxmlformats.org/drawingml/2006/main">
              <a:ext uri="{FF2B5EF4-FFF2-40B4-BE49-F238E27FC236}">
                <a16:creationId xmlns:a16="http://schemas.microsoft.com/office/drawing/2014/main" id="{2C709699-8FFF-4E1F-8F7D-A516130B08F3}"/>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recorded n8n workflow</a:t>
            </a:r>
          </a:p>
        </p:txBody>
      </p:sp>
      <p:sp>
        <p:nvSpPr>
          <p:cNvPr id="4" name="Eleven nodes. One approved path reaches the simulated action.">
            <a:extLst xmlns:a="http://schemas.openxmlformats.org/drawingml/2006/main">
              <a:ext uri="{FF2B5EF4-FFF2-40B4-BE49-F238E27FC236}">
                <a16:creationId xmlns:a16="http://schemas.microsoft.com/office/drawing/2014/main" id="{4909A464-4A5C-4CCC-9E35-388D99D27F37}"/>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Eleven nodes. One approved path reaches the simulated action.</a:t>
            </a:r>
          </a:p>
        </p:txBody>
      </p:sp>
      <p:sp>
        <p:nvSpPr>
          <p:cNvPr id="5" name="Request">
            <a:extLst xmlns:a="http://schemas.openxmlformats.org/drawingml/2006/main">
              <a:ext uri="{FF2B5EF4-FFF2-40B4-BE49-F238E27FC236}">
                <a16:creationId xmlns:a16="http://schemas.microsoft.com/office/drawing/2014/main" id="{185C20C1-0811-47EB-94F7-E7640C3328FE}"/>
              </a:ext>
            </a:extLst>
          </p:cNvPr>
          <p:cNvSpPr>
            <a:spLocks xmlns:a="http://schemas.openxmlformats.org/drawingml/2006/main" noGrp="1"/>
          </p:cNvSpPr>
          <p:nvPr/>
        </p:nvSpPr>
        <p:spPr>
          <a:xfrm xmlns:a="http://schemas.openxmlformats.org/drawingml/2006/main">
            <a:off x="6096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Request</a:t>
            </a:r>
          </a:p>
        </p:txBody>
      </p:sp>
      <p:sp>
        <p:nvSpPr>
          <p:cNvPr id="6" name="Browser&#10;Search">
            <a:extLst xmlns:a="http://schemas.openxmlformats.org/drawingml/2006/main">
              <a:ext uri="{FF2B5EF4-FFF2-40B4-BE49-F238E27FC236}">
                <a16:creationId xmlns:a16="http://schemas.microsoft.com/office/drawing/2014/main" id="{77FD338E-A0C4-4BC1-B559-7F15C0E641F4}"/>
              </a:ext>
            </a:extLst>
          </p:cNvPr>
          <p:cNvSpPr>
            <a:spLocks xmlns:a="http://schemas.openxmlformats.org/drawingml/2006/main" noGrp="1"/>
          </p:cNvSpPr>
          <p:nvPr/>
        </p:nvSpPr>
        <p:spPr>
          <a:xfrm xmlns:a="http://schemas.openxmlformats.org/drawingml/2006/main">
            <a:off x="28575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Browser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Search</a:t>
            </a:r>
          </a:p>
        </p:txBody>
      </p:sp>
      <p:cxnSp>
        <p:nvCxnSpPr>
          <p:cNvPr id="7" name="">
            <a:extLst xmlns:a="http://schemas.openxmlformats.org/drawingml/2006/main">
              <a:ext uri="{FF2B5EF4-FFF2-40B4-BE49-F238E27FC236}">
                <a16:creationId xmlns:a16="http://schemas.microsoft.com/office/drawing/2014/main" id="{97E335CC-B5EF-4927-8A57-2FDF310632BC}"/>
              </a:ext>
            </a:extLst>
          </p:cNvPr>
          <p:cNvCxnSpPr/>
          <p:nvPr/>
        </p:nvCxnSpPr>
        <p:spPr>
          <a:xfrm xmlns:a="http://schemas.openxmlformats.org/drawingml/2006/main" flipH="0" flipV="0">
            <a:off x="25908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8" name="Codex&#10;Rank">
            <a:extLst xmlns:a="http://schemas.openxmlformats.org/drawingml/2006/main">
              <a:ext uri="{FF2B5EF4-FFF2-40B4-BE49-F238E27FC236}">
                <a16:creationId xmlns:a16="http://schemas.microsoft.com/office/drawing/2014/main" id="{87114805-AF57-4F3E-881C-152533726E10}"/>
              </a:ext>
            </a:extLst>
          </p:cNvPr>
          <p:cNvSpPr>
            <a:spLocks xmlns:a="http://schemas.openxmlformats.org/drawingml/2006/main" noGrp="1"/>
          </p:cNvSpPr>
          <p:nvPr/>
        </p:nvSpPr>
        <p:spPr>
          <a:xfrm xmlns:a="http://schemas.openxmlformats.org/drawingml/2006/main">
            <a:off x="51054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Codex</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Rank</a:t>
            </a:r>
          </a:p>
        </p:txBody>
      </p:sp>
      <p:cxnSp>
        <p:nvCxnSpPr>
          <p:cNvPr id="9" name="">
            <a:extLst xmlns:a="http://schemas.openxmlformats.org/drawingml/2006/main">
              <a:ext uri="{FF2B5EF4-FFF2-40B4-BE49-F238E27FC236}">
                <a16:creationId xmlns:a16="http://schemas.microsoft.com/office/drawing/2014/main" id="{FFAFD93C-5909-4C37-ADF7-EF101BAA2178}"/>
              </a:ext>
            </a:extLst>
          </p:cNvPr>
          <p:cNvCxnSpPr/>
          <p:nvPr/>
        </p:nvCxnSpPr>
        <p:spPr>
          <a:xfrm xmlns:a="http://schemas.openxmlformats.org/drawingml/2006/main" flipH="0" flipV="0">
            <a:off x="48387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0" name="Validate&#10;Evidence">
            <a:extLst xmlns:a="http://schemas.openxmlformats.org/drawingml/2006/main">
              <a:ext uri="{FF2B5EF4-FFF2-40B4-BE49-F238E27FC236}">
                <a16:creationId xmlns:a16="http://schemas.microsoft.com/office/drawing/2014/main" id="{B95EC56D-8CE8-4B19-9A26-B8E5B268110D}"/>
              </a:ext>
            </a:extLst>
          </p:cNvPr>
          <p:cNvSpPr>
            <a:spLocks xmlns:a="http://schemas.openxmlformats.org/drawingml/2006/main" noGrp="1"/>
          </p:cNvSpPr>
          <p:nvPr/>
        </p:nvSpPr>
        <p:spPr>
          <a:xfrm xmlns:a="http://schemas.openxmlformats.org/drawingml/2006/main">
            <a:off x="73533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Evidence</a:t>
            </a:r>
          </a:p>
        </p:txBody>
      </p:sp>
      <p:cxnSp>
        <p:nvCxnSpPr>
          <p:cNvPr id="11" name="">
            <a:extLst xmlns:a="http://schemas.openxmlformats.org/drawingml/2006/main">
              <a:ext uri="{FF2B5EF4-FFF2-40B4-BE49-F238E27FC236}">
                <a16:creationId xmlns:a16="http://schemas.microsoft.com/office/drawing/2014/main" id="{A857A38A-CDCD-4A06-8249-6658348CA522}"/>
              </a:ext>
            </a:extLst>
          </p:cNvPr>
          <p:cNvCxnSpPr/>
          <p:nvPr/>
        </p:nvCxnSpPr>
        <p:spPr>
          <a:xfrm xmlns:a="http://schemas.openxmlformats.org/drawingml/2006/main" flipH="0" flipV="0">
            <a:off x="70866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2" name="Route&#10;Result">
            <a:extLst xmlns:a="http://schemas.openxmlformats.org/drawingml/2006/main">
              <a:ext uri="{FF2B5EF4-FFF2-40B4-BE49-F238E27FC236}">
                <a16:creationId xmlns:a16="http://schemas.microsoft.com/office/drawing/2014/main" id="{2C0DAFFD-C4D9-4B72-8094-4331811DAAD3}"/>
              </a:ext>
            </a:extLst>
          </p:cNvPr>
          <p:cNvSpPr>
            <a:spLocks xmlns:a="http://schemas.openxmlformats.org/drawingml/2006/main" noGrp="1"/>
          </p:cNvSpPr>
          <p:nvPr/>
        </p:nvSpPr>
        <p:spPr>
          <a:xfrm xmlns:a="http://schemas.openxmlformats.org/drawingml/2006/main">
            <a:off x="96012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Result</a:t>
            </a:r>
          </a:p>
        </p:txBody>
      </p:sp>
      <p:cxnSp>
        <p:nvCxnSpPr>
          <p:cNvPr id="13" name="">
            <a:extLst xmlns:a="http://schemas.openxmlformats.org/drawingml/2006/main">
              <a:ext uri="{FF2B5EF4-FFF2-40B4-BE49-F238E27FC236}">
                <a16:creationId xmlns:a16="http://schemas.microsoft.com/office/drawing/2014/main" id="{399E49BC-C8F6-4E31-A322-ED1F116F6B38}"/>
              </a:ext>
            </a:extLst>
          </p:cNvPr>
          <p:cNvCxnSpPr/>
          <p:nvPr/>
        </p:nvCxnSpPr>
        <p:spPr>
          <a:xfrm xmlns:a="http://schemas.openxmlformats.org/drawingml/2006/main" flipH="0" flipV="0">
            <a:off x="93345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4" name="No Match">
            <a:extLst xmlns:a="http://schemas.openxmlformats.org/drawingml/2006/main">
              <a:ext uri="{FF2B5EF4-FFF2-40B4-BE49-F238E27FC236}">
                <a16:creationId xmlns:a16="http://schemas.microsoft.com/office/drawing/2014/main" id="{A1E3DEF9-A4DB-48FC-8F01-A9559A4612FF}"/>
              </a:ext>
            </a:extLst>
          </p:cNvPr>
          <p:cNvSpPr>
            <a:spLocks xmlns:a="http://schemas.openxmlformats.org/drawingml/2006/main" noGrp="1"/>
          </p:cNvSpPr>
          <p:nvPr/>
        </p:nvSpPr>
        <p:spPr>
          <a:xfrm xmlns:a="http://schemas.openxmlformats.org/drawingml/2006/main">
            <a:off x="9601200" y="409575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 Match</a:t>
            </a:r>
          </a:p>
        </p:txBody>
      </p:sp>
      <p:cxnSp>
        <p:nvCxnSpPr>
          <p:cNvPr id="15" name="">
            <a:extLst xmlns:a="http://schemas.openxmlformats.org/drawingml/2006/main">
              <a:ext uri="{FF2B5EF4-FFF2-40B4-BE49-F238E27FC236}">
                <a16:creationId xmlns:a16="http://schemas.microsoft.com/office/drawing/2014/main" id="{A40A9F1E-FB18-46A1-AB8F-F0E4D9C79E1D}"/>
              </a:ext>
            </a:extLst>
          </p:cNvPr>
          <p:cNvCxnSpPr/>
          <p:nvPr/>
        </p:nvCxnSpPr>
        <p:spPr>
          <a:xfrm xmlns:a="http://schemas.openxmlformats.org/drawingml/2006/main" flipH="0" flipV="0">
            <a:off x="10591800" y="3609975"/>
            <a:ext cx="0" cy="4857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6" name="Human&#10;Approval">
            <a:extLst xmlns:a="http://schemas.openxmlformats.org/drawingml/2006/main">
              <a:ext uri="{FF2B5EF4-FFF2-40B4-BE49-F238E27FC236}">
                <a16:creationId xmlns:a16="http://schemas.microsoft.com/office/drawing/2014/main" id="{DE6FCEC1-5F82-4669-BF64-E38E0A5F4C61}"/>
              </a:ext>
            </a:extLst>
          </p:cNvPr>
          <p:cNvSpPr>
            <a:spLocks xmlns:a="http://schemas.openxmlformats.org/drawingml/2006/main" noGrp="1"/>
          </p:cNvSpPr>
          <p:nvPr/>
        </p:nvSpPr>
        <p:spPr>
          <a:xfrm xmlns:a="http://schemas.openxmlformats.org/drawingml/2006/main">
            <a:off x="6096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Approval</a:t>
            </a:r>
          </a:p>
        </p:txBody>
      </p:sp>
      <p:sp>
        <p:nvSpPr>
          <p:cNvPr id="17" name="Route&#10;Decision">
            <a:extLst xmlns:a="http://schemas.openxmlformats.org/drawingml/2006/main">
              <a:ext uri="{FF2B5EF4-FFF2-40B4-BE49-F238E27FC236}">
                <a16:creationId xmlns:a16="http://schemas.microsoft.com/office/drawing/2014/main" id="{F591AF4B-DD95-4C8F-AA3D-9E5DD0C6296A}"/>
              </a:ext>
            </a:extLst>
          </p:cNvPr>
          <p:cNvSpPr>
            <a:spLocks xmlns:a="http://schemas.openxmlformats.org/drawingml/2006/main" noGrp="1"/>
          </p:cNvSpPr>
          <p:nvPr/>
        </p:nvSpPr>
        <p:spPr>
          <a:xfrm xmlns:a="http://schemas.openxmlformats.org/drawingml/2006/main">
            <a:off x="28575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Decision</a:t>
            </a:r>
          </a:p>
        </p:txBody>
      </p:sp>
      <p:sp>
        <p:nvSpPr>
          <p:cNvPr id="18" name="Simulated&#10;Action">
            <a:extLst xmlns:a="http://schemas.openxmlformats.org/drawingml/2006/main">
              <a:ext uri="{FF2B5EF4-FFF2-40B4-BE49-F238E27FC236}">
                <a16:creationId xmlns:a16="http://schemas.microsoft.com/office/drawing/2014/main" id="{06D9017D-53D0-4CE2-BE6B-F2463012EE41}"/>
              </a:ext>
            </a:extLst>
          </p:cNvPr>
          <p:cNvSpPr>
            <a:spLocks xmlns:a="http://schemas.openxmlformats.org/drawingml/2006/main" noGrp="1"/>
          </p:cNvSpPr>
          <p:nvPr/>
        </p:nvSpPr>
        <p:spPr>
          <a:xfrm xmlns:a="http://schemas.openxmlformats.org/drawingml/2006/main">
            <a:off x="51054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Simulated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Action</a:t>
            </a:r>
          </a:p>
        </p:txBody>
      </p:sp>
      <p:sp>
        <p:nvSpPr>
          <p:cNvPr id="19" name="Confirmation">
            <a:extLst xmlns:a="http://schemas.openxmlformats.org/drawingml/2006/main">
              <a:ext uri="{FF2B5EF4-FFF2-40B4-BE49-F238E27FC236}">
                <a16:creationId xmlns:a16="http://schemas.microsoft.com/office/drawing/2014/main" id="{5A8E330F-BC57-41EC-8A58-6970E69C0400}"/>
              </a:ext>
            </a:extLst>
          </p:cNvPr>
          <p:cNvSpPr>
            <a:spLocks xmlns:a="http://schemas.openxmlformats.org/drawingml/2006/main" noGrp="1"/>
          </p:cNvSpPr>
          <p:nvPr/>
        </p:nvSpPr>
        <p:spPr>
          <a:xfrm xmlns:a="http://schemas.openxmlformats.org/drawingml/2006/main">
            <a:off x="73533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Confirmation</a:t>
            </a:r>
          </a:p>
        </p:txBody>
      </p:sp>
      <p:sp>
        <p:nvSpPr>
          <p:cNvPr id="20" name="Cancelled">
            <a:extLst xmlns:a="http://schemas.openxmlformats.org/drawingml/2006/main">
              <a:ext uri="{FF2B5EF4-FFF2-40B4-BE49-F238E27FC236}">
                <a16:creationId xmlns:a16="http://schemas.microsoft.com/office/drawing/2014/main" id="{0D24A197-BB7D-4CE5-BB4D-71AE03D2C03F}"/>
              </a:ext>
            </a:extLst>
          </p:cNvPr>
          <p:cNvSpPr>
            <a:spLocks xmlns:a="http://schemas.openxmlformats.org/drawingml/2006/main" noGrp="1"/>
          </p:cNvSpPr>
          <p:nvPr/>
        </p:nvSpPr>
        <p:spPr>
          <a:xfrm xmlns:a="http://schemas.openxmlformats.org/drawingml/2006/main">
            <a:off x="2857500" y="400050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Cancelled</a:t>
            </a:r>
          </a:p>
        </p:txBody>
      </p:sp>
      <p:cxnSp>
        <p:nvCxnSpPr>
          <p:cNvPr id="21" name="">
            <a:extLst xmlns:a="http://schemas.openxmlformats.org/drawingml/2006/main">
              <a:ext uri="{FF2B5EF4-FFF2-40B4-BE49-F238E27FC236}">
                <a16:creationId xmlns:a16="http://schemas.microsoft.com/office/drawing/2014/main" id="{FD7BAF82-9EE9-43BD-941D-7C5290524C34}"/>
              </a:ext>
            </a:extLst>
          </p:cNvPr>
          <p:cNvCxnSpPr/>
          <p:nvPr/>
        </p:nvCxnSpPr>
        <p:spPr>
          <a:xfrm xmlns:a="http://schemas.openxmlformats.org/drawingml/2006/main" flipH="0" flipV="0">
            <a:off x="10591800" y="3609975"/>
            <a:ext cx="0" cy="2095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2" name="">
            <a:extLst xmlns:a="http://schemas.openxmlformats.org/drawingml/2006/main">
              <a:ext uri="{FF2B5EF4-FFF2-40B4-BE49-F238E27FC236}">
                <a16:creationId xmlns:a16="http://schemas.microsoft.com/office/drawing/2014/main" id="{B6C8F08C-7C22-4773-854D-FC10F0C82E92}"/>
              </a:ext>
            </a:extLst>
          </p:cNvPr>
          <p:cNvCxnSpPr/>
          <p:nvPr/>
        </p:nvCxnSpPr>
        <p:spPr>
          <a:xfrm xmlns:a="http://schemas.openxmlformats.org/drawingml/2006/main" flipH="1" flipV="0">
            <a:off x="371475" y="3819525"/>
            <a:ext cx="10220325"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3" name="">
            <a:extLst xmlns:a="http://schemas.openxmlformats.org/drawingml/2006/main">
              <a:ext uri="{FF2B5EF4-FFF2-40B4-BE49-F238E27FC236}">
                <a16:creationId xmlns:a16="http://schemas.microsoft.com/office/drawing/2014/main" id="{53B0FA59-6DC9-4AD9-A4F5-6AF8A54D9505}"/>
              </a:ext>
            </a:extLst>
          </p:cNvPr>
          <p:cNvCxnSpPr/>
          <p:nvPr/>
        </p:nvCxnSpPr>
        <p:spPr>
          <a:xfrm xmlns:a="http://schemas.openxmlformats.org/drawingml/2006/main" flipH="0" flipV="0">
            <a:off x="371475" y="3819525"/>
            <a:ext cx="0" cy="16573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4" name="">
            <a:extLst xmlns:a="http://schemas.openxmlformats.org/drawingml/2006/main">
              <a:ext uri="{FF2B5EF4-FFF2-40B4-BE49-F238E27FC236}">
                <a16:creationId xmlns:a16="http://schemas.microsoft.com/office/drawing/2014/main" id="{ED4C9A9D-4599-427B-A7F8-925F275E0FBE}"/>
              </a:ext>
            </a:extLst>
          </p:cNvPr>
          <p:cNvCxnSpPr/>
          <p:nvPr/>
        </p:nvCxnSpPr>
        <p:spPr>
          <a:xfrm xmlns:a="http://schemas.openxmlformats.org/drawingml/2006/main" flipH="0" flipV="0">
            <a:off x="371475" y="5476875"/>
            <a:ext cx="238125"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5" name="">
            <a:extLst xmlns:a="http://schemas.openxmlformats.org/drawingml/2006/main">
              <a:ext uri="{FF2B5EF4-FFF2-40B4-BE49-F238E27FC236}">
                <a16:creationId xmlns:a16="http://schemas.microsoft.com/office/drawing/2014/main" id="{36FDB413-9943-4B10-89FC-EC868A659206}"/>
              </a:ext>
            </a:extLst>
          </p:cNvPr>
          <p:cNvCxnSpPr/>
          <p:nvPr/>
        </p:nvCxnSpPr>
        <p:spPr>
          <a:xfrm xmlns:a="http://schemas.openxmlformats.org/drawingml/2006/main" flipH="0" flipV="0">
            <a:off x="2590800" y="5476875"/>
            <a:ext cx="26670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6" name="">
            <a:extLst xmlns:a="http://schemas.openxmlformats.org/drawingml/2006/main">
              <a:ext uri="{FF2B5EF4-FFF2-40B4-BE49-F238E27FC236}">
                <a16:creationId xmlns:a16="http://schemas.microsoft.com/office/drawing/2014/main" id="{9DCBB98D-F3F3-442C-966F-FEF128FA8BFD}"/>
              </a:ext>
            </a:extLst>
          </p:cNvPr>
          <p:cNvCxnSpPr/>
          <p:nvPr/>
        </p:nvCxnSpPr>
        <p:spPr>
          <a:xfrm xmlns:a="http://schemas.openxmlformats.org/drawingml/2006/main" flipH="0" flipV="0">
            <a:off x="48387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7" name="">
            <a:extLst xmlns:a="http://schemas.openxmlformats.org/drawingml/2006/main">
              <a:ext uri="{FF2B5EF4-FFF2-40B4-BE49-F238E27FC236}">
                <a16:creationId xmlns:a16="http://schemas.microsoft.com/office/drawing/2014/main" id="{147D3EF3-0F76-44A5-9747-9ECB4A22502F}"/>
              </a:ext>
            </a:extLst>
          </p:cNvPr>
          <p:cNvCxnSpPr/>
          <p:nvPr/>
        </p:nvCxnSpPr>
        <p:spPr>
          <a:xfrm xmlns:a="http://schemas.openxmlformats.org/drawingml/2006/main" flipH="0" flipV="0">
            <a:off x="70866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8" name="">
            <a:extLst xmlns:a="http://schemas.openxmlformats.org/drawingml/2006/main">
              <a:ext uri="{FF2B5EF4-FFF2-40B4-BE49-F238E27FC236}">
                <a16:creationId xmlns:a16="http://schemas.microsoft.com/office/drawing/2014/main" id="{1B260EB8-1589-463E-925E-220372B53C36}"/>
              </a:ext>
            </a:extLst>
          </p:cNvPr>
          <p:cNvCxnSpPr/>
          <p:nvPr/>
        </p:nvCxnSpPr>
        <p:spPr>
          <a:xfrm xmlns:a="http://schemas.openxmlformats.org/drawingml/2006/main" flipH="0" flipV="1">
            <a:off x="3848100" y="4714875"/>
            <a:ext cx="0" cy="3333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29" name="Recorded topology. Error/timeout handling and post-approval reval">
            <a:extLst xmlns:a="http://schemas.openxmlformats.org/drawingml/2006/main">
              <a:ext uri="{FF2B5EF4-FFF2-40B4-BE49-F238E27FC236}">
                <a16:creationId xmlns:a16="http://schemas.microsoft.com/office/drawing/2014/main" id="{6E246036-8004-4EE1-BCD1-D733AE55A09F}"/>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Recorded topology. Error/timeout handling and post-approval revalidation are proposed on slide 14.</a:t>
            </a:r>
          </a:p>
        </p:txBody>
      </p:sp>
    </p:spTree>
    <p:extLst>
      <p:ext uri="{BB962C8B-B14F-4D97-AF65-F5344CB8AC3E}">
        <p14:creationId xmlns:p14="http://schemas.microsoft.com/office/powerpoint/2010/main" val="1439467203"/>
      </p:ext>
    </p:extLst>
  </p:cSld>
</p:sld>
</file>

<file path=ppt/slides/slide1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TOOL BOUNDARIES">
            <a:extLst xmlns:a="http://schemas.openxmlformats.org/drawingml/2006/main">
              <a:ext uri="{FF2B5EF4-FFF2-40B4-BE49-F238E27FC236}">
                <a16:creationId xmlns:a16="http://schemas.microsoft.com/office/drawing/2014/main" id="{422EE1C4-8628-45B7-A35D-A2A0C334CFB1}"/>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TOOL BOUNDARIES</a:t>
            </a:r>
          </a:p>
        </p:txBody>
      </p:sp>
      <p:sp>
        <p:nvSpPr>
          <p:cNvPr id="2" name="12">
            <a:extLst xmlns:a="http://schemas.openxmlformats.org/drawingml/2006/main">
              <a:ext uri="{FF2B5EF4-FFF2-40B4-BE49-F238E27FC236}">
                <a16:creationId xmlns:a16="http://schemas.microsoft.com/office/drawing/2014/main" id="{5B085A3E-D43A-4B6C-BBA3-946FF437F2A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12</a:t>
            </a:r>
          </a:p>
        </p:txBody>
      </p:sp>
      <p:sp>
        <p:nvSpPr>
          <p:cNvPr id="3" name="Browser evidence and model judgment">
            <a:extLst xmlns:a="http://schemas.openxmlformats.org/drawingml/2006/main">
              <a:ext uri="{FF2B5EF4-FFF2-40B4-BE49-F238E27FC236}">
                <a16:creationId xmlns:a16="http://schemas.microsoft.com/office/drawing/2014/main" id="{85369B8D-FD9C-4124-9BBF-135183E8CD2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Browser evidence and model judgment</a:t>
            </a:r>
          </a:p>
        </p:txBody>
      </p:sp>
      <p:sp>
        <p:nvSpPr>
          <p:cNvPr id="4" name="Both integrations use local HTTP adapters. Codex is not a native ">
            <a:extLst xmlns:a="http://schemas.openxmlformats.org/drawingml/2006/main">
              <a:ext uri="{FF2B5EF4-FFF2-40B4-BE49-F238E27FC236}">
                <a16:creationId xmlns:a16="http://schemas.microsoft.com/office/drawing/2014/main" id="{5016D528-95B8-4613-ADAA-3BBB9DFE9FC7}"/>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Both integrations use local HTTP adapters. Codex is not a native n8n node.</a:t>
            </a:r>
          </a:p>
        </p:txBody>
      </p:sp>
      <p:sp>
        <p:nvSpPr>
          <p:cNvPr id="5" name="OBSERVATION">
            <a:extLst xmlns:a="http://schemas.openxmlformats.org/drawingml/2006/main">
              <a:ext uri="{FF2B5EF4-FFF2-40B4-BE49-F238E27FC236}">
                <a16:creationId xmlns:a16="http://schemas.microsoft.com/office/drawing/2014/main" id="{68FE1261-1EDA-4B4E-B4A0-BA1FC0C5F37A}"/>
              </a:ext>
            </a:extLst>
          </p:cNvPr>
          <p:cNvSpPr>
            <a:spLocks xmlns:a="http://schemas.openxmlformats.org/drawingml/2006/main" noGrp="1"/>
          </p:cNvSpPr>
          <p:nvPr/>
        </p:nvSpPr>
        <p:spPr>
          <a:xfrm xmlns:a="http://schemas.openxmlformats.org/drawingml/2006/main">
            <a:off x="609600" y="27336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87F8B"/>
                </a:solidFill>
                <a:latin typeface="Arial"/>
                <a:ea typeface="Arial"/>
                <a:cs typeface="Arial"/>
              </a:defRPr>
            </a:defPPr>
            <a:lvl1pPr algn="l">
              <a:defRPr sz="1425" b="1">
                <a:solidFill>
                  <a:srgbClr val="087F8B"/>
                </a:solidFill>
                <a:latin typeface="Arial"/>
                <a:ea typeface="Arial"/>
                <a:cs typeface="Arial"/>
              </a:defRPr>
            </a:lvl1pPr>
            <a:lvl2pPr algn="l">
              <a:defRPr sz="1425" b="1">
                <a:solidFill>
                  <a:srgbClr val="087F8B"/>
                </a:solidFill>
                <a:latin typeface="Arial"/>
                <a:ea typeface="Arial"/>
                <a:cs typeface="Arial"/>
              </a:defRPr>
            </a:lvl2pPr>
            <a:lvl3pPr algn="l">
              <a:defRPr sz="1425" b="1">
                <a:solidFill>
                  <a:srgbClr val="087F8B"/>
                </a:solidFill>
                <a:latin typeface="Arial"/>
                <a:ea typeface="Arial"/>
                <a:cs typeface="Arial"/>
              </a:defRPr>
            </a:lvl3pPr>
            <a:lvl4pPr algn="l">
              <a:defRPr sz="1425" b="1">
                <a:solidFill>
                  <a:srgbClr val="087F8B"/>
                </a:solidFill>
                <a:latin typeface="Arial"/>
                <a:ea typeface="Arial"/>
                <a:cs typeface="Arial"/>
              </a:defRPr>
            </a:lvl4pPr>
            <a:lvl5pPr algn="l">
              <a:defRPr sz="1425" b="1">
                <a:solidFill>
                  <a:srgbClr val="087F8B"/>
                </a:solidFill>
                <a:latin typeface="Arial"/>
                <a:ea typeface="Arial"/>
                <a:cs typeface="Arial"/>
              </a:defRPr>
            </a:lvl5pPr>
            <a:lvl6pPr algn="l">
              <a:defRPr sz="1425" b="1">
                <a:solidFill>
                  <a:srgbClr val="087F8B"/>
                </a:solidFill>
                <a:latin typeface="Arial"/>
                <a:ea typeface="Arial"/>
                <a:cs typeface="Arial"/>
              </a:defRPr>
            </a:lvl6pPr>
            <a:lvl7pPr algn="l">
              <a:defRPr sz="1425" b="1">
                <a:solidFill>
                  <a:srgbClr val="087F8B"/>
                </a:solidFill>
                <a:latin typeface="Arial"/>
                <a:ea typeface="Arial"/>
                <a:cs typeface="Arial"/>
              </a:defRPr>
            </a:lvl7pPr>
            <a:lvl8pPr algn="l">
              <a:defRPr sz="1425" b="1">
                <a:solidFill>
                  <a:srgbClr val="087F8B"/>
                </a:solidFill>
                <a:latin typeface="Arial"/>
                <a:ea typeface="Arial"/>
                <a:cs typeface="Arial"/>
              </a:defRPr>
            </a:lvl8pPr>
            <a:lvl9pPr algn="l">
              <a:defRPr sz="1425" b="1">
                <a:solidFill>
                  <a:srgbClr val="087F8B"/>
                </a:solidFill>
                <a:latin typeface="Arial"/>
                <a:ea typeface="Arial"/>
                <a:cs typeface="Arial"/>
              </a:defRPr>
            </a:lvl9pPr>
          </a:lstStyle>
          <a:p xmlns:a="http://schemas.openxmlformats.org/drawingml/2006/main">
            <a:pPr algn="l">
              <a:defRPr sz="1425" b="1">
                <a:solidFill>
                  <a:srgbClr val="087F8B"/>
                </a:solidFill>
                <a:latin typeface="Arial"/>
                <a:ea typeface="Arial"/>
                <a:cs typeface="Arial"/>
              </a:defRPr>
            </a:pPr>
            <a:r>
              <a:rPr sz="1425" b="1">
                <a:solidFill>
                  <a:srgbClr val="087F8B"/>
                </a:solidFill>
                <a:latin typeface="Arial"/>
                <a:ea typeface="Arial"/>
                <a:cs typeface="Arial"/>
              </a:rPr>
              <a:t>OBSERVATION</a:t>
            </a:r>
          </a:p>
        </p:txBody>
      </p:sp>
      <p:sp>
        <p:nvSpPr>
          <p:cNvPr id="6" name="POST /search">
            <a:extLst xmlns:a="http://schemas.openxmlformats.org/drawingml/2006/main">
              <a:ext uri="{FF2B5EF4-FFF2-40B4-BE49-F238E27FC236}">
                <a16:creationId xmlns:a16="http://schemas.microsoft.com/office/drawing/2014/main" id="{D610394C-54E3-4F0C-9972-F86ABFFC17C6}"/>
              </a:ext>
            </a:extLst>
          </p:cNvPr>
          <p:cNvSpPr>
            <a:spLocks xmlns:a="http://schemas.openxmlformats.org/drawingml/2006/main" noGrp="1"/>
          </p:cNvSpPr>
          <p:nvPr/>
        </p:nvSpPr>
        <p:spPr>
          <a:xfrm xmlns:a="http://schemas.openxmlformats.org/drawingml/2006/main">
            <a:off x="609600" y="31813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B"/>
                </a:solidFill>
                <a:latin typeface="Courier New"/>
                <a:ea typeface="Courier New"/>
                <a:cs typeface="Courier New"/>
              </a:defRPr>
            </a:defPPr>
            <a:lvl1pPr algn="l">
              <a:defRPr sz="2400" b="1">
                <a:solidFill>
                  <a:srgbClr val="087F8B"/>
                </a:solidFill>
                <a:latin typeface="Courier New"/>
                <a:ea typeface="Courier New"/>
                <a:cs typeface="Courier New"/>
              </a:defRPr>
            </a:lvl1pPr>
            <a:lvl2pPr algn="l">
              <a:defRPr sz="2400" b="1">
                <a:solidFill>
                  <a:srgbClr val="087F8B"/>
                </a:solidFill>
                <a:latin typeface="Courier New"/>
                <a:ea typeface="Courier New"/>
                <a:cs typeface="Courier New"/>
              </a:defRPr>
            </a:lvl2pPr>
            <a:lvl3pPr algn="l">
              <a:defRPr sz="2400" b="1">
                <a:solidFill>
                  <a:srgbClr val="087F8B"/>
                </a:solidFill>
                <a:latin typeface="Courier New"/>
                <a:ea typeface="Courier New"/>
                <a:cs typeface="Courier New"/>
              </a:defRPr>
            </a:lvl3pPr>
            <a:lvl4pPr algn="l">
              <a:defRPr sz="2400" b="1">
                <a:solidFill>
                  <a:srgbClr val="087F8B"/>
                </a:solidFill>
                <a:latin typeface="Courier New"/>
                <a:ea typeface="Courier New"/>
                <a:cs typeface="Courier New"/>
              </a:defRPr>
            </a:lvl4pPr>
            <a:lvl5pPr algn="l">
              <a:defRPr sz="2400" b="1">
                <a:solidFill>
                  <a:srgbClr val="087F8B"/>
                </a:solidFill>
                <a:latin typeface="Courier New"/>
                <a:ea typeface="Courier New"/>
                <a:cs typeface="Courier New"/>
              </a:defRPr>
            </a:lvl5pPr>
            <a:lvl6pPr algn="l">
              <a:defRPr sz="2400" b="1">
                <a:solidFill>
                  <a:srgbClr val="087F8B"/>
                </a:solidFill>
                <a:latin typeface="Courier New"/>
                <a:ea typeface="Courier New"/>
                <a:cs typeface="Courier New"/>
              </a:defRPr>
            </a:lvl6pPr>
            <a:lvl7pPr algn="l">
              <a:defRPr sz="2400" b="1">
                <a:solidFill>
                  <a:srgbClr val="087F8B"/>
                </a:solidFill>
                <a:latin typeface="Courier New"/>
                <a:ea typeface="Courier New"/>
                <a:cs typeface="Courier New"/>
              </a:defRPr>
            </a:lvl7pPr>
            <a:lvl8pPr algn="l">
              <a:defRPr sz="2400" b="1">
                <a:solidFill>
                  <a:srgbClr val="087F8B"/>
                </a:solidFill>
                <a:latin typeface="Courier New"/>
                <a:ea typeface="Courier New"/>
                <a:cs typeface="Courier New"/>
              </a:defRPr>
            </a:lvl8pPr>
            <a:lvl9pPr algn="l">
              <a:defRPr sz="2400" b="1">
                <a:solidFill>
                  <a:srgbClr val="087F8B"/>
                </a:solidFill>
                <a:latin typeface="Courier New"/>
                <a:ea typeface="Courier New"/>
                <a:cs typeface="Courier New"/>
              </a:defRPr>
            </a:lvl9pPr>
          </a:lstStyle>
          <a:p xmlns:a="http://schemas.openxmlformats.org/drawingml/2006/main">
            <a:pPr algn="l">
              <a:defRPr sz="2400" b="1">
                <a:solidFill>
                  <a:srgbClr val="087F8B"/>
                </a:solidFill>
                <a:latin typeface="Courier New"/>
                <a:ea typeface="Courier New"/>
                <a:cs typeface="Courier New"/>
              </a:defRPr>
            </a:pPr>
            <a:r>
              <a:rPr sz="2400" b="1">
                <a:solidFill>
                  <a:srgbClr val="087F8B"/>
                </a:solidFill>
                <a:latin typeface="Courier New"/>
                <a:ea typeface="Courier New"/>
                <a:cs typeface="Courier New"/>
              </a:rPr>
              <a:t>POST /search</a:t>
            </a:r>
          </a:p>
        </p:txBody>
      </p:sp>
      <p:sp>
        <p:nvSpPr>
          <p:cNvPr id="7" name="Playwright + Chrome&#10;Source URLs, observed prices,&#10;timestamps, and">
            <a:extLst xmlns:a="http://schemas.openxmlformats.org/drawingml/2006/main">
              <a:ext uri="{FF2B5EF4-FFF2-40B4-BE49-F238E27FC236}">
                <a16:creationId xmlns:a16="http://schemas.microsoft.com/office/drawing/2014/main" id="{D26F641A-AC83-43FA-A1BC-9B2ABFC23F25}"/>
              </a:ext>
            </a:extLst>
          </p:cNvPr>
          <p:cNvSpPr>
            <a:spLocks xmlns:a="http://schemas.openxmlformats.org/drawingml/2006/main" noGrp="1"/>
          </p:cNvSpPr>
          <p:nvPr/>
        </p:nvSpPr>
        <p:spPr>
          <a:xfrm xmlns:a="http://schemas.openxmlformats.org/drawingml/2006/main">
            <a:off x="609600" y="382905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Playwright + Chrome</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Source URLs, observed prices,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timestamps, and source status</a:t>
            </a:r>
          </a:p>
        </p:txBody>
      </p:sp>
      <p:sp>
        <p:nvSpPr>
          <p:cNvPr id="8" name="REASONING">
            <a:extLst xmlns:a="http://schemas.openxmlformats.org/drawingml/2006/main">
              <a:ext uri="{FF2B5EF4-FFF2-40B4-BE49-F238E27FC236}">
                <a16:creationId xmlns:a16="http://schemas.microsoft.com/office/drawing/2014/main" id="{9C18DDAF-12E4-4823-B76B-B9F9EB8EB453}"/>
              </a:ext>
            </a:extLst>
          </p:cNvPr>
          <p:cNvSpPr>
            <a:spLocks xmlns:a="http://schemas.openxmlformats.org/drawingml/2006/main" noGrp="1"/>
          </p:cNvSpPr>
          <p:nvPr/>
        </p:nvSpPr>
        <p:spPr>
          <a:xfrm xmlns:a="http://schemas.openxmlformats.org/drawingml/2006/main">
            <a:off x="6553200" y="2733675"/>
            <a:ext cx="502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6D5CE7"/>
                </a:solidFill>
                <a:latin typeface="Arial"/>
                <a:ea typeface="Arial"/>
                <a:cs typeface="Arial"/>
              </a:defRPr>
            </a:defPPr>
            <a:lvl1pPr algn="l">
              <a:defRPr sz="1425" b="1">
                <a:solidFill>
                  <a:srgbClr val="6D5CE7"/>
                </a:solidFill>
                <a:latin typeface="Arial"/>
                <a:ea typeface="Arial"/>
                <a:cs typeface="Arial"/>
              </a:defRPr>
            </a:lvl1pPr>
            <a:lvl2pPr algn="l">
              <a:defRPr sz="1425" b="1">
                <a:solidFill>
                  <a:srgbClr val="6D5CE7"/>
                </a:solidFill>
                <a:latin typeface="Arial"/>
                <a:ea typeface="Arial"/>
                <a:cs typeface="Arial"/>
              </a:defRPr>
            </a:lvl2pPr>
            <a:lvl3pPr algn="l">
              <a:defRPr sz="1425" b="1">
                <a:solidFill>
                  <a:srgbClr val="6D5CE7"/>
                </a:solidFill>
                <a:latin typeface="Arial"/>
                <a:ea typeface="Arial"/>
                <a:cs typeface="Arial"/>
              </a:defRPr>
            </a:lvl3pPr>
            <a:lvl4pPr algn="l">
              <a:defRPr sz="1425" b="1">
                <a:solidFill>
                  <a:srgbClr val="6D5CE7"/>
                </a:solidFill>
                <a:latin typeface="Arial"/>
                <a:ea typeface="Arial"/>
                <a:cs typeface="Arial"/>
              </a:defRPr>
            </a:lvl4pPr>
            <a:lvl5pPr algn="l">
              <a:defRPr sz="1425" b="1">
                <a:solidFill>
                  <a:srgbClr val="6D5CE7"/>
                </a:solidFill>
                <a:latin typeface="Arial"/>
                <a:ea typeface="Arial"/>
                <a:cs typeface="Arial"/>
              </a:defRPr>
            </a:lvl5pPr>
            <a:lvl6pPr algn="l">
              <a:defRPr sz="1425" b="1">
                <a:solidFill>
                  <a:srgbClr val="6D5CE7"/>
                </a:solidFill>
                <a:latin typeface="Arial"/>
                <a:ea typeface="Arial"/>
                <a:cs typeface="Arial"/>
              </a:defRPr>
            </a:lvl6pPr>
            <a:lvl7pPr algn="l">
              <a:defRPr sz="1425" b="1">
                <a:solidFill>
                  <a:srgbClr val="6D5CE7"/>
                </a:solidFill>
                <a:latin typeface="Arial"/>
                <a:ea typeface="Arial"/>
                <a:cs typeface="Arial"/>
              </a:defRPr>
            </a:lvl7pPr>
            <a:lvl8pPr algn="l">
              <a:defRPr sz="1425" b="1">
                <a:solidFill>
                  <a:srgbClr val="6D5CE7"/>
                </a:solidFill>
                <a:latin typeface="Arial"/>
                <a:ea typeface="Arial"/>
                <a:cs typeface="Arial"/>
              </a:defRPr>
            </a:lvl8pPr>
            <a:lvl9pPr algn="l">
              <a:defRPr sz="1425" b="1">
                <a:solidFill>
                  <a:srgbClr val="6D5CE7"/>
                </a:solidFill>
                <a:latin typeface="Arial"/>
                <a:ea typeface="Arial"/>
                <a:cs typeface="Arial"/>
              </a:defRPr>
            </a:lvl9pPr>
          </a:lstStyle>
          <a:p xmlns:a="http://schemas.openxmlformats.org/drawingml/2006/main">
            <a:pPr algn="l">
              <a:defRPr sz="1425" b="1">
                <a:solidFill>
                  <a:srgbClr val="6D5CE7"/>
                </a:solidFill>
                <a:latin typeface="Arial"/>
                <a:ea typeface="Arial"/>
                <a:cs typeface="Arial"/>
              </a:defRPr>
            </a:pPr>
            <a:r>
              <a:rPr sz="1425" b="1">
                <a:solidFill>
                  <a:srgbClr val="6D5CE7"/>
                </a:solidFill>
                <a:latin typeface="Arial"/>
                <a:ea typeface="Arial"/>
                <a:cs typeface="Arial"/>
              </a:rPr>
              <a:t>REASONING</a:t>
            </a:r>
          </a:p>
        </p:txBody>
      </p:sp>
      <p:sp>
        <p:nvSpPr>
          <p:cNvPr id="9" name="POST /recommend-live">
            <a:extLst xmlns:a="http://schemas.openxmlformats.org/drawingml/2006/main">
              <a:ext uri="{FF2B5EF4-FFF2-40B4-BE49-F238E27FC236}">
                <a16:creationId xmlns:a16="http://schemas.microsoft.com/office/drawing/2014/main" id="{61DD884E-D627-4CF2-913E-942F67D2BF74}"/>
              </a:ext>
            </a:extLst>
          </p:cNvPr>
          <p:cNvSpPr>
            <a:spLocks xmlns:a="http://schemas.openxmlformats.org/drawingml/2006/main" noGrp="1"/>
          </p:cNvSpPr>
          <p:nvPr/>
        </p:nvSpPr>
        <p:spPr>
          <a:xfrm xmlns:a="http://schemas.openxmlformats.org/drawingml/2006/main">
            <a:off x="6553200" y="3181350"/>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Courier New"/>
                <a:ea typeface="Courier New"/>
                <a:cs typeface="Courier New"/>
              </a:defRPr>
            </a:defPPr>
            <a:lvl1pPr algn="l">
              <a:defRPr sz="2250" b="1">
                <a:solidFill>
                  <a:srgbClr val="6D5CE7"/>
                </a:solidFill>
                <a:latin typeface="Courier New"/>
                <a:ea typeface="Courier New"/>
                <a:cs typeface="Courier New"/>
              </a:defRPr>
            </a:lvl1pPr>
            <a:lvl2pPr algn="l">
              <a:defRPr sz="2250" b="1">
                <a:solidFill>
                  <a:srgbClr val="6D5CE7"/>
                </a:solidFill>
                <a:latin typeface="Courier New"/>
                <a:ea typeface="Courier New"/>
                <a:cs typeface="Courier New"/>
              </a:defRPr>
            </a:lvl2pPr>
            <a:lvl3pPr algn="l">
              <a:defRPr sz="2250" b="1">
                <a:solidFill>
                  <a:srgbClr val="6D5CE7"/>
                </a:solidFill>
                <a:latin typeface="Courier New"/>
                <a:ea typeface="Courier New"/>
                <a:cs typeface="Courier New"/>
              </a:defRPr>
            </a:lvl3pPr>
            <a:lvl4pPr algn="l">
              <a:defRPr sz="2250" b="1">
                <a:solidFill>
                  <a:srgbClr val="6D5CE7"/>
                </a:solidFill>
                <a:latin typeface="Courier New"/>
                <a:ea typeface="Courier New"/>
                <a:cs typeface="Courier New"/>
              </a:defRPr>
            </a:lvl4pPr>
            <a:lvl5pPr algn="l">
              <a:defRPr sz="2250" b="1">
                <a:solidFill>
                  <a:srgbClr val="6D5CE7"/>
                </a:solidFill>
                <a:latin typeface="Courier New"/>
                <a:ea typeface="Courier New"/>
                <a:cs typeface="Courier New"/>
              </a:defRPr>
            </a:lvl5pPr>
            <a:lvl6pPr algn="l">
              <a:defRPr sz="2250" b="1">
                <a:solidFill>
                  <a:srgbClr val="6D5CE7"/>
                </a:solidFill>
                <a:latin typeface="Courier New"/>
                <a:ea typeface="Courier New"/>
                <a:cs typeface="Courier New"/>
              </a:defRPr>
            </a:lvl6pPr>
            <a:lvl7pPr algn="l">
              <a:defRPr sz="2250" b="1">
                <a:solidFill>
                  <a:srgbClr val="6D5CE7"/>
                </a:solidFill>
                <a:latin typeface="Courier New"/>
                <a:ea typeface="Courier New"/>
                <a:cs typeface="Courier New"/>
              </a:defRPr>
            </a:lvl7pPr>
            <a:lvl8pPr algn="l">
              <a:defRPr sz="2250" b="1">
                <a:solidFill>
                  <a:srgbClr val="6D5CE7"/>
                </a:solidFill>
                <a:latin typeface="Courier New"/>
                <a:ea typeface="Courier New"/>
                <a:cs typeface="Courier New"/>
              </a:defRPr>
            </a:lvl8pPr>
            <a:lvl9pPr algn="l">
              <a:defRPr sz="2250" b="1">
                <a:solidFill>
                  <a:srgbClr val="6D5CE7"/>
                </a:solidFill>
                <a:latin typeface="Courier New"/>
                <a:ea typeface="Courier New"/>
                <a:cs typeface="Courier New"/>
              </a:defRPr>
            </a:lvl9pPr>
          </a:lstStyle>
          <a:p xmlns:a="http://schemas.openxmlformats.org/drawingml/2006/main">
            <a:pPr algn="l">
              <a:defRPr sz="2250" b="1">
                <a:solidFill>
                  <a:srgbClr val="6D5CE7"/>
                </a:solidFill>
                <a:latin typeface="Courier New"/>
                <a:ea typeface="Courier New"/>
                <a:cs typeface="Courier New"/>
              </a:defRPr>
            </a:pPr>
            <a:r>
              <a:rPr sz="2250" b="1">
                <a:solidFill>
                  <a:srgbClr val="6D5CE7"/>
                </a:solidFill>
                <a:latin typeface="Courier New"/>
                <a:ea typeface="Courier New"/>
                <a:cs typeface="Courier New"/>
              </a:rPr>
              <a:t>POST /recommend-live</a:t>
            </a:r>
          </a:p>
        </p:txBody>
      </p:sp>
      <p:sp>
        <p:nvSpPr>
          <p:cNvPr id="10" name="Local adapter invokes Codex CLI&#10;Rank supplied candidates&#10;Preserve">
            <a:extLst xmlns:a="http://schemas.openxmlformats.org/drawingml/2006/main">
              <a:ext uri="{FF2B5EF4-FFF2-40B4-BE49-F238E27FC236}">
                <a16:creationId xmlns:a16="http://schemas.microsoft.com/office/drawing/2014/main" id="{7C97CFB5-ED1D-4421-B7DA-18029E4325B3}"/>
              </a:ext>
            </a:extLst>
          </p:cNvPr>
          <p:cNvSpPr>
            <a:spLocks xmlns:a="http://schemas.openxmlformats.org/drawingml/2006/main" noGrp="1"/>
          </p:cNvSpPr>
          <p:nvPr/>
        </p:nvSpPr>
        <p:spPr>
          <a:xfrm xmlns:a="http://schemas.openxmlformats.org/drawingml/2006/main">
            <a:off x="6553200" y="3829050"/>
            <a:ext cx="5029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Local adapter invokes Codex CLI</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Rank supplied candidates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Preserve evidence and unknowns</a:t>
            </a:r>
          </a:p>
        </p:txBody>
      </p:sp>
      <p:sp>
        <p:nvSpPr>
          <p:cNvPr id="11" name="Workshop integration uses a signed-in Codex CLI and the supplied ">
            <a:extLst xmlns:a="http://schemas.openxmlformats.org/drawingml/2006/main">
              <a:ext uri="{FF2B5EF4-FFF2-40B4-BE49-F238E27FC236}">
                <a16:creationId xmlns:a16="http://schemas.microsoft.com/office/drawing/2014/main" id="{891672FA-F88D-47FC-B53B-D876D6EC56B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Workshop integration uses a signed-in Codex CLI and the supplied custom adapters.</a:t>
            </a:r>
          </a:p>
        </p:txBody>
      </p:sp>
    </p:spTree>
    <p:extLst>
      <p:ext uri="{BB962C8B-B14F-4D97-AF65-F5344CB8AC3E}">
        <p14:creationId xmlns:p14="http://schemas.microsoft.com/office/powerpoint/2010/main" val="1087996665"/>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DEMO 2 EVIDENCE">
            <a:extLst xmlns:a="http://schemas.openxmlformats.org/drawingml/2006/main">
              <a:ext uri="{FF2B5EF4-FFF2-40B4-BE49-F238E27FC236}">
                <a16:creationId xmlns:a16="http://schemas.microsoft.com/office/drawing/2014/main" id="{52956F4D-D508-41FF-B0D0-DF91E4D50C1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DEMO 2 EVIDENCE</a:t>
            </a:r>
          </a:p>
        </p:txBody>
      </p:sp>
      <p:sp>
        <p:nvSpPr>
          <p:cNvPr id="2" name="13">
            <a:extLst xmlns:a="http://schemas.openxmlformats.org/drawingml/2006/main">
              <a:ext uri="{FF2B5EF4-FFF2-40B4-BE49-F238E27FC236}">
                <a16:creationId xmlns:a16="http://schemas.microsoft.com/office/drawing/2014/main" id="{B27D3805-599F-4BDC-BAF9-DFD79DD27AFF}"/>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13</a:t>
            </a:r>
          </a:p>
        </p:txBody>
      </p:sp>
      <p:sp>
        <p:nvSpPr>
          <p:cNvPr id="3" name="Recorded evidence has visible limits">
            <a:extLst xmlns:a="http://schemas.openxmlformats.org/drawingml/2006/main">
              <a:ext uri="{FF2B5EF4-FFF2-40B4-BE49-F238E27FC236}">
                <a16:creationId xmlns:a16="http://schemas.microsoft.com/office/drawing/2014/main" id="{2DEB8465-0FCD-46D2-B0D3-8B58DEA81E3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Recorded evidence has visible limits</a:t>
            </a:r>
          </a:p>
        </p:txBody>
      </p:sp>
      <p:sp>
        <p:nvSpPr>
          <p:cNvPr id="4" name="Recorded ₹1,000 demo run. Prices and availability can change.">
            <a:extLst xmlns:a="http://schemas.openxmlformats.org/drawingml/2006/main">
              <a:ext uri="{FF2B5EF4-FFF2-40B4-BE49-F238E27FC236}">
                <a16:creationId xmlns:a16="http://schemas.microsoft.com/office/drawing/2014/main" id="{3FE49C2B-F860-4CBD-A654-6CACCF49B4D4}"/>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Recorded ₹1,000 demo run. Prices and availability can change.</a:t>
            </a:r>
          </a:p>
        </p:txBody>
      </p:sp>
      <p:sp>
        <p:nvSpPr>
          <p:cNvPr id="5" name="8 candidates">
            <a:extLst xmlns:a="http://schemas.openxmlformats.org/drawingml/2006/main">
              <a:ext uri="{FF2B5EF4-FFF2-40B4-BE49-F238E27FC236}">
                <a16:creationId xmlns:a16="http://schemas.microsoft.com/office/drawing/2014/main" id="{DD014113-D0D0-4C41-82CF-A332EFD32655}"/>
              </a:ext>
            </a:extLst>
          </p:cNvPr>
          <p:cNvSpPr>
            <a:spLocks xmlns:a="http://schemas.openxmlformats.org/drawingml/2006/main" noGrp="1"/>
          </p:cNvSpPr>
          <p:nvPr/>
        </p:nvSpPr>
        <p:spPr>
          <a:xfrm xmlns:a="http://schemas.openxmlformats.org/drawingml/2006/main">
            <a:off x="609600" y="2762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6D5CE7"/>
                </a:solidFill>
                <a:latin typeface="Arial"/>
                <a:ea typeface="Arial"/>
                <a:cs typeface="Arial"/>
              </a:defRPr>
            </a:defPPr>
            <a:lvl1pPr algn="l">
              <a:defRPr sz="4350" b="1">
                <a:solidFill>
                  <a:srgbClr val="6D5CE7"/>
                </a:solidFill>
                <a:latin typeface="Arial"/>
                <a:ea typeface="Arial"/>
                <a:cs typeface="Arial"/>
              </a:defRPr>
            </a:lvl1pPr>
            <a:lvl2pPr algn="l">
              <a:defRPr sz="4350" b="1">
                <a:solidFill>
                  <a:srgbClr val="6D5CE7"/>
                </a:solidFill>
                <a:latin typeface="Arial"/>
                <a:ea typeface="Arial"/>
                <a:cs typeface="Arial"/>
              </a:defRPr>
            </a:lvl2pPr>
            <a:lvl3pPr algn="l">
              <a:defRPr sz="4350" b="1">
                <a:solidFill>
                  <a:srgbClr val="6D5CE7"/>
                </a:solidFill>
                <a:latin typeface="Arial"/>
                <a:ea typeface="Arial"/>
                <a:cs typeface="Arial"/>
              </a:defRPr>
            </a:lvl3pPr>
            <a:lvl4pPr algn="l">
              <a:defRPr sz="4350" b="1">
                <a:solidFill>
                  <a:srgbClr val="6D5CE7"/>
                </a:solidFill>
                <a:latin typeface="Arial"/>
                <a:ea typeface="Arial"/>
                <a:cs typeface="Arial"/>
              </a:defRPr>
            </a:lvl4pPr>
            <a:lvl5pPr algn="l">
              <a:defRPr sz="4350" b="1">
                <a:solidFill>
                  <a:srgbClr val="6D5CE7"/>
                </a:solidFill>
                <a:latin typeface="Arial"/>
                <a:ea typeface="Arial"/>
                <a:cs typeface="Arial"/>
              </a:defRPr>
            </a:lvl5pPr>
            <a:lvl6pPr algn="l">
              <a:defRPr sz="4350" b="1">
                <a:solidFill>
                  <a:srgbClr val="6D5CE7"/>
                </a:solidFill>
                <a:latin typeface="Arial"/>
                <a:ea typeface="Arial"/>
                <a:cs typeface="Arial"/>
              </a:defRPr>
            </a:lvl6pPr>
            <a:lvl7pPr algn="l">
              <a:defRPr sz="4350" b="1">
                <a:solidFill>
                  <a:srgbClr val="6D5CE7"/>
                </a:solidFill>
                <a:latin typeface="Arial"/>
                <a:ea typeface="Arial"/>
                <a:cs typeface="Arial"/>
              </a:defRPr>
            </a:lvl7pPr>
            <a:lvl8pPr algn="l">
              <a:defRPr sz="4350" b="1">
                <a:solidFill>
                  <a:srgbClr val="6D5CE7"/>
                </a:solidFill>
                <a:latin typeface="Arial"/>
                <a:ea typeface="Arial"/>
                <a:cs typeface="Arial"/>
              </a:defRPr>
            </a:lvl8pPr>
            <a:lvl9pPr algn="l">
              <a:defRPr sz="4350" b="1">
                <a:solidFill>
                  <a:srgbClr val="6D5CE7"/>
                </a:solidFill>
                <a:latin typeface="Arial"/>
                <a:ea typeface="Arial"/>
                <a:cs typeface="Arial"/>
              </a:defRPr>
            </a:lvl9pPr>
          </a:lstStyle>
          <a:p xmlns:a="http://schemas.openxmlformats.org/drawingml/2006/main">
            <a:pPr algn="l">
              <a:defRPr sz="4350" b="1">
                <a:solidFill>
                  <a:srgbClr val="6D5CE7"/>
                </a:solidFill>
                <a:latin typeface="Arial"/>
                <a:ea typeface="Arial"/>
                <a:cs typeface="Arial"/>
              </a:defRPr>
            </a:pPr>
            <a:r>
              <a:rPr sz="4350" b="1">
                <a:solidFill>
                  <a:srgbClr val="6D5CE7"/>
                </a:solidFill>
                <a:latin typeface="Arial"/>
                <a:ea typeface="Arial"/>
                <a:cs typeface="Arial"/>
              </a:rPr>
              <a:t>8 candidates</a:t>
            </a:r>
          </a:p>
        </p:txBody>
      </p:sp>
      <p:sp>
        <p:nvSpPr>
          <p:cNvPr id="6" name="Amazon 4, Flipkart 4&#10;Myntra: maintenance, 0">
            <a:extLst xmlns:a="http://schemas.openxmlformats.org/drawingml/2006/main">
              <a:ext uri="{FF2B5EF4-FFF2-40B4-BE49-F238E27FC236}">
                <a16:creationId xmlns:a16="http://schemas.microsoft.com/office/drawing/2014/main" id="{9BA1D1D2-5260-4419-83A7-C87A962B7E40}"/>
              </a:ext>
            </a:extLst>
          </p:cNvPr>
          <p:cNvSpPr>
            <a:spLocks xmlns:a="http://schemas.openxmlformats.org/drawingml/2006/main" noGrp="1"/>
          </p:cNvSpPr>
          <p:nvPr/>
        </p:nvSpPr>
        <p:spPr>
          <a:xfrm xmlns:a="http://schemas.openxmlformats.org/drawingml/2006/main">
            <a:off x="609600" y="36671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Amazon 4, Flipkart 4</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Myntra: maintenance, 0</a:t>
            </a:r>
          </a:p>
        </p:txBody>
      </p:sp>
      <p:sp>
        <p:nvSpPr>
          <p:cNvPr id="7" name="Selected observation">
            <a:extLst xmlns:a="http://schemas.openxmlformats.org/drawingml/2006/main">
              <a:ext uri="{FF2B5EF4-FFF2-40B4-BE49-F238E27FC236}">
                <a16:creationId xmlns:a16="http://schemas.microsoft.com/office/drawing/2014/main" id="{66F143DF-C0A6-445C-A60A-91F95CBD0ED0}"/>
              </a:ext>
            </a:extLst>
          </p:cNvPr>
          <p:cNvSpPr>
            <a:spLocks xmlns:a="http://schemas.openxmlformats.org/drawingml/2006/main" noGrp="1"/>
          </p:cNvSpPr>
          <p:nvPr/>
        </p:nvSpPr>
        <p:spPr>
          <a:xfrm xmlns:a="http://schemas.openxmlformats.org/drawingml/2006/main">
            <a:off x="6553200" y="27622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B"/>
                </a:solidFill>
                <a:latin typeface="Arial"/>
                <a:ea typeface="Arial"/>
                <a:cs typeface="Arial"/>
              </a:defRPr>
            </a:defPPr>
            <a:lvl1pPr algn="l">
              <a:defRPr sz="1950" b="1">
                <a:solidFill>
                  <a:srgbClr val="087F8B"/>
                </a:solidFill>
                <a:latin typeface="Arial"/>
                <a:ea typeface="Arial"/>
                <a:cs typeface="Arial"/>
              </a:defRPr>
            </a:lvl1pPr>
            <a:lvl2pPr algn="l">
              <a:defRPr sz="1950" b="1">
                <a:solidFill>
                  <a:srgbClr val="087F8B"/>
                </a:solidFill>
                <a:latin typeface="Arial"/>
                <a:ea typeface="Arial"/>
                <a:cs typeface="Arial"/>
              </a:defRPr>
            </a:lvl2pPr>
            <a:lvl3pPr algn="l">
              <a:defRPr sz="1950" b="1">
                <a:solidFill>
                  <a:srgbClr val="087F8B"/>
                </a:solidFill>
                <a:latin typeface="Arial"/>
                <a:ea typeface="Arial"/>
                <a:cs typeface="Arial"/>
              </a:defRPr>
            </a:lvl3pPr>
            <a:lvl4pPr algn="l">
              <a:defRPr sz="1950" b="1">
                <a:solidFill>
                  <a:srgbClr val="087F8B"/>
                </a:solidFill>
                <a:latin typeface="Arial"/>
                <a:ea typeface="Arial"/>
                <a:cs typeface="Arial"/>
              </a:defRPr>
            </a:lvl4pPr>
            <a:lvl5pPr algn="l">
              <a:defRPr sz="1950" b="1">
                <a:solidFill>
                  <a:srgbClr val="087F8B"/>
                </a:solidFill>
                <a:latin typeface="Arial"/>
                <a:ea typeface="Arial"/>
                <a:cs typeface="Arial"/>
              </a:defRPr>
            </a:lvl5pPr>
            <a:lvl6pPr algn="l">
              <a:defRPr sz="1950" b="1">
                <a:solidFill>
                  <a:srgbClr val="087F8B"/>
                </a:solidFill>
                <a:latin typeface="Arial"/>
                <a:ea typeface="Arial"/>
                <a:cs typeface="Arial"/>
              </a:defRPr>
            </a:lvl6pPr>
            <a:lvl7pPr algn="l">
              <a:defRPr sz="1950" b="1">
                <a:solidFill>
                  <a:srgbClr val="087F8B"/>
                </a:solidFill>
                <a:latin typeface="Arial"/>
                <a:ea typeface="Arial"/>
                <a:cs typeface="Arial"/>
              </a:defRPr>
            </a:lvl7pPr>
            <a:lvl8pPr algn="l">
              <a:defRPr sz="1950" b="1">
                <a:solidFill>
                  <a:srgbClr val="087F8B"/>
                </a:solidFill>
                <a:latin typeface="Arial"/>
                <a:ea typeface="Arial"/>
                <a:cs typeface="Arial"/>
              </a:defRPr>
            </a:lvl8pPr>
            <a:lvl9pPr algn="l">
              <a:defRPr sz="1950" b="1">
                <a:solidFill>
                  <a:srgbClr val="087F8B"/>
                </a:solidFill>
                <a:latin typeface="Arial"/>
                <a:ea typeface="Arial"/>
                <a:cs typeface="Arial"/>
              </a:defRPr>
            </a:lvl9pPr>
          </a:lstStyle>
          <a:p xmlns:a="http://schemas.openxmlformats.org/drawingml/2006/main">
            <a:pPr algn="l">
              <a:defRPr sz="1950" b="1">
                <a:solidFill>
                  <a:srgbClr val="087F8B"/>
                </a:solidFill>
                <a:latin typeface="Arial"/>
                <a:ea typeface="Arial"/>
                <a:cs typeface="Arial"/>
              </a:defRPr>
            </a:pPr>
            <a:r>
              <a:rPr sz="1950" b="1">
                <a:solidFill>
                  <a:srgbClr val="087F8B"/>
                </a:solidFill>
                <a:latin typeface="Arial"/>
                <a:ea typeface="Arial"/>
                <a:cs typeface="Arial"/>
              </a:rPr>
              <a:t>Selected observation</a:t>
            </a:r>
          </a:p>
        </p:txBody>
      </p:sp>
      <p:sp>
        <p:nvSpPr>
          <p:cNvPr id="8" name="Amazon SPARX  ₹649">
            <a:extLst xmlns:a="http://schemas.openxmlformats.org/drawingml/2006/main">
              <a:ext uri="{FF2B5EF4-FFF2-40B4-BE49-F238E27FC236}">
                <a16:creationId xmlns:a16="http://schemas.microsoft.com/office/drawing/2014/main" id="{052EAADF-72C6-4B9A-855E-2C52A485C3A4}"/>
              </a:ext>
            </a:extLst>
          </p:cNvPr>
          <p:cNvSpPr>
            <a:spLocks xmlns:a="http://schemas.openxmlformats.org/drawingml/2006/main" noGrp="1"/>
          </p:cNvSpPr>
          <p:nvPr/>
        </p:nvSpPr>
        <p:spPr>
          <a:xfrm xmlns:a="http://schemas.openxmlformats.org/drawingml/2006/main">
            <a:off x="6553200" y="328612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9191C"/>
                </a:solidFill>
                <a:latin typeface="Arial"/>
                <a:ea typeface="Arial"/>
                <a:cs typeface="Arial"/>
              </a:defRPr>
            </a:defPPr>
            <a:lvl1pPr algn="l">
              <a:defRPr sz="2850" b="1">
                <a:solidFill>
                  <a:srgbClr val="19191C"/>
                </a:solidFill>
                <a:latin typeface="Arial"/>
                <a:ea typeface="Arial"/>
                <a:cs typeface="Arial"/>
              </a:defRPr>
            </a:lvl1pPr>
            <a:lvl2pPr algn="l">
              <a:defRPr sz="2850" b="1">
                <a:solidFill>
                  <a:srgbClr val="19191C"/>
                </a:solidFill>
                <a:latin typeface="Arial"/>
                <a:ea typeface="Arial"/>
                <a:cs typeface="Arial"/>
              </a:defRPr>
            </a:lvl2pPr>
            <a:lvl3pPr algn="l">
              <a:defRPr sz="2850" b="1">
                <a:solidFill>
                  <a:srgbClr val="19191C"/>
                </a:solidFill>
                <a:latin typeface="Arial"/>
                <a:ea typeface="Arial"/>
                <a:cs typeface="Arial"/>
              </a:defRPr>
            </a:lvl3pPr>
            <a:lvl4pPr algn="l">
              <a:defRPr sz="2850" b="1">
                <a:solidFill>
                  <a:srgbClr val="19191C"/>
                </a:solidFill>
                <a:latin typeface="Arial"/>
                <a:ea typeface="Arial"/>
                <a:cs typeface="Arial"/>
              </a:defRPr>
            </a:lvl4pPr>
            <a:lvl5pPr algn="l">
              <a:defRPr sz="2850" b="1">
                <a:solidFill>
                  <a:srgbClr val="19191C"/>
                </a:solidFill>
                <a:latin typeface="Arial"/>
                <a:ea typeface="Arial"/>
                <a:cs typeface="Arial"/>
              </a:defRPr>
            </a:lvl5pPr>
            <a:lvl6pPr algn="l">
              <a:defRPr sz="2850" b="1">
                <a:solidFill>
                  <a:srgbClr val="19191C"/>
                </a:solidFill>
                <a:latin typeface="Arial"/>
                <a:ea typeface="Arial"/>
                <a:cs typeface="Arial"/>
              </a:defRPr>
            </a:lvl6pPr>
            <a:lvl7pPr algn="l">
              <a:defRPr sz="2850" b="1">
                <a:solidFill>
                  <a:srgbClr val="19191C"/>
                </a:solidFill>
                <a:latin typeface="Arial"/>
                <a:ea typeface="Arial"/>
                <a:cs typeface="Arial"/>
              </a:defRPr>
            </a:lvl7pPr>
            <a:lvl8pPr algn="l">
              <a:defRPr sz="2850" b="1">
                <a:solidFill>
                  <a:srgbClr val="19191C"/>
                </a:solidFill>
                <a:latin typeface="Arial"/>
                <a:ea typeface="Arial"/>
                <a:cs typeface="Arial"/>
              </a:defRPr>
            </a:lvl8pPr>
            <a:lvl9pPr algn="l">
              <a:defRPr sz="2850" b="1">
                <a:solidFill>
                  <a:srgbClr val="19191C"/>
                </a:solidFill>
                <a:latin typeface="Arial"/>
                <a:ea typeface="Arial"/>
                <a:cs typeface="Arial"/>
              </a:defRPr>
            </a:lvl9pPr>
          </a:lstStyle>
          <a:p xmlns:a="http://schemas.openxmlformats.org/drawingml/2006/main">
            <a:pPr algn="l">
              <a:defRPr sz="2850" b="1">
                <a:solidFill>
                  <a:srgbClr val="19191C"/>
                </a:solidFill>
                <a:latin typeface="Arial"/>
                <a:ea typeface="Arial"/>
                <a:cs typeface="Arial"/>
              </a:defRPr>
            </a:pPr>
            <a:r>
              <a:rPr sz="2850" b="1">
                <a:solidFill>
                  <a:srgbClr val="19191C"/>
                </a:solidFill>
                <a:latin typeface="Arial"/>
                <a:ea typeface="Arial"/>
                <a:cs typeface="Arial"/>
              </a:rPr>
              <a:t>Amazon SPARX  ₹649</a:t>
            </a:r>
          </a:p>
        </p:txBody>
      </p:sp>
      <p:sp>
        <p:nvSpPr>
          <p:cNvPr id="9" name="Unverified: size, stock,&#10;delivery, and returns">
            <a:extLst xmlns:a="http://schemas.openxmlformats.org/drawingml/2006/main">
              <a:ext uri="{FF2B5EF4-FFF2-40B4-BE49-F238E27FC236}">
                <a16:creationId xmlns:a16="http://schemas.microsoft.com/office/drawing/2014/main" id="{865A39F2-4CCB-43E3-B535-2DA09EB25892}"/>
              </a:ext>
            </a:extLst>
          </p:cNvPr>
          <p:cNvSpPr>
            <a:spLocks xmlns:a="http://schemas.openxmlformats.org/drawingml/2006/main" noGrp="1"/>
          </p:cNvSpPr>
          <p:nvPr/>
        </p:nvSpPr>
        <p:spPr>
          <a:xfrm xmlns:a="http://schemas.openxmlformats.org/drawingml/2006/main">
            <a:off x="6553200" y="4095750"/>
            <a:ext cx="5029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Unverified: size, stock,</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delivery, and returns</a:t>
            </a:r>
          </a:p>
        </p:txBody>
      </p:sp>
      <p:sp>
        <p:nvSpPr>
          <p:cNvPr id="10" name="Validation checks URL, allowed host, observed price, budget, and ">
            <a:extLst xmlns:a="http://schemas.openxmlformats.org/drawingml/2006/main">
              <a:ext uri="{FF2B5EF4-FFF2-40B4-BE49-F238E27FC236}">
                <a16:creationId xmlns:a16="http://schemas.microsoft.com/office/drawing/2014/main" id="{B3F11CBC-CBA8-4B1F-9E62-27E03D8B698E}"/>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Validation checks URL, allowed host, observed price, budget, and observation age.</a:t>
            </a:r>
          </a:p>
        </p:txBody>
      </p:sp>
    </p:spTree>
    <p:extLst>
      <p:ext uri="{BB962C8B-B14F-4D97-AF65-F5344CB8AC3E}">
        <p14:creationId xmlns:p14="http://schemas.microsoft.com/office/powerpoint/2010/main" val="960822104"/>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RECOMMENDED WORKFLOW EXTENSION">
            <a:extLst xmlns:a="http://schemas.openxmlformats.org/drawingml/2006/main">
              <a:ext uri="{FF2B5EF4-FFF2-40B4-BE49-F238E27FC236}">
                <a16:creationId xmlns:a16="http://schemas.microsoft.com/office/drawing/2014/main" id="{0BB3D7A7-2544-49EE-8946-CA9A1E8723EE}"/>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RECOMMENDED WORKFLOW EXTENSION</a:t>
            </a:r>
          </a:p>
        </p:txBody>
      </p:sp>
      <p:sp>
        <p:nvSpPr>
          <p:cNvPr id="2" name="14">
            <a:extLst xmlns:a="http://schemas.openxmlformats.org/drawingml/2006/main">
              <a:ext uri="{FF2B5EF4-FFF2-40B4-BE49-F238E27FC236}">
                <a16:creationId xmlns:a16="http://schemas.microsoft.com/office/drawing/2014/main" id="{01D44DE3-C16C-49DD-AFA4-7F9590515B9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14</a:t>
            </a:r>
          </a:p>
        </p:txBody>
      </p:sp>
      <p:sp>
        <p:nvSpPr>
          <p:cNvPr id="3" name="Approval requires fresh, scoped evidence">
            <a:extLst xmlns:a="http://schemas.openxmlformats.org/drawingml/2006/main">
              <a:ext uri="{FF2B5EF4-FFF2-40B4-BE49-F238E27FC236}">
                <a16:creationId xmlns:a16="http://schemas.microsoft.com/office/drawing/2014/main" id="{768EF670-711E-49DC-8F4C-A16BFDA4D92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Approval requires fresh, scoped evidence</a:t>
            </a:r>
          </a:p>
        </p:txBody>
      </p:sp>
      <p:sp>
        <p:nvSpPr>
          <p:cNvPr id="4" name="Approval binds to the exact proposal. Expired evidence requires a">
            <a:extLst xmlns:a="http://schemas.openxmlformats.org/drawingml/2006/main">
              <a:ext uri="{FF2B5EF4-FFF2-40B4-BE49-F238E27FC236}">
                <a16:creationId xmlns:a16="http://schemas.microsoft.com/office/drawing/2014/main" id="{B2E20A5A-A99B-4597-BA81-89FC30C5723A}"/>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Approval binds to the exact proposal. Expired evidence requires a new decision.</a:t>
            </a:r>
          </a:p>
        </p:txBody>
      </p:sp>
      <p:sp>
        <p:nvSpPr>
          <p:cNvPr id="5" name="Validate required&#10;claims">
            <a:extLst xmlns:a="http://schemas.openxmlformats.org/drawingml/2006/main">
              <a:ext uri="{FF2B5EF4-FFF2-40B4-BE49-F238E27FC236}">
                <a16:creationId xmlns:a16="http://schemas.microsoft.com/office/drawing/2014/main" id="{C10FEE58-4913-4B52-8D51-8D7E8080C9C9}"/>
              </a:ext>
            </a:extLst>
          </p:cNvPr>
          <p:cNvSpPr>
            <a:spLocks xmlns:a="http://schemas.openxmlformats.org/drawingml/2006/main" noGrp="1"/>
          </p:cNvSpPr>
          <p:nvPr/>
        </p:nvSpPr>
        <p:spPr>
          <a:xfrm xmlns:a="http://schemas.openxmlformats.org/drawingml/2006/main">
            <a:off x="60960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Validate required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claims</a:t>
            </a:r>
          </a:p>
        </p:txBody>
      </p:sp>
      <p:sp>
        <p:nvSpPr>
          <p:cNvPr id="6" name="Human&#10;approval">
            <a:extLst xmlns:a="http://schemas.openxmlformats.org/drawingml/2006/main">
              <a:ext uri="{FF2B5EF4-FFF2-40B4-BE49-F238E27FC236}">
                <a16:creationId xmlns:a16="http://schemas.microsoft.com/office/drawing/2014/main" id="{D02C7DD6-30E3-459A-8E1D-6EF5BED7E034}"/>
              </a:ext>
            </a:extLst>
          </p:cNvPr>
          <p:cNvSpPr>
            <a:spLocks xmlns:a="http://schemas.openxmlformats.org/drawingml/2006/main" noGrp="1"/>
          </p:cNvSpPr>
          <p:nvPr/>
        </p:nvSpPr>
        <p:spPr>
          <a:xfrm xmlns:a="http://schemas.openxmlformats.org/drawingml/2006/main">
            <a:off x="3476625"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Human</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approval</a:t>
            </a:r>
          </a:p>
        </p:txBody>
      </p:sp>
      <p:sp>
        <p:nvSpPr>
          <p:cNvPr id="7" name="Recheck&#10;age + identity">
            <a:extLst xmlns:a="http://schemas.openxmlformats.org/drawingml/2006/main">
              <a:ext uri="{FF2B5EF4-FFF2-40B4-BE49-F238E27FC236}">
                <a16:creationId xmlns:a16="http://schemas.microsoft.com/office/drawing/2014/main" id="{3594698D-8340-46D9-B148-7E09B2ABF261}"/>
              </a:ext>
            </a:extLst>
          </p:cNvPr>
          <p:cNvSpPr>
            <a:spLocks xmlns:a="http://schemas.openxmlformats.org/drawingml/2006/main" noGrp="1"/>
          </p:cNvSpPr>
          <p:nvPr/>
        </p:nvSpPr>
        <p:spPr>
          <a:xfrm xmlns:a="http://schemas.openxmlformats.org/drawingml/2006/main">
            <a:off x="634365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Recheck</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age + identity</a:t>
            </a:r>
          </a:p>
        </p:txBody>
      </p:sp>
      <p:sp>
        <p:nvSpPr>
          <p:cNvPr id="8" name="Simulated&#10;action">
            <a:extLst xmlns:a="http://schemas.openxmlformats.org/drawingml/2006/main">
              <a:ext uri="{FF2B5EF4-FFF2-40B4-BE49-F238E27FC236}">
                <a16:creationId xmlns:a16="http://schemas.microsoft.com/office/drawing/2014/main" id="{67046D6F-BB7B-42B3-9B5A-464CBB0137F7}"/>
              </a:ext>
            </a:extLst>
          </p:cNvPr>
          <p:cNvSpPr>
            <a:spLocks xmlns:a="http://schemas.openxmlformats.org/drawingml/2006/main" noGrp="1"/>
          </p:cNvSpPr>
          <p:nvPr/>
        </p:nvSpPr>
        <p:spPr>
          <a:xfrm xmlns:a="http://schemas.openxmlformats.org/drawingml/2006/main">
            <a:off x="9210675" y="2790825"/>
            <a:ext cx="237172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Simulated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action</a:t>
            </a:r>
          </a:p>
        </p:txBody>
      </p:sp>
      <p:cxnSp>
        <p:nvCxnSpPr>
          <p:cNvPr id="9" name="">
            <a:extLst xmlns:a="http://schemas.openxmlformats.org/drawingml/2006/main">
              <a:ext uri="{FF2B5EF4-FFF2-40B4-BE49-F238E27FC236}">
                <a16:creationId xmlns:a16="http://schemas.microsoft.com/office/drawing/2014/main" id="{91EE6CEE-6AAA-4A4B-94BF-DF110C0C54D7}"/>
              </a:ext>
            </a:extLst>
          </p:cNvPr>
          <p:cNvCxnSpPr/>
          <p:nvPr/>
        </p:nvCxnSpPr>
        <p:spPr>
          <a:xfrm xmlns:a="http://schemas.openxmlformats.org/drawingml/2006/main" flipH="0" flipV="0">
            <a:off x="2847975" y="3243263"/>
            <a:ext cx="628650"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10" name="">
            <a:extLst xmlns:a="http://schemas.openxmlformats.org/drawingml/2006/main">
              <a:ext uri="{FF2B5EF4-FFF2-40B4-BE49-F238E27FC236}">
                <a16:creationId xmlns:a16="http://schemas.microsoft.com/office/drawing/2014/main" id="{1A6C7F57-27A0-4574-BC5B-962E52F912C4}"/>
              </a:ext>
            </a:extLst>
          </p:cNvPr>
          <p:cNvCxnSpPr/>
          <p:nvPr/>
        </p:nvCxnSpPr>
        <p:spPr>
          <a:xfrm xmlns:a="http://schemas.openxmlformats.org/drawingml/2006/main" flipH="0" flipV="0">
            <a:off x="5715000" y="3243263"/>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1" name="">
            <a:extLst xmlns:a="http://schemas.openxmlformats.org/drawingml/2006/main">
              <a:ext uri="{FF2B5EF4-FFF2-40B4-BE49-F238E27FC236}">
                <a16:creationId xmlns:a16="http://schemas.microsoft.com/office/drawing/2014/main" id="{BE9ABD97-EF6F-407C-934F-E8C0640C5A75}"/>
              </a:ext>
            </a:extLst>
          </p:cNvPr>
          <p:cNvCxnSpPr/>
          <p:nvPr/>
        </p:nvCxnSpPr>
        <p:spPr>
          <a:xfrm xmlns:a="http://schemas.openxmlformats.org/drawingml/2006/main" flipH="0" flipV="0">
            <a:off x="8582025" y="3243263"/>
            <a:ext cx="628650"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2" name="STOP / REVIEW">
            <a:extLst xmlns:a="http://schemas.openxmlformats.org/drawingml/2006/main">
              <a:ext uri="{FF2B5EF4-FFF2-40B4-BE49-F238E27FC236}">
                <a16:creationId xmlns:a16="http://schemas.microsoft.com/office/drawing/2014/main" id="{9A3A4B19-6DB3-47B1-BC92-EC5C0295C398}"/>
              </a:ext>
            </a:extLst>
          </p:cNvPr>
          <p:cNvSpPr>
            <a:spLocks xmlns:a="http://schemas.openxmlformats.org/drawingml/2006/main" noGrp="1"/>
          </p:cNvSpPr>
          <p:nvPr/>
        </p:nvSpPr>
        <p:spPr>
          <a:xfrm xmlns:a="http://schemas.openxmlformats.org/drawingml/2006/main">
            <a:off x="609600" y="42291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A3333"/>
                </a:solidFill>
                <a:latin typeface="Arial"/>
                <a:ea typeface="Arial"/>
                <a:cs typeface="Arial"/>
              </a:defRPr>
            </a:defPPr>
            <a:lvl1pPr algn="l">
              <a:defRPr sz="2025" b="1">
                <a:solidFill>
                  <a:srgbClr val="BA3333"/>
                </a:solidFill>
                <a:latin typeface="Arial"/>
                <a:ea typeface="Arial"/>
                <a:cs typeface="Arial"/>
              </a:defRPr>
            </a:lvl1pPr>
            <a:lvl2pPr algn="l">
              <a:defRPr sz="2025" b="1">
                <a:solidFill>
                  <a:srgbClr val="BA3333"/>
                </a:solidFill>
                <a:latin typeface="Arial"/>
                <a:ea typeface="Arial"/>
                <a:cs typeface="Arial"/>
              </a:defRPr>
            </a:lvl2pPr>
            <a:lvl3pPr algn="l">
              <a:defRPr sz="2025" b="1">
                <a:solidFill>
                  <a:srgbClr val="BA3333"/>
                </a:solidFill>
                <a:latin typeface="Arial"/>
                <a:ea typeface="Arial"/>
                <a:cs typeface="Arial"/>
              </a:defRPr>
            </a:lvl3pPr>
            <a:lvl4pPr algn="l">
              <a:defRPr sz="2025" b="1">
                <a:solidFill>
                  <a:srgbClr val="BA3333"/>
                </a:solidFill>
                <a:latin typeface="Arial"/>
                <a:ea typeface="Arial"/>
                <a:cs typeface="Arial"/>
              </a:defRPr>
            </a:lvl4pPr>
            <a:lvl5pPr algn="l">
              <a:defRPr sz="2025" b="1">
                <a:solidFill>
                  <a:srgbClr val="BA3333"/>
                </a:solidFill>
                <a:latin typeface="Arial"/>
                <a:ea typeface="Arial"/>
                <a:cs typeface="Arial"/>
              </a:defRPr>
            </a:lvl5pPr>
            <a:lvl6pPr algn="l">
              <a:defRPr sz="2025" b="1">
                <a:solidFill>
                  <a:srgbClr val="BA3333"/>
                </a:solidFill>
                <a:latin typeface="Arial"/>
                <a:ea typeface="Arial"/>
                <a:cs typeface="Arial"/>
              </a:defRPr>
            </a:lvl6pPr>
            <a:lvl7pPr algn="l">
              <a:defRPr sz="2025" b="1">
                <a:solidFill>
                  <a:srgbClr val="BA3333"/>
                </a:solidFill>
                <a:latin typeface="Arial"/>
                <a:ea typeface="Arial"/>
                <a:cs typeface="Arial"/>
              </a:defRPr>
            </a:lvl7pPr>
            <a:lvl8pPr algn="l">
              <a:defRPr sz="2025" b="1">
                <a:solidFill>
                  <a:srgbClr val="BA3333"/>
                </a:solidFill>
                <a:latin typeface="Arial"/>
                <a:ea typeface="Arial"/>
                <a:cs typeface="Arial"/>
              </a:defRPr>
            </a:lvl8pPr>
            <a:lvl9pPr algn="l">
              <a:defRPr sz="2025" b="1">
                <a:solidFill>
                  <a:srgbClr val="BA3333"/>
                </a:solidFill>
                <a:latin typeface="Arial"/>
                <a:ea typeface="Arial"/>
                <a:cs typeface="Arial"/>
              </a:defRPr>
            </a:lvl9pPr>
          </a:lstStyle>
          <a:p xmlns:a="http://schemas.openxmlformats.org/drawingml/2006/main">
            <a:pPr algn="l">
              <a:defRPr sz="2025" b="1">
                <a:solidFill>
                  <a:srgbClr val="BA3333"/>
                </a:solidFill>
                <a:latin typeface="Arial"/>
                <a:ea typeface="Arial"/>
                <a:cs typeface="Arial"/>
              </a:defRPr>
            </a:pPr>
            <a:r>
              <a:rPr sz="2025" b="1">
                <a:solidFill>
                  <a:srgbClr val="BA3333"/>
                </a:solidFill>
                <a:latin typeface="Arial"/>
                <a:ea typeface="Arial"/>
                <a:cs typeface="Arial"/>
              </a:rPr>
              <a:t>STOP / REVIEW</a:t>
            </a:r>
          </a:p>
        </p:txBody>
      </p:sp>
      <p:sp>
        <p:nvSpPr>
          <p:cNvPr id="13" name="Failed required claim, cancel, timeout, or adapter error">
            <a:extLst xmlns:a="http://schemas.openxmlformats.org/drawingml/2006/main">
              <a:ext uri="{FF2B5EF4-FFF2-40B4-BE49-F238E27FC236}">
                <a16:creationId xmlns:a16="http://schemas.microsoft.com/office/drawing/2014/main" id="{5D3782BA-FD5E-483A-9CD6-CF23D8C4D420}"/>
              </a:ext>
            </a:extLst>
          </p:cNvPr>
          <p:cNvSpPr>
            <a:spLocks xmlns:a="http://schemas.openxmlformats.org/drawingml/2006/main" noGrp="1"/>
          </p:cNvSpPr>
          <p:nvPr/>
        </p:nvSpPr>
        <p:spPr>
          <a:xfrm xmlns:a="http://schemas.openxmlformats.org/drawingml/2006/main">
            <a:off x="4095750" y="42291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Failed required claim, cancel, timeout, or adapter error</a:t>
            </a:r>
          </a:p>
        </p:txBody>
      </p:sp>
      <p:sp>
        <p:nvSpPr>
          <p:cNvPr id="14" name="REFRESH + REAPPROVE">
            <a:extLst xmlns:a="http://schemas.openxmlformats.org/drawingml/2006/main">
              <a:ext uri="{FF2B5EF4-FFF2-40B4-BE49-F238E27FC236}">
                <a16:creationId xmlns:a16="http://schemas.microsoft.com/office/drawing/2014/main" id="{5454C074-09E6-4DB4-91B6-1D0A280505B7}"/>
              </a:ext>
            </a:extLst>
          </p:cNvPr>
          <p:cNvSpPr>
            <a:spLocks xmlns:a="http://schemas.openxmlformats.org/drawingml/2006/main" noGrp="1"/>
          </p:cNvSpPr>
          <p:nvPr/>
        </p:nvSpPr>
        <p:spPr>
          <a:xfrm xmlns:a="http://schemas.openxmlformats.org/drawingml/2006/main">
            <a:off x="609600" y="51054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6D5CE7"/>
                </a:solidFill>
                <a:latin typeface="Arial"/>
                <a:ea typeface="Arial"/>
                <a:cs typeface="Arial"/>
              </a:defRPr>
            </a:defPPr>
            <a:lvl1pPr algn="l">
              <a:defRPr sz="1950" b="1">
                <a:solidFill>
                  <a:srgbClr val="6D5CE7"/>
                </a:solidFill>
                <a:latin typeface="Arial"/>
                <a:ea typeface="Arial"/>
                <a:cs typeface="Arial"/>
              </a:defRPr>
            </a:lvl1pPr>
            <a:lvl2pPr algn="l">
              <a:defRPr sz="1950" b="1">
                <a:solidFill>
                  <a:srgbClr val="6D5CE7"/>
                </a:solidFill>
                <a:latin typeface="Arial"/>
                <a:ea typeface="Arial"/>
                <a:cs typeface="Arial"/>
              </a:defRPr>
            </a:lvl2pPr>
            <a:lvl3pPr algn="l">
              <a:defRPr sz="1950" b="1">
                <a:solidFill>
                  <a:srgbClr val="6D5CE7"/>
                </a:solidFill>
                <a:latin typeface="Arial"/>
                <a:ea typeface="Arial"/>
                <a:cs typeface="Arial"/>
              </a:defRPr>
            </a:lvl3pPr>
            <a:lvl4pPr algn="l">
              <a:defRPr sz="1950" b="1">
                <a:solidFill>
                  <a:srgbClr val="6D5CE7"/>
                </a:solidFill>
                <a:latin typeface="Arial"/>
                <a:ea typeface="Arial"/>
                <a:cs typeface="Arial"/>
              </a:defRPr>
            </a:lvl4pPr>
            <a:lvl5pPr algn="l">
              <a:defRPr sz="1950" b="1">
                <a:solidFill>
                  <a:srgbClr val="6D5CE7"/>
                </a:solidFill>
                <a:latin typeface="Arial"/>
                <a:ea typeface="Arial"/>
                <a:cs typeface="Arial"/>
              </a:defRPr>
            </a:lvl5pPr>
            <a:lvl6pPr algn="l">
              <a:defRPr sz="1950" b="1">
                <a:solidFill>
                  <a:srgbClr val="6D5CE7"/>
                </a:solidFill>
                <a:latin typeface="Arial"/>
                <a:ea typeface="Arial"/>
                <a:cs typeface="Arial"/>
              </a:defRPr>
            </a:lvl6pPr>
            <a:lvl7pPr algn="l">
              <a:defRPr sz="1950" b="1">
                <a:solidFill>
                  <a:srgbClr val="6D5CE7"/>
                </a:solidFill>
                <a:latin typeface="Arial"/>
                <a:ea typeface="Arial"/>
                <a:cs typeface="Arial"/>
              </a:defRPr>
            </a:lvl7pPr>
            <a:lvl8pPr algn="l">
              <a:defRPr sz="1950" b="1">
                <a:solidFill>
                  <a:srgbClr val="6D5CE7"/>
                </a:solidFill>
                <a:latin typeface="Arial"/>
                <a:ea typeface="Arial"/>
                <a:cs typeface="Arial"/>
              </a:defRPr>
            </a:lvl8pPr>
            <a:lvl9pPr algn="l">
              <a:defRPr sz="1950" b="1">
                <a:solidFill>
                  <a:srgbClr val="6D5CE7"/>
                </a:solidFill>
                <a:latin typeface="Arial"/>
                <a:ea typeface="Arial"/>
                <a:cs typeface="Arial"/>
              </a:defRPr>
            </a:lvl9pPr>
          </a:lstStyle>
          <a:p xmlns:a="http://schemas.openxmlformats.org/drawingml/2006/main">
            <a:pPr algn="l">
              <a:defRPr sz="1950" b="1">
                <a:solidFill>
                  <a:srgbClr val="6D5CE7"/>
                </a:solidFill>
                <a:latin typeface="Arial"/>
                <a:ea typeface="Arial"/>
                <a:cs typeface="Arial"/>
              </a:defRPr>
            </a:pPr>
            <a:r>
              <a:rPr sz="1950" b="1">
                <a:solidFill>
                  <a:srgbClr val="6D5CE7"/>
                </a:solidFill>
                <a:latin typeface="Arial"/>
                <a:ea typeface="Arial"/>
                <a:cs typeface="Arial"/>
              </a:rPr>
              <a:t>REFRESH + REAPPROVE</a:t>
            </a:r>
          </a:p>
        </p:txBody>
      </p:sp>
      <p:sp>
        <p:nvSpPr>
          <p:cNvPr id="15" name="Evidence older than 15 minutes or a changed proposal">
            <a:extLst xmlns:a="http://schemas.openxmlformats.org/drawingml/2006/main">
              <a:ext uri="{FF2B5EF4-FFF2-40B4-BE49-F238E27FC236}">
                <a16:creationId xmlns:a16="http://schemas.microsoft.com/office/drawing/2014/main" id="{3AB57F3E-A625-405D-B232-7B4628B8F808}"/>
              </a:ext>
            </a:extLst>
          </p:cNvPr>
          <p:cNvSpPr>
            <a:spLocks xmlns:a="http://schemas.openxmlformats.org/drawingml/2006/main" noGrp="1"/>
          </p:cNvSpPr>
          <p:nvPr/>
        </p:nvSpPr>
        <p:spPr>
          <a:xfrm xmlns:a="http://schemas.openxmlformats.org/drawingml/2006/main">
            <a:off x="4095750" y="51054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Evidence older than 15 minutes or a changed proposal</a:t>
            </a:r>
          </a:p>
        </p:txBody>
      </p:sp>
      <p:sp>
        <p:nvSpPr>
          <p:cNvPr id="16" name="Target policy. An observed item price alone does not establish th">
            <a:extLst xmlns:a="http://schemas.openxmlformats.org/drawingml/2006/main">
              <a:ext uri="{FF2B5EF4-FFF2-40B4-BE49-F238E27FC236}">
                <a16:creationId xmlns:a16="http://schemas.microsoft.com/office/drawing/2014/main" id="{6A4F775C-00AE-47DC-85C8-65AE3A05F991}"/>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Target policy. An observed item price alone does not establish the checkout total, including fees.</a:t>
            </a:r>
          </a:p>
        </p:txBody>
      </p:sp>
    </p:spTree>
    <p:extLst>
      <p:ext uri="{BB962C8B-B14F-4D97-AF65-F5344CB8AC3E}">
        <p14:creationId xmlns:p14="http://schemas.microsoft.com/office/powerpoint/2010/main" val="130997756"/>
      </p:ext>
    </p:extLst>
  </p:cSld>
</p:sld>
</file>

<file path=ppt/slides/slide15.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8" name="TRANSFER TO SOFTWARE DELIVERY">
            <a:extLst xmlns:a="http://schemas.openxmlformats.org/drawingml/2006/main">
              <a:ext uri="{FF2B5EF4-FFF2-40B4-BE49-F238E27FC236}">
                <a16:creationId xmlns:a16="http://schemas.microsoft.com/office/drawing/2014/main" id="{8165FAE8-4E93-4E6A-A871-D24CE39AB3D5}"/>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TRANSFER TO SOFTWARE DELIVERY</a:t>
            </a:r>
          </a:p>
        </p:txBody>
      </p:sp>
      <p:sp>
        <p:nvSpPr>
          <p:cNvPr id="2" name="15">
            <a:extLst xmlns:a="http://schemas.openxmlformats.org/drawingml/2006/main">
              <a:ext uri="{FF2B5EF4-FFF2-40B4-BE49-F238E27FC236}">
                <a16:creationId xmlns:a16="http://schemas.microsoft.com/office/drawing/2014/main" id="{6362E275-98BA-473C-A74E-E4FA6FCC8D9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15</a:t>
            </a:r>
          </a:p>
        </p:txBody>
      </p:sp>
      <p:sp>
        <p:nvSpPr>
          <p:cNvPr id="3" name="Bounded review and repair">
            <a:extLst xmlns:a="http://schemas.openxmlformats.org/drawingml/2006/main">
              <a:ext uri="{FF2B5EF4-FFF2-40B4-BE49-F238E27FC236}">
                <a16:creationId xmlns:a16="http://schemas.microsoft.com/office/drawing/2014/main" id="{7F8EB009-B718-4B49-B8AC-51C62C5095EB}"/>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Bounded review and repair</a:t>
            </a:r>
          </a:p>
        </p:txBody>
      </p:sp>
      <p:sp>
        <p:nvSpPr>
          <p:cNvPr id="4" name="Conceptual pattern. Every gate has a stop path and every repair h">
            <a:extLst xmlns:a="http://schemas.openxmlformats.org/drawingml/2006/main">
              <a:ext uri="{FF2B5EF4-FFF2-40B4-BE49-F238E27FC236}">
                <a16:creationId xmlns:a16="http://schemas.microsoft.com/office/drawing/2014/main" id="{351BBE47-A2EC-46C8-BF81-8EF7CEF9E9DD}"/>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Conceptual pattern. Every gate has a stop path and every repair has an attempt limit.</a:t>
            </a:r>
          </a:p>
        </p:txBody>
      </p:sp>
      <p:sp>
        <p:nvSpPr>
          <p:cNvPr id="5" name="Plan + implement">
            <a:extLst xmlns:a="http://schemas.openxmlformats.org/drawingml/2006/main">
              <a:ext uri="{FF2B5EF4-FFF2-40B4-BE49-F238E27FC236}">
                <a16:creationId xmlns:a16="http://schemas.microsoft.com/office/drawing/2014/main" id="{618219AF-573C-4E47-A0A6-1A026662F8CD}"/>
              </a:ext>
            </a:extLst>
          </p:cNvPr>
          <p:cNvSpPr>
            <a:spLocks xmlns:a="http://schemas.openxmlformats.org/drawingml/2006/main" noGrp="1"/>
          </p:cNvSpPr>
          <p:nvPr/>
        </p:nvSpPr>
        <p:spPr>
          <a:xfrm xmlns:a="http://schemas.openxmlformats.org/drawingml/2006/main">
            <a:off x="60960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Plan + implement</a:t>
            </a:r>
          </a:p>
        </p:txBody>
      </p:sp>
      <p:sp>
        <p:nvSpPr>
          <p:cNvPr id="6" name="Review gates">
            <a:extLst xmlns:a="http://schemas.openxmlformats.org/drawingml/2006/main">
              <a:ext uri="{FF2B5EF4-FFF2-40B4-BE49-F238E27FC236}">
                <a16:creationId xmlns:a16="http://schemas.microsoft.com/office/drawing/2014/main" id="{2E8BD6D2-1A1F-4CD1-AA79-3558B07618DA}"/>
              </a:ext>
            </a:extLst>
          </p:cNvPr>
          <p:cNvSpPr>
            <a:spLocks xmlns:a="http://schemas.openxmlformats.org/drawingml/2006/main" noGrp="1"/>
          </p:cNvSpPr>
          <p:nvPr/>
        </p:nvSpPr>
        <p:spPr>
          <a:xfrm xmlns:a="http://schemas.openxmlformats.org/drawingml/2006/main">
            <a:off x="4619625"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Review gates</a:t>
            </a:r>
          </a:p>
        </p:txBody>
      </p:sp>
      <p:sp>
        <p:nvSpPr>
          <p:cNvPr id="7" name="Human approval">
            <a:extLst xmlns:a="http://schemas.openxmlformats.org/drawingml/2006/main">
              <a:ext uri="{FF2B5EF4-FFF2-40B4-BE49-F238E27FC236}">
                <a16:creationId xmlns:a16="http://schemas.microsoft.com/office/drawing/2014/main" id="{8E82B354-5E5B-4A73-AB48-1A24D9F67250}"/>
              </a:ext>
            </a:extLst>
          </p:cNvPr>
          <p:cNvSpPr>
            <a:spLocks xmlns:a="http://schemas.openxmlformats.org/drawingml/2006/main" noGrp="1"/>
          </p:cNvSpPr>
          <p:nvPr/>
        </p:nvSpPr>
        <p:spPr>
          <a:xfrm xmlns:a="http://schemas.openxmlformats.org/drawingml/2006/main">
            <a:off x="862965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 approval</a:t>
            </a:r>
          </a:p>
        </p:txBody>
      </p:sp>
      <p:cxnSp>
        <p:nvCxnSpPr>
          <p:cNvPr id="8" name="">
            <a:extLst xmlns:a="http://schemas.openxmlformats.org/drawingml/2006/main">
              <a:ext uri="{FF2B5EF4-FFF2-40B4-BE49-F238E27FC236}">
                <a16:creationId xmlns:a16="http://schemas.microsoft.com/office/drawing/2014/main" id="{158CEAC7-A239-4C03-B2D9-F064E2C8A1F8}"/>
              </a:ext>
            </a:extLst>
          </p:cNvPr>
          <p:cNvCxnSpPr/>
          <p:nvPr/>
        </p:nvCxnSpPr>
        <p:spPr>
          <a:xfrm xmlns:a="http://schemas.openxmlformats.org/drawingml/2006/main" flipH="0" flipV="0">
            <a:off x="3562350" y="3133725"/>
            <a:ext cx="10572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B6889F2D-4542-4961-B960-4E1419FBF338}"/>
              </a:ext>
            </a:extLst>
          </p:cNvPr>
          <p:cNvCxnSpPr/>
          <p:nvPr/>
        </p:nvCxnSpPr>
        <p:spPr>
          <a:xfrm xmlns:a="http://schemas.openxmlformats.org/drawingml/2006/main" flipH="0" flipV="0">
            <a:off x="7572375" y="3133725"/>
            <a:ext cx="1057275"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0" name="Scoped repair&#10;maximum 2 attempts">
            <a:extLst xmlns:a="http://schemas.openxmlformats.org/drawingml/2006/main">
              <a:ext uri="{FF2B5EF4-FFF2-40B4-BE49-F238E27FC236}">
                <a16:creationId xmlns:a16="http://schemas.microsoft.com/office/drawing/2014/main" id="{58E5D049-3B8F-4950-8844-9243AC50E8DE}"/>
              </a:ext>
            </a:extLst>
          </p:cNvPr>
          <p:cNvSpPr>
            <a:spLocks xmlns:a="http://schemas.openxmlformats.org/drawingml/2006/main" noGrp="1"/>
          </p:cNvSpPr>
          <p:nvPr/>
        </p:nvSpPr>
        <p:spPr>
          <a:xfrm xmlns:a="http://schemas.openxmlformats.org/drawingml/2006/main">
            <a:off x="4619625"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Scoped repair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maximum 2 attempts</a:t>
            </a:r>
          </a:p>
        </p:txBody>
      </p:sp>
      <p:sp>
        <p:nvSpPr>
          <p:cNvPr id="11" name="Stop + escalate&#10;exhausted / error / timeout">
            <a:extLst xmlns:a="http://schemas.openxmlformats.org/drawingml/2006/main">
              <a:ext uri="{FF2B5EF4-FFF2-40B4-BE49-F238E27FC236}">
                <a16:creationId xmlns:a16="http://schemas.microsoft.com/office/drawing/2014/main" id="{199779BD-B11A-4812-B699-D78DDA41A9BE}"/>
              </a:ext>
            </a:extLst>
          </p:cNvPr>
          <p:cNvSpPr>
            <a:spLocks xmlns:a="http://schemas.openxmlformats.org/drawingml/2006/main" noGrp="1"/>
          </p:cNvSpPr>
          <p:nvPr/>
        </p:nvSpPr>
        <p:spPr>
          <a:xfrm xmlns:a="http://schemas.openxmlformats.org/drawingml/2006/main">
            <a:off x="8629650"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Stop + escalate</a:t>
            </a:r>
          </a:p>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exhausted / error / timeout</a:t>
            </a:r>
          </a:p>
        </p:txBody>
      </p:sp>
      <p:cxnSp>
        <p:nvCxnSpPr>
          <p:cNvPr id="12" name="">
            <a:extLst xmlns:a="http://schemas.openxmlformats.org/drawingml/2006/main">
              <a:ext uri="{FF2B5EF4-FFF2-40B4-BE49-F238E27FC236}">
                <a16:creationId xmlns:a16="http://schemas.microsoft.com/office/drawing/2014/main" id="{CD916AB5-A813-42A9-BF2B-61E1F7F2EDC2}"/>
              </a:ext>
            </a:extLst>
          </p:cNvPr>
          <p:cNvCxnSpPr/>
          <p:nvPr/>
        </p:nvCxnSpPr>
        <p:spPr>
          <a:xfrm xmlns:a="http://schemas.openxmlformats.org/drawingml/2006/main" flipH="0" flipV="0">
            <a:off x="6096000" y="3552825"/>
            <a:ext cx="0" cy="981075"/>
          </a:xfrm>
          <a:prstGeom xmlns:a="http://schemas.openxmlformats.org/drawingml/2006/main" prst="straightConnector1">
            <a:avLst/>
          </a:prstGeom>
          <a:ln xmlns:a="http://schemas.openxmlformats.org/drawingml/2006/main" w="19050">
            <a:solidFill>
              <a:srgbClr val="BA3333"/>
            </a:solidFill>
            <a:tailEnd type="triangle" w="sm" len="sm"/>
          </a:ln>
        </p:spPr>
      </p:cxnSp>
      <p:cxnSp>
        <p:nvCxnSpPr>
          <p:cNvPr id="13" name="">
            <a:extLst xmlns:a="http://schemas.openxmlformats.org/drawingml/2006/main">
              <a:ext uri="{FF2B5EF4-FFF2-40B4-BE49-F238E27FC236}">
                <a16:creationId xmlns:a16="http://schemas.microsoft.com/office/drawing/2014/main" id="{760F36D4-9506-4123-88D6-E7C2612DE597}"/>
              </a:ext>
            </a:extLst>
          </p:cNvPr>
          <p:cNvCxnSpPr/>
          <p:nvPr/>
        </p:nvCxnSpPr>
        <p:spPr>
          <a:xfrm xmlns:a="http://schemas.openxmlformats.org/drawingml/2006/main" flipH="0" flipV="1">
            <a:off x="4619625" y="3133725"/>
            <a:ext cx="0" cy="1900238"/>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4" name="">
            <a:extLst xmlns:a="http://schemas.openxmlformats.org/drawingml/2006/main">
              <a:ext uri="{FF2B5EF4-FFF2-40B4-BE49-F238E27FC236}">
                <a16:creationId xmlns:a16="http://schemas.microsoft.com/office/drawing/2014/main" id="{36361C6F-C02B-45D5-8911-24896E2F282D}"/>
              </a:ext>
            </a:extLst>
          </p:cNvPr>
          <p:cNvCxnSpPr/>
          <p:nvPr/>
        </p:nvCxnSpPr>
        <p:spPr>
          <a:xfrm xmlns:a="http://schemas.openxmlformats.org/drawingml/2006/main" flipH="0" flipV="0">
            <a:off x="7572375" y="5033963"/>
            <a:ext cx="1057275" cy="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5" name="PASS: security, tests, quality">
            <a:extLst xmlns:a="http://schemas.openxmlformats.org/drawingml/2006/main">
              <a:ext uri="{FF2B5EF4-FFF2-40B4-BE49-F238E27FC236}">
                <a16:creationId xmlns:a16="http://schemas.microsoft.com/office/drawing/2014/main" id="{E1F585FB-EC23-49C8-A190-82F66662A40D}"/>
              </a:ext>
            </a:extLst>
          </p:cNvPr>
          <p:cNvSpPr>
            <a:spLocks xmlns:a="http://schemas.openxmlformats.org/drawingml/2006/main" noGrp="1"/>
          </p:cNvSpPr>
          <p:nvPr/>
        </p:nvSpPr>
        <p:spPr>
          <a:xfrm xmlns:a="http://schemas.openxmlformats.org/drawingml/2006/main">
            <a:off x="7543800" y="3724275"/>
            <a:ext cx="4038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8D47D"/>
                </a:solidFill>
                <a:latin typeface="Arial"/>
                <a:ea typeface="Arial"/>
                <a:cs typeface="Arial"/>
              </a:defRPr>
            </a:defPPr>
            <a:lvl1pPr algn="l">
              <a:defRPr sz="1650" b="1">
                <a:solidFill>
                  <a:srgbClr val="A8D47D"/>
                </a:solidFill>
                <a:latin typeface="Arial"/>
                <a:ea typeface="Arial"/>
                <a:cs typeface="Arial"/>
              </a:defRPr>
            </a:lvl1pPr>
            <a:lvl2pPr algn="l">
              <a:defRPr sz="1650" b="1">
                <a:solidFill>
                  <a:srgbClr val="A8D47D"/>
                </a:solidFill>
                <a:latin typeface="Arial"/>
                <a:ea typeface="Arial"/>
                <a:cs typeface="Arial"/>
              </a:defRPr>
            </a:lvl2pPr>
            <a:lvl3pPr algn="l">
              <a:defRPr sz="1650" b="1">
                <a:solidFill>
                  <a:srgbClr val="A8D47D"/>
                </a:solidFill>
                <a:latin typeface="Arial"/>
                <a:ea typeface="Arial"/>
                <a:cs typeface="Arial"/>
              </a:defRPr>
            </a:lvl3pPr>
            <a:lvl4pPr algn="l">
              <a:defRPr sz="1650" b="1">
                <a:solidFill>
                  <a:srgbClr val="A8D47D"/>
                </a:solidFill>
                <a:latin typeface="Arial"/>
                <a:ea typeface="Arial"/>
                <a:cs typeface="Arial"/>
              </a:defRPr>
            </a:lvl4pPr>
            <a:lvl5pPr algn="l">
              <a:defRPr sz="1650" b="1">
                <a:solidFill>
                  <a:srgbClr val="A8D47D"/>
                </a:solidFill>
                <a:latin typeface="Arial"/>
                <a:ea typeface="Arial"/>
                <a:cs typeface="Arial"/>
              </a:defRPr>
            </a:lvl5pPr>
            <a:lvl6pPr algn="l">
              <a:defRPr sz="1650" b="1">
                <a:solidFill>
                  <a:srgbClr val="A8D47D"/>
                </a:solidFill>
                <a:latin typeface="Arial"/>
                <a:ea typeface="Arial"/>
                <a:cs typeface="Arial"/>
              </a:defRPr>
            </a:lvl6pPr>
            <a:lvl7pPr algn="l">
              <a:defRPr sz="1650" b="1">
                <a:solidFill>
                  <a:srgbClr val="A8D47D"/>
                </a:solidFill>
                <a:latin typeface="Arial"/>
                <a:ea typeface="Arial"/>
                <a:cs typeface="Arial"/>
              </a:defRPr>
            </a:lvl7pPr>
            <a:lvl8pPr algn="l">
              <a:defRPr sz="1650" b="1">
                <a:solidFill>
                  <a:srgbClr val="A8D47D"/>
                </a:solidFill>
                <a:latin typeface="Arial"/>
                <a:ea typeface="Arial"/>
                <a:cs typeface="Arial"/>
              </a:defRPr>
            </a:lvl8pPr>
            <a:lvl9pPr algn="l">
              <a:defRPr sz="1650" b="1">
                <a:solidFill>
                  <a:srgbClr val="A8D47D"/>
                </a:solidFill>
                <a:latin typeface="Arial"/>
                <a:ea typeface="Arial"/>
                <a:cs typeface="Arial"/>
              </a:defRPr>
            </a:lvl9pPr>
          </a:lstStyle>
          <a:p xmlns:a="http://schemas.openxmlformats.org/drawingml/2006/main">
            <a:pPr algn="l">
              <a:defRPr sz="1650" b="1">
                <a:solidFill>
                  <a:srgbClr val="A8D47D"/>
                </a:solidFill>
                <a:latin typeface="Arial"/>
                <a:ea typeface="Arial"/>
                <a:cs typeface="Arial"/>
              </a:defRPr>
            </a:pPr>
            <a:r>
              <a:rPr sz="1650" b="1">
                <a:solidFill>
                  <a:srgbClr val="A8D47D"/>
                </a:solidFill>
                <a:latin typeface="Arial"/>
                <a:ea typeface="Arial"/>
                <a:cs typeface="Arial"/>
              </a:rPr>
              <a:t>PASS: security, tests, quality</a:t>
            </a:r>
          </a:p>
        </p:txBody>
      </p:sp>
      <p:sp>
        <p:nvSpPr>
          <p:cNvPr id="16" name="FAIL">
            <a:extLst xmlns:a="http://schemas.openxmlformats.org/drawingml/2006/main">
              <a:ext uri="{FF2B5EF4-FFF2-40B4-BE49-F238E27FC236}">
                <a16:creationId xmlns:a16="http://schemas.microsoft.com/office/drawing/2014/main" id="{5C77F93E-31D9-437A-8E6C-F53599973F2E}"/>
              </a:ext>
            </a:extLst>
          </p:cNvPr>
          <p:cNvSpPr>
            <a:spLocks xmlns:a="http://schemas.openxmlformats.org/drawingml/2006/main" noGrp="1"/>
          </p:cNvSpPr>
          <p:nvPr/>
        </p:nvSpPr>
        <p:spPr>
          <a:xfrm xmlns:a="http://schemas.openxmlformats.org/drawingml/2006/main">
            <a:off x="6334125" y="3962400"/>
            <a:ext cx="114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AB8E"/>
                </a:solidFill>
                <a:latin typeface="Arial"/>
                <a:ea typeface="Arial"/>
                <a:cs typeface="Arial"/>
              </a:defRPr>
            </a:defPPr>
            <a:lvl1pPr algn="l">
              <a:defRPr sz="1500" b="1">
                <a:solidFill>
                  <a:srgbClr val="FFAB8E"/>
                </a:solidFill>
                <a:latin typeface="Arial"/>
                <a:ea typeface="Arial"/>
                <a:cs typeface="Arial"/>
              </a:defRPr>
            </a:lvl1pPr>
            <a:lvl2pPr algn="l">
              <a:defRPr sz="1500" b="1">
                <a:solidFill>
                  <a:srgbClr val="FFAB8E"/>
                </a:solidFill>
                <a:latin typeface="Arial"/>
                <a:ea typeface="Arial"/>
                <a:cs typeface="Arial"/>
              </a:defRPr>
            </a:lvl2pPr>
            <a:lvl3pPr algn="l">
              <a:defRPr sz="1500" b="1">
                <a:solidFill>
                  <a:srgbClr val="FFAB8E"/>
                </a:solidFill>
                <a:latin typeface="Arial"/>
                <a:ea typeface="Arial"/>
                <a:cs typeface="Arial"/>
              </a:defRPr>
            </a:lvl3pPr>
            <a:lvl4pPr algn="l">
              <a:defRPr sz="1500" b="1">
                <a:solidFill>
                  <a:srgbClr val="FFAB8E"/>
                </a:solidFill>
                <a:latin typeface="Arial"/>
                <a:ea typeface="Arial"/>
                <a:cs typeface="Arial"/>
              </a:defRPr>
            </a:lvl4pPr>
            <a:lvl5pPr algn="l">
              <a:defRPr sz="1500" b="1">
                <a:solidFill>
                  <a:srgbClr val="FFAB8E"/>
                </a:solidFill>
                <a:latin typeface="Arial"/>
                <a:ea typeface="Arial"/>
                <a:cs typeface="Arial"/>
              </a:defRPr>
            </a:lvl5pPr>
            <a:lvl6pPr algn="l">
              <a:defRPr sz="1500" b="1">
                <a:solidFill>
                  <a:srgbClr val="FFAB8E"/>
                </a:solidFill>
                <a:latin typeface="Arial"/>
                <a:ea typeface="Arial"/>
                <a:cs typeface="Arial"/>
              </a:defRPr>
            </a:lvl6pPr>
            <a:lvl7pPr algn="l">
              <a:defRPr sz="1500" b="1">
                <a:solidFill>
                  <a:srgbClr val="FFAB8E"/>
                </a:solidFill>
                <a:latin typeface="Arial"/>
                <a:ea typeface="Arial"/>
                <a:cs typeface="Arial"/>
              </a:defRPr>
            </a:lvl7pPr>
            <a:lvl8pPr algn="l">
              <a:defRPr sz="1500" b="1">
                <a:solidFill>
                  <a:srgbClr val="FFAB8E"/>
                </a:solidFill>
                <a:latin typeface="Arial"/>
                <a:ea typeface="Arial"/>
                <a:cs typeface="Arial"/>
              </a:defRPr>
            </a:lvl8pPr>
            <a:lvl9pPr algn="l">
              <a:defRPr sz="1500" b="1">
                <a:solidFill>
                  <a:srgbClr val="FFAB8E"/>
                </a:solidFill>
                <a:latin typeface="Arial"/>
                <a:ea typeface="Arial"/>
                <a:cs typeface="Arial"/>
              </a:defRPr>
            </a:lvl9pPr>
          </a:lstStyle>
          <a:p xmlns:a="http://schemas.openxmlformats.org/drawingml/2006/main">
            <a:pPr algn="l">
              <a:defRPr sz="1500" b="1">
                <a:solidFill>
                  <a:srgbClr val="FFAB8E"/>
                </a:solidFill>
                <a:latin typeface="Arial"/>
                <a:ea typeface="Arial"/>
                <a:cs typeface="Arial"/>
              </a:defRPr>
            </a:pPr>
            <a:r>
              <a:rPr sz="1500" b="1">
                <a:solidFill>
                  <a:srgbClr val="FFAB8E"/>
                </a:solidFill>
                <a:latin typeface="Arial"/>
                <a:ea typeface="Arial"/>
                <a:cs typeface="Arial"/>
              </a:rPr>
              <a:t>FAIL</a:t>
            </a:r>
          </a:p>
        </p:txBody>
      </p:sp>
      <p:sp>
        <p:nvSpPr>
          <p:cNvPr id="17" name="Repair re-enters the failed gate. Error and timeout at any stage ">
            <a:extLst xmlns:a="http://schemas.openxmlformats.org/drawingml/2006/main">
              <a:ext uri="{FF2B5EF4-FFF2-40B4-BE49-F238E27FC236}">
                <a16:creationId xmlns:a16="http://schemas.microsoft.com/office/drawing/2014/main" id="{44B9FAEE-56C3-4ED1-A62F-D6E40A186E58}"/>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Repair re-enters the failed gate. Error and timeout at any stage stop the workflow.</a:t>
            </a:r>
          </a:p>
        </p:txBody>
      </p:sp>
    </p:spTree>
    <p:extLst>
      <p:ext uri="{BB962C8B-B14F-4D97-AF65-F5344CB8AC3E}">
        <p14:creationId xmlns:p14="http://schemas.microsoft.com/office/powerpoint/2010/main" val="1026766598"/>
      </p:ext>
    </p:extLst>
  </p:cSld>
</p:sld>
</file>

<file path=ppt/slides/slide1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ARCHITECTURE RULES">
            <a:extLst xmlns:a="http://schemas.openxmlformats.org/drawingml/2006/main">
              <a:ext uri="{FF2B5EF4-FFF2-40B4-BE49-F238E27FC236}">
                <a16:creationId xmlns:a16="http://schemas.microsoft.com/office/drawing/2014/main" id="{90B6327D-043E-4849-9C9F-FA2F9F32ABC1}"/>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RULES</a:t>
            </a:r>
          </a:p>
        </p:txBody>
      </p:sp>
      <p:sp>
        <p:nvSpPr>
          <p:cNvPr id="2" name="16">
            <a:extLst xmlns:a="http://schemas.openxmlformats.org/drawingml/2006/main">
              <a:ext uri="{FF2B5EF4-FFF2-40B4-BE49-F238E27FC236}">
                <a16:creationId xmlns:a16="http://schemas.microsoft.com/office/drawing/2014/main" id="{E64CEE66-852B-4D99-93C7-5C78B495FB6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16</a:t>
            </a:r>
          </a:p>
        </p:txBody>
      </p:sp>
      <p:sp>
        <p:nvSpPr>
          <p:cNvPr id="3" name="The engineering contract">
            <a:extLst xmlns:a="http://schemas.openxmlformats.org/drawingml/2006/main">
              <a:ext uri="{FF2B5EF4-FFF2-40B4-BE49-F238E27FC236}">
                <a16:creationId xmlns:a16="http://schemas.microsoft.com/office/drawing/2014/main" id="{AA465014-EB8C-49E7-A6A7-F9835D2AABF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engineering contract</a:t>
            </a:r>
          </a:p>
        </p:txBody>
      </p:sp>
      <p:sp>
        <p:nvSpPr>
          <p:cNvPr id="4" name="Bound each role">
            <a:extLst xmlns:a="http://schemas.openxmlformats.org/drawingml/2006/main">
              <a:ext uri="{FF2B5EF4-FFF2-40B4-BE49-F238E27FC236}">
                <a16:creationId xmlns:a16="http://schemas.microsoft.com/office/drawing/2014/main" id="{E9A9EFA7-DB5D-42B5-A355-9BCF196026BC}"/>
              </a:ext>
            </a:extLst>
          </p:cNvPr>
          <p:cNvSpPr>
            <a:spLocks xmlns:a="http://schemas.openxmlformats.org/drawingml/2006/main" noGrp="1"/>
          </p:cNvSpPr>
          <p:nvPr/>
        </p:nvSpPr>
        <p:spPr>
          <a:xfrm xmlns:a="http://schemas.openxmlformats.org/drawingml/2006/main">
            <a:off x="609600" y="26193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Bound each role</a:t>
            </a:r>
          </a:p>
        </p:txBody>
      </p:sp>
      <p:sp>
        <p:nvSpPr>
          <p:cNvPr id="5" name="Give each agent a clear job and scoped tools.">
            <a:extLst xmlns:a="http://schemas.openxmlformats.org/drawingml/2006/main">
              <a:ext uri="{FF2B5EF4-FFF2-40B4-BE49-F238E27FC236}">
                <a16:creationId xmlns:a16="http://schemas.microsoft.com/office/drawing/2014/main" id="{8A397CAD-EF7B-48E4-83E7-DE10768DFA17}"/>
              </a:ext>
            </a:extLst>
          </p:cNvPr>
          <p:cNvSpPr>
            <a:spLocks xmlns:a="http://schemas.openxmlformats.org/drawingml/2006/main" noGrp="1"/>
          </p:cNvSpPr>
          <p:nvPr/>
        </p:nvSpPr>
        <p:spPr>
          <a:xfrm xmlns:a="http://schemas.openxmlformats.org/drawingml/2006/main">
            <a:off x="4095750" y="26193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Give each agent a clear job and scoped tools.</a:t>
            </a:r>
          </a:p>
        </p:txBody>
      </p:sp>
      <p:sp>
        <p:nvSpPr>
          <p:cNvPr id="6" name="">
            <a:extLst xmlns:a="http://schemas.openxmlformats.org/drawingml/2006/main">
              <a:ext uri="{FF2B5EF4-FFF2-40B4-BE49-F238E27FC236}">
                <a16:creationId xmlns:a16="http://schemas.microsoft.com/office/drawing/2014/main" id="{630CCCC1-C010-4E4E-9877-83E887753903}"/>
              </a:ext>
            </a:extLst>
          </p:cNvPr>
          <p:cNvSpPr>
            <a:spLocks xmlns:a="http://schemas.openxmlformats.org/drawingml/2006/main" noGrp="1"/>
          </p:cNvSpPr>
          <p:nvPr/>
        </p:nvSpPr>
        <p:spPr>
          <a:xfrm xmlns:a="http://schemas.openxmlformats.org/drawingml/2006/main">
            <a:off x="609600" y="35814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7" name="Type each handoff">
            <a:extLst xmlns:a="http://schemas.openxmlformats.org/drawingml/2006/main">
              <a:ext uri="{FF2B5EF4-FFF2-40B4-BE49-F238E27FC236}">
                <a16:creationId xmlns:a16="http://schemas.microsoft.com/office/drawing/2014/main" id="{A68B08D4-91A9-4765-90E6-30002D9DCB78}"/>
              </a:ext>
            </a:extLst>
          </p:cNvPr>
          <p:cNvSpPr>
            <a:spLocks xmlns:a="http://schemas.openxmlformats.org/drawingml/2006/main" noGrp="1"/>
          </p:cNvSpPr>
          <p:nvPr/>
        </p:nvSpPr>
        <p:spPr>
          <a:xfrm xmlns:a="http://schemas.openxmlformats.org/drawingml/2006/main">
            <a:off x="609600" y="37242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Type each handoff</a:t>
            </a:r>
          </a:p>
        </p:txBody>
      </p:sp>
      <p:sp>
        <p:nvSpPr>
          <p:cNvPr id="8" name="Check structure, evidence, and required claims.">
            <a:extLst xmlns:a="http://schemas.openxmlformats.org/drawingml/2006/main">
              <a:ext uri="{FF2B5EF4-FFF2-40B4-BE49-F238E27FC236}">
                <a16:creationId xmlns:a16="http://schemas.microsoft.com/office/drawing/2014/main" id="{E136A7B7-6FCE-4212-9A62-DFC5C2C11910}"/>
              </a:ext>
            </a:extLst>
          </p:cNvPr>
          <p:cNvSpPr>
            <a:spLocks xmlns:a="http://schemas.openxmlformats.org/drawingml/2006/main" noGrp="1"/>
          </p:cNvSpPr>
          <p:nvPr/>
        </p:nvSpPr>
        <p:spPr>
          <a:xfrm xmlns:a="http://schemas.openxmlformats.org/drawingml/2006/main">
            <a:off x="4095750" y="37242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Check structure, evidence, and required claims.</a:t>
            </a:r>
          </a:p>
        </p:txBody>
      </p:sp>
      <p:sp>
        <p:nvSpPr>
          <p:cNvPr id="9" name="">
            <a:extLst xmlns:a="http://schemas.openxmlformats.org/drawingml/2006/main">
              <a:ext uri="{FF2B5EF4-FFF2-40B4-BE49-F238E27FC236}">
                <a16:creationId xmlns:a16="http://schemas.microsoft.com/office/drawing/2014/main" id="{3773B9E0-5278-44F5-A6D4-EABB5EE4967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0" name="Govern each action">
            <a:extLst xmlns:a="http://schemas.openxmlformats.org/drawingml/2006/main">
              <a:ext uri="{FF2B5EF4-FFF2-40B4-BE49-F238E27FC236}">
                <a16:creationId xmlns:a16="http://schemas.microsoft.com/office/drawing/2014/main" id="{E143FFAD-C691-4C68-B4D1-55F2D3C0BE26}"/>
              </a:ext>
            </a:extLst>
          </p:cNvPr>
          <p:cNvSpPr>
            <a:spLocks xmlns:a="http://schemas.openxmlformats.org/drawingml/2006/main" noGrp="1"/>
          </p:cNvSpPr>
          <p:nvPr/>
        </p:nvSpPr>
        <p:spPr>
          <a:xfrm xmlns:a="http://schemas.openxmlformats.org/drawingml/2006/main">
            <a:off x="609600" y="4829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Govern each action</a:t>
            </a:r>
          </a:p>
        </p:txBody>
      </p:sp>
      <p:sp>
        <p:nvSpPr>
          <p:cNvPr id="11" name="Persist state, stop failures, recheck, then authorize.">
            <a:extLst xmlns:a="http://schemas.openxmlformats.org/drawingml/2006/main">
              <a:ext uri="{FF2B5EF4-FFF2-40B4-BE49-F238E27FC236}">
                <a16:creationId xmlns:a16="http://schemas.microsoft.com/office/drawing/2014/main" id="{F80612A9-AA1B-4A1E-93E8-17AA9A6693D1}"/>
              </a:ext>
            </a:extLst>
          </p:cNvPr>
          <p:cNvSpPr>
            <a:spLocks xmlns:a="http://schemas.openxmlformats.org/drawingml/2006/main" noGrp="1"/>
          </p:cNvSpPr>
          <p:nvPr/>
        </p:nvSpPr>
        <p:spPr>
          <a:xfrm xmlns:a="http://schemas.openxmlformats.org/drawingml/2006/main">
            <a:off x="4095750" y="48291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Persist state, stop failures, recheck, then authorize.</a:t>
            </a:r>
          </a:p>
        </p:txBody>
      </p:sp>
      <p:sp>
        <p:nvSpPr>
          <p:cNvPr id="12" name="">
            <a:extLst xmlns:a="http://schemas.openxmlformats.org/drawingml/2006/main">
              <a:ext uri="{FF2B5EF4-FFF2-40B4-BE49-F238E27FC236}">
                <a16:creationId xmlns:a16="http://schemas.microsoft.com/office/drawing/2014/main" id="{EB0397B9-0046-431C-8067-7E7766FA1FE9}"/>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3" name="Model proposes. Code validates. Human authorizes. Workflow execut">
            <a:extLst xmlns:a="http://schemas.openxmlformats.org/drawingml/2006/main">
              <a:ext uri="{FF2B5EF4-FFF2-40B4-BE49-F238E27FC236}">
                <a16:creationId xmlns:a16="http://schemas.microsoft.com/office/drawing/2014/main" id="{D5FDE26C-676E-45DE-AA50-3D9C37ECE3FE}"/>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Model proposes. Code validates. Human authorizes. Workflow executes.</a:t>
            </a:r>
          </a:p>
        </p:txBody>
      </p:sp>
    </p:spTree>
    <p:extLst>
      <p:ext uri="{BB962C8B-B14F-4D97-AF65-F5344CB8AC3E}">
        <p14:creationId xmlns:p14="http://schemas.microsoft.com/office/powerpoint/2010/main" val="863075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2026-10-18T19:03:15.2370000Z</dcterms:created>
  <dcterms:modified xsi:type="dcterms:W3CDTF">2026-10-18T19:03:15.2370000Z</dcterms:modified>
</coreProperties>
</file>